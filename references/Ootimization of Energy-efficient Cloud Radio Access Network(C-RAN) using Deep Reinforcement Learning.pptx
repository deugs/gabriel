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7" r:id="rId2"/>
    <p:sldId id="276" r:id="rId3"/>
    <p:sldId id="288" r:id="rId4"/>
    <p:sldId id="307" r:id="rId5"/>
    <p:sldId id="321" r:id="rId6"/>
    <p:sldId id="320" r:id="rId7"/>
    <p:sldId id="296" r:id="rId8"/>
    <p:sldId id="297" r:id="rId9"/>
    <p:sldId id="308" r:id="rId10"/>
    <p:sldId id="329" r:id="rId11"/>
    <p:sldId id="330" r:id="rId12"/>
    <p:sldId id="331" r:id="rId13"/>
    <p:sldId id="332" r:id="rId14"/>
    <p:sldId id="315" r:id="rId15"/>
    <p:sldId id="316" r:id="rId16"/>
    <p:sldId id="317" r:id="rId17"/>
    <p:sldId id="326" r:id="rId18"/>
    <p:sldId id="322" r:id="rId19"/>
    <p:sldId id="323" r:id="rId20"/>
    <p:sldId id="324" r:id="rId21"/>
    <p:sldId id="325" r:id="rId22"/>
    <p:sldId id="327" r:id="rId23"/>
    <p:sldId id="328" r:id="rId24"/>
    <p:sldId id="333" r:id="rId25"/>
    <p:sldId id="334" r:id="rId26"/>
    <p:sldId id="336" r:id="rId27"/>
    <p:sldId id="337" r:id="rId28"/>
    <p:sldId id="299" r:id="rId29"/>
    <p:sldId id="310" r:id="rId30"/>
    <p:sldId id="27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71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7" autoAdjust="0"/>
    <p:restoredTop sz="94206" autoAdjust="0"/>
  </p:normalViewPr>
  <p:slideViewPr>
    <p:cSldViewPr snapToGrid="0">
      <p:cViewPr varScale="1">
        <p:scale>
          <a:sx n="67" d="100"/>
          <a:sy n="67" d="100"/>
        </p:scale>
        <p:origin x="90" y="156"/>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alatino Linotype" panose="02040502050505030304" pitchFamily="18"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alatino Linotype" panose="02040502050505030304" pitchFamily="18" charset="0"/>
              </a:defRPr>
            </a:lvl1pPr>
          </a:lstStyle>
          <a:p>
            <a:fld id="{9AEFE680-A9E7-4605-A8C6-39FE53CF57D1}" type="datetimeFigureOut">
              <a:rPr lang="en-US" smtClean="0"/>
              <a:pPr/>
              <a:t>7/6/2026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alatino Linotype" panose="0204050205050503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alatino Linotype" panose="02040502050505030304" pitchFamily="18" charset="0"/>
              </a:defRPr>
            </a:lvl1pPr>
          </a:lstStyle>
          <a:p>
            <a:fld id="{0328A8EA-C9EF-4174-AB48-06BB7BC00BBF}" type="slidenum">
              <a:rPr lang="en-US" smtClean="0"/>
              <a:pPr/>
              <a:t>‹#›</a:t>
            </a:fld>
            <a:endParaRPr lang="en-US" dirty="0"/>
          </a:p>
        </p:txBody>
      </p:sp>
    </p:spTree>
    <p:extLst>
      <p:ext uri="{BB962C8B-B14F-4D97-AF65-F5344CB8AC3E}">
        <p14:creationId xmlns:p14="http://schemas.microsoft.com/office/powerpoint/2010/main" val="1170015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alatino Linotype" panose="02040502050505030304" pitchFamily="18" charset="0"/>
        <a:ea typeface="+mn-ea"/>
        <a:cs typeface="+mn-cs"/>
      </a:defRPr>
    </a:lvl1pPr>
    <a:lvl2pPr marL="457200" algn="l" defTabSz="914400" rtl="0" eaLnBrk="1" latinLnBrk="0" hangingPunct="1">
      <a:defRPr sz="1200" kern="1200">
        <a:solidFill>
          <a:schemeClr val="tx1"/>
        </a:solidFill>
        <a:latin typeface="Palatino Linotype" panose="02040502050505030304" pitchFamily="18" charset="0"/>
        <a:ea typeface="+mn-ea"/>
        <a:cs typeface="+mn-cs"/>
      </a:defRPr>
    </a:lvl2pPr>
    <a:lvl3pPr marL="914400" algn="l" defTabSz="914400" rtl="0" eaLnBrk="1" latinLnBrk="0" hangingPunct="1">
      <a:defRPr sz="1200" kern="1200">
        <a:solidFill>
          <a:schemeClr val="tx1"/>
        </a:solidFill>
        <a:latin typeface="Palatino Linotype" panose="02040502050505030304" pitchFamily="18" charset="0"/>
        <a:ea typeface="+mn-ea"/>
        <a:cs typeface="+mn-cs"/>
      </a:defRPr>
    </a:lvl3pPr>
    <a:lvl4pPr marL="1371600" algn="l" defTabSz="914400" rtl="0" eaLnBrk="1" latinLnBrk="0" hangingPunct="1">
      <a:defRPr sz="1200" kern="1200">
        <a:solidFill>
          <a:schemeClr val="tx1"/>
        </a:solidFill>
        <a:latin typeface="Palatino Linotype" panose="02040502050505030304" pitchFamily="18" charset="0"/>
        <a:ea typeface="+mn-ea"/>
        <a:cs typeface="+mn-cs"/>
      </a:defRPr>
    </a:lvl4pPr>
    <a:lvl5pPr marL="1828800" algn="l" defTabSz="914400" rtl="0" eaLnBrk="1" latinLnBrk="0" hangingPunct="1">
      <a:defRPr sz="1200" kern="1200">
        <a:solidFill>
          <a:schemeClr val="tx1"/>
        </a:solidFill>
        <a:latin typeface="Palatino Linotype" panose="0204050205050503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BFC4D8-7267-481C-97FB-88531F8E742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xmlns="" id="{52045EB4-C8E9-4276-9892-A8BD1C24C1F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0E1952CF-CF54-495A-A737-C76F22C5330D}"/>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5" name="Footer Placeholder 4">
            <a:extLst>
              <a:ext uri="{FF2B5EF4-FFF2-40B4-BE49-F238E27FC236}">
                <a16:creationId xmlns:a16="http://schemas.microsoft.com/office/drawing/2014/main" xmlns="" id="{DA2F82B9-480E-49D4-AFD3-A3BC21B8A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D3CFFCE-F9B6-482C-816E-091792F26E49}"/>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29397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267FC0-FF7C-4F6B-A842-ECAEDD7558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ACF3BD4-EEBC-444E-88DB-259F6F33A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BC2BFAAB-6BAC-4D88-8AF7-FC846BF0456E}"/>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5" name="Footer Placeholder 4">
            <a:extLst>
              <a:ext uri="{FF2B5EF4-FFF2-40B4-BE49-F238E27FC236}">
                <a16:creationId xmlns:a16="http://schemas.microsoft.com/office/drawing/2014/main" xmlns="" id="{546DD7F4-E6AC-4CB6-B687-556E6DB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0AA703C-113A-46CC-AC65-292EB067D46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514042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DE7A4B-0F44-4E42-939A-CDE6C4A492D0}"/>
              </a:ext>
            </a:extLst>
          </p:cNvPr>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B53B6593-CC60-4C4A-B097-A7D3799BD55C}"/>
              </a:ext>
            </a:extLst>
          </p:cNvPr>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xmlns="" id="{0D56C689-8E98-4045-AAAC-AC66298D8CDB}"/>
              </a:ext>
            </a:extLst>
          </p:cNvPr>
          <p:cNvSpPr>
            <a:spLocks noGrp="1"/>
          </p:cNvSpPr>
          <p:nvPr>
            <p:ph type="dt" sz="half" idx="10"/>
          </p:nvPr>
        </p:nvSpPr>
        <p:spPr>
          <a:xfrm>
            <a:off x="5023411" y="5266097"/>
            <a:ext cx="1482526" cy="365125"/>
          </a:xfrm>
        </p:spPr>
        <p:txBody>
          <a:bodyPr/>
          <a:lstStyle/>
          <a:p>
            <a:fld id="{FFA59539-6AA4-4B20-8277-ACCA791514EF}" type="datetimeFigureOut">
              <a:rPr lang="en-US" smtClean="0"/>
              <a:pPr/>
              <a:t>7/6/2026</a:t>
            </a:fld>
            <a:endParaRPr lang="en-US"/>
          </a:p>
        </p:txBody>
      </p:sp>
      <p:sp>
        <p:nvSpPr>
          <p:cNvPr id="5" name="Footer Placeholder 4">
            <a:extLst>
              <a:ext uri="{FF2B5EF4-FFF2-40B4-BE49-F238E27FC236}">
                <a16:creationId xmlns:a16="http://schemas.microsoft.com/office/drawing/2014/main" xmlns="" id="{F3A7DCE6-A108-4CE1-BB08-97701D342A20}"/>
              </a:ext>
            </a:extLst>
          </p:cNvPr>
          <p:cNvSpPr>
            <a:spLocks noGrp="1"/>
          </p:cNvSpPr>
          <p:nvPr>
            <p:ph type="ftr" sz="quarter" idx="11"/>
          </p:nvPr>
        </p:nvSpPr>
        <p:spPr>
          <a:xfrm>
            <a:off x="7071167" y="5266096"/>
            <a:ext cx="2026534" cy="365125"/>
          </a:xfrm>
        </p:spPr>
        <p:txBody>
          <a:bodyPr/>
          <a:lstStyle/>
          <a:p>
            <a:endParaRPr lang="en-US" dirty="0"/>
          </a:p>
        </p:txBody>
      </p:sp>
      <p:sp>
        <p:nvSpPr>
          <p:cNvPr id="6" name="Slide Number Placeholder 5">
            <a:extLst>
              <a:ext uri="{FF2B5EF4-FFF2-40B4-BE49-F238E27FC236}">
                <a16:creationId xmlns:a16="http://schemas.microsoft.com/office/drawing/2014/main" xmlns="" id="{0428B96D-492C-4CC3-A033-5EA3A2F3CCEE}"/>
              </a:ext>
            </a:extLst>
          </p:cNvPr>
          <p:cNvSpPr>
            <a:spLocks noGrp="1"/>
          </p:cNvSpPr>
          <p:nvPr>
            <p:ph type="sldNum" sz="quarter" idx="12"/>
          </p:nvPr>
        </p:nvSpPr>
        <p:spPr>
          <a:xfrm>
            <a:off x="9662931" y="5266095"/>
            <a:ext cx="2026534" cy="365125"/>
          </a:xfrm>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2146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AE1157-304E-4446-9FA2-A0D0F7A50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E5B4CE9E-70A6-48AD-A24A-13D574383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B0BE2C5-1B89-4EE8-A540-906472A1F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2C4BB858-CDD0-459B-8AA4-9272BD26A46B}"/>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6" name="Footer Placeholder 5">
            <a:extLst>
              <a:ext uri="{FF2B5EF4-FFF2-40B4-BE49-F238E27FC236}">
                <a16:creationId xmlns:a16="http://schemas.microsoft.com/office/drawing/2014/main" xmlns="" id="{4DB7E86D-82BE-4E26-A9C3-95CC0F497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87D830B-C931-46B1-8F17-16243BFDFA90}"/>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73057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1CABEE-5ED7-4733-B755-CB96ADE7AA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A1A0618-A658-46BD-AB6D-8208DA7FC8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F3867DBE-C48C-42A1-94A3-9527A0944B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F27F4C-4D8F-4F03-9881-DADD3BC80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C57925D-369F-411F-B885-734AB70D29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463643A2-98F3-42F1-9A82-FA5FFD7F88F9}"/>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8" name="Footer Placeholder 7">
            <a:extLst>
              <a:ext uri="{FF2B5EF4-FFF2-40B4-BE49-F238E27FC236}">
                <a16:creationId xmlns:a16="http://schemas.microsoft.com/office/drawing/2014/main" xmlns="" id="{AC162CF4-4E17-4D39-8E8E-8949A9CD9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08DEEB83-1757-489A-8EE3-E5F48A357EBB}"/>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82598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4650B1-6BD1-4645-81EE-9AC7858D85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997856AC-1564-422B-A261-A405B2217D42}"/>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4" name="Footer Placeholder 3">
            <a:extLst>
              <a:ext uri="{FF2B5EF4-FFF2-40B4-BE49-F238E27FC236}">
                <a16:creationId xmlns:a16="http://schemas.microsoft.com/office/drawing/2014/main" xmlns="" id="{AA5EC8FB-F905-4A5D-AB53-12C1AADB9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3C74DBB-D2BA-424E-A50D-E0D78897E9E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80188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5C992351-298C-4CA7-A9E3-56F637FA48B9}"/>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3" name="Footer Placeholder 2">
            <a:extLst>
              <a:ext uri="{FF2B5EF4-FFF2-40B4-BE49-F238E27FC236}">
                <a16:creationId xmlns:a16="http://schemas.microsoft.com/office/drawing/2014/main" xmlns="" id="{13F81D90-C9C0-4B17-89C3-13DA3A911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329E314D-FD1B-4975-AE16-9CDCC6342C3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83520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C29E3F-372A-407D-B334-3FD277550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3A240B83-8870-4B46-9F59-5CC84DEFB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D8CC3D7-7F10-42DA-8696-266C3AE69E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57E5CF6-7F8D-4850-9864-97DA86EA78D4}"/>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6" name="Footer Placeholder 5">
            <a:extLst>
              <a:ext uri="{FF2B5EF4-FFF2-40B4-BE49-F238E27FC236}">
                <a16:creationId xmlns:a16="http://schemas.microsoft.com/office/drawing/2014/main" xmlns="" id="{73646AFE-B880-46F5-B5C6-2DEC8AAFB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B9375EDA-D7C7-4D5B-8ADA-2C4C0D169E46}"/>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49489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E10A279-B977-4A7C-87E5-62231D946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4CC0D755-8571-44A5-AE1A-89C9201F5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5F734A2E-AFFE-48A4-A1FD-8FC6BEE6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085560A-540C-47FC-A6B0-665522069079}"/>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6" name="Footer Placeholder 5">
            <a:extLst>
              <a:ext uri="{FF2B5EF4-FFF2-40B4-BE49-F238E27FC236}">
                <a16:creationId xmlns:a16="http://schemas.microsoft.com/office/drawing/2014/main" xmlns="" id="{949A1103-4151-4737-9D9F-ECB366AA7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BF0B3C5-F017-4E10-86F3-4C24DEFA8BD4}"/>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95845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F1024C-8551-48EC-85CB-36598BBE2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267669F4-208D-4BAB-82BE-F275945E2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EF781D84-11A2-4845-9DEE-21A1FB2F7749}"/>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5" name="Footer Placeholder 4">
            <a:extLst>
              <a:ext uri="{FF2B5EF4-FFF2-40B4-BE49-F238E27FC236}">
                <a16:creationId xmlns:a16="http://schemas.microsoft.com/office/drawing/2014/main" xmlns="" id="{82F461C0-7A06-45C8-A0F8-23FAD46F3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FB6CCC8-2ED3-42E3-8030-B0E9DF79659C}"/>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848293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E05E5C2-3281-4A33-88C5-C97138BFAC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F50B8C3E-19EC-4156-82C4-FA8E3ACF7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578D120-4C33-4D5C-A088-1E77796376A1}"/>
              </a:ext>
            </a:extLst>
          </p:cNvPr>
          <p:cNvSpPr>
            <a:spLocks noGrp="1"/>
          </p:cNvSpPr>
          <p:nvPr>
            <p:ph type="dt" sz="half" idx="10"/>
          </p:nvPr>
        </p:nvSpPr>
        <p:spPr/>
        <p:txBody>
          <a:bodyPr/>
          <a:lstStyle/>
          <a:p>
            <a:fld id="{FFA59539-6AA4-4B20-8277-ACCA791514EF}" type="datetimeFigureOut">
              <a:rPr lang="en-US" smtClean="0"/>
              <a:pPr/>
              <a:t>7/6/2026</a:t>
            </a:fld>
            <a:endParaRPr lang="en-US"/>
          </a:p>
        </p:txBody>
      </p:sp>
      <p:sp>
        <p:nvSpPr>
          <p:cNvPr id="5" name="Footer Placeholder 4">
            <a:extLst>
              <a:ext uri="{FF2B5EF4-FFF2-40B4-BE49-F238E27FC236}">
                <a16:creationId xmlns:a16="http://schemas.microsoft.com/office/drawing/2014/main" xmlns="" id="{B418C907-51F8-4CCC-8671-CA5B649E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480B0B-A14D-4BA5-A718-F6E7ADBC49C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362461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74EBDDA-E62D-4396-A585-79909DF65F1D}"/>
              </a:ext>
            </a:extLst>
          </p:cNvPr>
          <p:cNvSpPr>
            <a:spLocks noGrp="1"/>
          </p:cNvSpPr>
          <p:nvPr>
            <p:ph type="title"/>
          </p:nvPr>
        </p:nvSpPr>
        <p:spPr>
          <a:xfrm>
            <a:off x="838200" y="608924"/>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4D21B46D-FE47-4863-91F5-8DF27DBA3FBD}"/>
              </a:ext>
            </a:extLst>
          </p:cNvPr>
          <p:cNvSpPr>
            <a:spLocks noGrp="1"/>
          </p:cNvSpPr>
          <p:nvPr>
            <p:ph type="body" idx="1"/>
          </p:nvPr>
        </p:nvSpPr>
        <p:spPr>
          <a:xfrm>
            <a:off x="838200" y="1971081"/>
            <a:ext cx="10515600" cy="42779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34B7AB05-0A06-4E1C-9ABC-94BB04320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fld id="{FFA59539-6AA4-4B20-8277-ACCA791514EF}" type="datetimeFigureOut">
              <a:rPr lang="en-US" smtClean="0"/>
              <a:pPr/>
              <a:t>7/6/2026</a:t>
            </a:fld>
            <a:endParaRPr lang="en-US" dirty="0"/>
          </a:p>
        </p:txBody>
      </p:sp>
      <p:sp>
        <p:nvSpPr>
          <p:cNvPr id="5" name="Footer Placeholder 4">
            <a:extLst>
              <a:ext uri="{FF2B5EF4-FFF2-40B4-BE49-F238E27FC236}">
                <a16:creationId xmlns:a16="http://schemas.microsoft.com/office/drawing/2014/main" xmlns="" id="{3443E9AF-D197-4E5B-86F0-EB12503E8F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endParaRPr lang="en-US" dirty="0"/>
          </a:p>
        </p:txBody>
      </p:sp>
      <p:sp>
        <p:nvSpPr>
          <p:cNvPr id="6" name="Slide Number Placeholder 5">
            <a:extLst>
              <a:ext uri="{FF2B5EF4-FFF2-40B4-BE49-F238E27FC236}">
                <a16:creationId xmlns:a16="http://schemas.microsoft.com/office/drawing/2014/main" xmlns="" id="{3FD37BCB-A864-4AA7-AA0C-5BBFBA97E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C52AFD5A-4082-4BE4-96FC-4C4C6076294A}" type="slidenum">
              <a:rPr lang="en-US" smtClean="0"/>
              <a:pPr/>
              <a:t>‹#›</a:t>
            </a:fld>
            <a:endParaRPr lang="en-US" dirty="0"/>
          </a:p>
        </p:txBody>
      </p:sp>
    </p:spTree>
    <p:extLst>
      <p:ext uri="{BB962C8B-B14F-4D97-AF65-F5344CB8AC3E}">
        <p14:creationId xmlns:p14="http://schemas.microsoft.com/office/powerpoint/2010/main" val="6829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accent6">
              <a:lumMod val="50000"/>
            </a:schemeClr>
          </a:solidFill>
          <a:latin typeface="Palatino Linotype" panose="02040502050505030304" pitchFamily="18" charset="0"/>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2">
              <a:lumMod val="10000"/>
            </a:schemeClr>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2">
              <a:lumMod val="10000"/>
            </a:schemeClr>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2">
              <a:lumMod val="10000"/>
            </a:schemeClr>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mdpi.com/journal/sensors,2020"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90A373-C6AB-4BCD-A2F7-965DC14175EF}"/>
              </a:ext>
            </a:extLst>
          </p:cNvPr>
          <p:cNvSpPr>
            <a:spLocks noGrp="1"/>
          </p:cNvSpPr>
          <p:nvPr>
            <p:ph type="title"/>
          </p:nvPr>
        </p:nvSpPr>
        <p:spPr>
          <a:xfrm>
            <a:off x="4727628" y="1223682"/>
            <a:ext cx="7288160" cy="2164977"/>
          </a:xfrm>
        </p:spPr>
        <p:txBody>
          <a:bodyPr>
            <a:noAutofit/>
          </a:bodyPr>
          <a:lstStyle/>
          <a:p>
            <a:r>
              <a:rPr lang="en-US" sz="4400" b="0" dirty="0" smtClean="0"/>
              <a:t/>
            </a:r>
            <a:br>
              <a:rPr lang="en-US" sz="4400" b="0" dirty="0" smtClean="0"/>
            </a:br>
            <a:r>
              <a:rPr lang="en-US" sz="4400" b="0" dirty="0"/>
              <a:t/>
            </a:r>
            <a:br>
              <a:rPr lang="en-US" sz="4400" b="0" dirty="0"/>
            </a:br>
            <a:r>
              <a:rPr lang="en-US" sz="4400" b="0" dirty="0" smtClean="0"/>
              <a:t/>
            </a:r>
            <a:br>
              <a:rPr lang="en-US" sz="4400" b="0" dirty="0" smtClean="0"/>
            </a:br>
            <a:r>
              <a:rPr lang="en-US" sz="4400" b="0" dirty="0"/>
              <a:t/>
            </a:r>
            <a:br>
              <a:rPr lang="en-US" sz="4400" b="0" dirty="0"/>
            </a:br>
            <a:r>
              <a:rPr lang="en-US" sz="4400" b="0" dirty="0" smtClean="0"/>
              <a:t/>
            </a:r>
            <a:br>
              <a:rPr lang="en-US" sz="4400" b="0" dirty="0" smtClean="0"/>
            </a:br>
            <a:r>
              <a:rPr lang="en-US" sz="4400" b="0" dirty="0" smtClean="0"/>
              <a:t/>
            </a:r>
            <a:br>
              <a:rPr lang="en-US" sz="4400" b="0" dirty="0" smtClean="0"/>
            </a:br>
            <a:r>
              <a:rPr lang="en-US" sz="4400" b="0" dirty="0"/>
              <a:t/>
            </a:r>
            <a:br>
              <a:rPr lang="en-US" sz="4400" b="0" dirty="0"/>
            </a:br>
            <a:r>
              <a:rPr lang="en-US" sz="4400" b="0" dirty="0" smtClean="0"/>
              <a:t/>
            </a:r>
            <a:br>
              <a:rPr lang="en-US" sz="4400" b="0" dirty="0" smtClean="0"/>
            </a:br>
            <a:r>
              <a:rPr lang="en-US" sz="3600" b="0" dirty="0" smtClean="0"/>
              <a:t>Optimization of Energy-efficient Cloud Radio Access Network</a:t>
            </a:r>
            <a:br>
              <a:rPr lang="en-US" sz="3600" b="0" dirty="0" smtClean="0"/>
            </a:br>
            <a:r>
              <a:rPr lang="en-US" sz="3600" b="0" dirty="0" smtClean="0"/>
              <a:t>(C-RAN) for 5G using Deep Reinforcement Learning (DRL) </a:t>
            </a:r>
            <a:endParaRPr lang="en-US" sz="3600" b="0" dirty="0"/>
          </a:p>
        </p:txBody>
      </p:sp>
      <p:sp>
        <p:nvSpPr>
          <p:cNvPr id="3" name="Rectangle 2">
            <a:extLst>
              <a:ext uri="{FF2B5EF4-FFF2-40B4-BE49-F238E27FC236}">
                <a16:creationId xmlns:a16="http://schemas.microsoft.com/office/drawing/2014/main" xmlns="" id="{75DF44C1-C934-426F-BB2A-754B83A7297E}"/>
              </a:ext>
            </a:extLst>
          </p:cNvPr>
          <p:cNvSpPr/>
          <p:nvPr/>
        </p:nvSpPr>
        <p:spPr>
          <a:xfrm>
            <a:off x="6217679" y="3999362"/>
            <a:ext cx="3753134" cy="707886"/>
          </a:xfrm>
          <a:prstGeom prst="rect">
            <a:avLst/>
          </a:prstGeom>
        </p:spPr>
        <p:txBody>
          <a:bodyPr wrap="square">
            <a:spAutoFit/>
          </a:bodyPr>
          <a:lstStyle/>
          <a:p>
            <a:pPr algn="ctr"/>
            <a:r>
              <a:rPr lang="en-US" sz="2000" dirty="0" smtClean="0">
                <a:solidFill>
                  <a:srgbClr val="000000"/>
                </a:solidFill>
                <a:latin typeface="Palatino Linotype" panose="02040502050505030304" pitchFamily="18" charset="0"/>
                <a:ea typeface="Tahoma" panose="020B0604030504040204" pitchFamily="34" charset="0"/>
                <a:cs typeface="Tahoma" panose="020B0604030504040204" pitchFamily="34" charset="0"/>
              </a:rPr>
              <a:t>Gabriel Kwame Freeman</a:t>
            </a:r>
            <a:r>
              <a:rPr lang="en-US" sz="2000" dirty="0">
                <a:solidFill>
                  <a:srgbClr val="000000"/>
                </a:solidFill>
                <a:latin typeface="Palatino Linotype" panose="02040502050505030304" pitchFamily="18" charset="0"/>
                <a:ea typeface="Tahoma" panose="020B0604030504040204" pitchFamily="34" charset="0"/>
                <a:cs typeface="Tahoma" panose="020B0604030504040204" pitchFamily="34" charset="0"/>
              </a:rPr>
              <a:t/>
            </a:r>
            <a:br>
              <a:rPr lang="en-US" sz="2000" dirty="0">
                <a:solidFill>
                  <a:srgbClr val="000000"/>
                </a:solidFill>
                <a:latin typeface="Palatino Linotype" panose="02040502050505030304" pitchFamily="18" charset="0"/>
                <a:ea typeface="Tahoma" panose="020B0604030504040204" pitchFamily="34" charset="0"/>
                <a:cs typeface="Tahoma" panose="020B0604030504040204" pitchFamily="34" charset="0"/>
              </a:rPr>
            </a:br>
            <a:r>
              <a:rPr lang="en-US" sz="2000" dirty="0">
                <a:solidFill>
                  <a:srgbClr val="000000"/>
                </a:solidFill>
                <a:latin typeface="Palatino Linotype" panose="02040502050505030304" pitchFamily="18" charset="0"/>
                <a:ea typeface="Tahoma" panose="020B0604030504040204" pitchFamily="34" charset="0"/>
                <a:cs typeface="Tahoma" panose="020B0604030504040204" pitchFamily="34" charset="0"/>
              </a:rPr>
              <a:t>Index Number: </a:t>
            </a:r>
            <a:r>
              <a:rPr lang="en-US" sz="2000" dirty="0" smtClean="0">
                <a:solidFill>
                  <a:srgbClr val="000000"/>
                </a:solidFill>
                <a:latin typeface="Palatino Linotype" panose="02040502050505030304" pitchFamily="18" charset="0"/>
                <a:ea typeface="Tahoma" panose="020B0604030504040204" pitchFamily="34" charset="0"/>
                <a:cs typeface="Tahoma" panose="020B0604030504040204" pitchFamily="34" charset="0"/>
              </a:rPr>
              <a:t>PG7373923</a:t>
            </a:r>
            <a:endParaRPr lang="en-US" sz="2000" dirty="0">
              <a:latin typeface="Palatino Linotype" panose="02040502050505030304" pitchFamily="18" charset="0"/>
            </a:endParaRPr>
          </a:p>
        </p:txBody>
      </p:sp>
      <p:sp>
        <p:nvSpPr>
          <p:cNvPr id="4" name="Rectangle 3">
            <a:extLst>
              <a:ext uri="{FF2B5EF4-FFF2-40B4-BE49-F238E27FC236}">
                <a16:creationId xmlns:a16="http://schemas.microsoft.com/office/drawing/2014/main" xmlns="" id="{16096C2D-A51E-4C67-9DAD-9B685362D4C0}"/>
              </a:ext>
            </a:extLst>
          </p:cNvPr>
          <p:cNvSpPr/>
          <p:nvPr/>
        </p:nvSpPr>
        <p:spPr>
          <a:xfrm>
            <a:off x="6217679" y="4843956"/>
            <a:ext cx="3753134" cy="1015663"/>
          </a:xfrm>
          <a:prstGeom prst="rect">
            <a:avLst/>
          </a:prstGeom>
        </p:spPr>
        <p:txBody>
          <a:bodyPr wrap="square">
            <a:spAutoFit/>
          </a:bodyPr>
          <a:lstStyle/>
          <a:p>
            <a:pPr algn="ctr"/>
            <a:endParaRPr lang="en-US" sz="2000" dirty="0" smtClean="0">
              <a:latin typeface="Palatino Linotype" panose="02040502050505030304" pitchFamily="18" charset="0"/>
            </a:endParaRPr>
          </a:p>
          <a:p>
            <a:pPr algn="ctr"/>
            <a:r>
              <a:rPr lang="en-US" sz="2000" dirty="0" smtClean="0">
                <a:latin typeface="Palatino Linotype" panose="02040502050505030304" pitchFamily="18" charset="0"/>
              </a:rPr>
              <a:t>Supervisors:</a:t>
            </a:r>
            <a:endParaRPr lang="en-US" sz="2000" dirty="0">
              <a:latin typeface="Palatino Linotype" panose="02040502050505030304" pitchFamily="18" charset="0"/>
            </a:endParaRPr>
          </a:p>
          <a:p>
            <a:pPr algn="ctr"/>
            <a:r>
              <a:rPr lang="en-US" sz="2000" dirty="0">
                <a:latin typeface="Palatino Linotype" panose="02040502050505030304" pitchFamily="18" charset="0"/>
              </a:rPr>
              <a:t>Prof. J. </a:t>
            </a:r>
            <a:r>
              <a:rPr lang="en-US" sz="2000" dirty="0" smtClean="0">
                <a:latin typeface="Palatino Linotype" panose="02040502050505030304" pitchFamily="18" charset="0"/>
              </a:rPr>
              <a:t>J. Kponyo</a:t>
            </a:r>
          </a:p>
        </p:txBody>
      </p:sp>
    </p:spTree>
    <p:extLst>
      <p:ext uri="{BB962C8B-B14F-4D97-AF65-F5344CB8AC3E}">
        <p14:creationId xmlns:p14="http://schemas.microsoft.com/office/powerpoint/2010/main" val="2781667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873156-26FF-0ED3-73D6-EEA02705732C}"/>
              </a:ext>
            </a:extLst>
          </p:cNvPr>
          <p:cNvSpPr>
            <a:spLocks noGrp="1"/>
          </p:cNvSpPr>
          <p:nvPr>
            <p:ph type="title"/>
          </p:nvPr>
        </p:nvSpPr>
        <p:spPr>
          <a:xfrm>
            <a:off x="838201" y="851813"/>
            <a:ext cx="10515600" cy="587863"/>
          </a:xfrm>
        </p:spPr>
        <p:txBody>
          <a:bodyPr>
            <a:normAutofit/>
          </a:bodyPr>
          <a:lstStyle/>
          <a:p>
            <a:r>
              <a:rPr lang="en-US" sz="3200" dirty="0" smtClean="0"/>
              <a:t>OUTLINES</a:t>
            </a:r>
            <a:endParaRPr lang="en-US" dirty="0"/>
          </a:p>
        </p:txBody>
      </p:sp>
      <p:sp>
        <p:nvSpPr>
          <p:cNvPr id="3" name="Content Placeholder 2">
            <a:extLst>
              <a:ext uri="{FF2B5EF4-FFF2-40B4-BE49-F238E27FC236}">
                <a16:creationId xmlns:a16="http://schemas.microsoft.com/office/drawing/2014/main" xmlns="" id="{B5ADD6F6-B091-4085-4143-37BF067CFE1D}"/>
              </a:ext>
            </a:extLst>
          </p:cNvPr>
          <p:cNvSpPr>
            <a:spLocks noGrp="1"/>
          </p:cNvSpPr>
          <p:nvPr>
            <p:ph idx="1"/>
          </p:nvPr>
        </p:nvSpPr>
        <p:spPr>
          <a:xfrm>
            <a:off x="838200" y="1546413"/>
            <a:ext cx="10515600" cy="4277995"/>
          </a:xfrm>
        </p:spPr>
        <p:txBody>
          <a:bodyPr>
            <a:normAutofit/>
          </a:bodyPr>
          <a:lstStyle/>
          <a:p>
            <a:pPr>
              <a:lnSpc>
                <a:spcPct val="150000"/>
              </a:lnSpc>
            </a:pPr>
            <a:r>
              <a:rPr lang="en-US" sz="2400" dirty="0" smtClean="0"/>
              <a:t>Introduction and Research </a:t>
            </a:r>
            <a:r>
              <a:rPr lang="en-US" sz="2400" dirty="0"/>
              <a:t>background </a:t>
            </a:r>
            <a:endParaRPr lang="en-US" sz="2400" dirty="0" smtClean="0"/>
          </a:p>
          <a:p>
            <a:pPr>
              <a:lnSpc>
                <a:spcPct val="150000"/>
              </a:lnSpc>
            </a:pPr>
            <a:r>
              <a:rPr lang="en-US" sz="2400" dirty="0" smtClean="0"/>
              <a:t>Problem statement </a:t>
            </a:r>
            <a:r>
              <a:rPr lang="en-US" sz="2400" dirty="0"/>
              <a:t>and </a:t>
            </a:r>
            <a:r>
              <a:rPr lang="en-US" sz="2400" dirty="0" smtClean="0"/>
              <a:t>Objectives</a:t>
            </a:r>
          </a:p>
          <a:p>
            <a:pPr>
              <a:lnSpc>
                <a:spcPct val="150000"/>
              </a:lnSpc>
            </a:pPr>
            <a:r>
              <a:rPr lang="en-US" sz="2400" dirty="0"/>
              <a:t>Literature </a:t>
            </a:r>
            <a:r>
              <a:rPr lang="en-US" sz="2400" dirty="0" smtClean="0"/>
              <a:t>review</a:t>
            </a:r>
          </a:p>
          <a:p>
            <a:pPr>
              <a:lnSpc>
                <a:spcPct val="150000"/>
              </a:lnSpc>
            </a:pPr>
            <a:r>
              <a:rPr lang="en-US" sz="2400" dirty="0" smtClean="0"/>
              <a:t>Methodology and Approach</a:t>
            </a:r>
          </a:p>
          <a:p>
            <a:pPr>
              <a:lnSpc>
                <a:spcPct val="150000"/>
              </a:lnSpc>
            </a:pPr>
            <a:r>
              <a:rPr lang="en-US" sz="2400" dirty="0" smtClean="0"/>
              <a:t>Simulation and Results</a:t>
            </a:r>
          </a:p>
          <a:p>
            <a:pPr>
              <a:lnSpc>
                <a:spcPct val="150000"/>
              </a:lnSpc>
            </a:pPr>
            <a:r>
              <a:rPr lang="en-US" sz="2400" dirty="0" smtClean="0"/>
              <a:t>References </a:t>
            </a:r>
          </a:p>
          <a:p>
            <a:endParaRPr lang="en-US" dirty="0"/>
          </a:p>
          <a:p>
            <a:pPr marL="0" indent="0">
              <a:buNone/>
            </a:pPr>
            <a:endParaRPr lang="en-US" dirty="0"/>
          </a:p>
          <a:p>
            <a:endParaRPr lang="en-US" dirty="0">
              <a:latin typeface="Gill Sans MT" panose="020B0502020104020203" pitchFamily="34" charset="0"/>
            </a:endParaRPr>
          </a:p>
        </p:txBody>
      </p:sp>
    </p:spTree>
    <p:extLst>
      <p:ext uri="{BB962C8B-B14F-4D97-AF65-F5344CB8AC3E}">
        <p14:creationId xmlns:p14="http://schemas.microsoft.com/office/powerpoint/2010/main" val="19584477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1314"/>
            <a:ext cx="10515600" cy="735780"/>
          </a:xfrm>
        </p:spPr>
        <p:txBody>
          <a:bodyPr>
            <a:normAutofit/>
          </a:bodyPr>
          <a:lstStyle/>
          <a:p>
            <a:r>
              <a:rPr lang="en-US" sz="3200" dirty="0" smtClean="0"/>
              <a:t>Introduction </a:t>
            </a:r>
            <a:r>
              <a:rPr lang="en-US" sz="3200" dirty="0"/>
              <a:t>and Research background </a:t>
            </a:r>
          </a:p>
        </p:txBody>
      </p:sp>
      <p:sp>
        <p:nvSpPr>
          <p:cNvPr id="3" name="Content Placeholder 2"/>
          <p:cNvSpPr>
            <a:spLocks noGrp="1"/>
          </p:cNvSpPr>
          <p:nvPr>
            <p:ph idx="1"/>
          </p:nvPr>
        </p:nvSpPr>
        <p:spPr>
          <a:xfrm>
            <a:off x="736600" y="1727202"/>
            <a:ext cx="10617200" cy="4377764"/>
          </a:xfrm>
        </p:spPr>
        <p:txBody>
          <a:bodyPr>
            <a:normAutofit fontScale="92500" lnSpcReduction="20000"/>
          </a:bodyPr>
          <a:lstStyle/>
          <a:p>
            <a:pPr>
              <a:lnSpc>
                <a:spcPct val="150000"/>
              </a:lnSpc>
            </a:pPr>
            <a:r>
              <a:rPr lang="en-US" sz="2000" dirty="0"/>
              <a:t>The rapid growth of wireless communication technologies and </a:t>
            </a:r>
            <a:r>
              <a:rPr lang="en-US" sz="2000" dirty="0" smtClean="0"/>
              <a:t>users </a:t>
            </a:r>
            <a:r>
              <a:rPr lang="en-US" sz="2000" dirty="0"/>
              <a:t>demand for high-speed, low-latency services has driven the evolution of 5G networks. </a:t>
            </a:r>
            <a:endParaRPr lang="en-US" sz="2000" dirty="0" smtClean="0"/>
          </a:p>
          <a:p>
            <a:pPr>
              <a:lnSpc>
                <a:spcPct val="150000"/>
              </a:lnSpc>
            </a:pPr>
            <a:r>
              <a:rPr lang="en-US" sz="2000" dirty="0"/>
              <a:t>To meet these requirements, 5G adopts dense deployments of small cells, massive MIMO, and centralized processing architectures like Cloud Radio Access Networks (C-RAN</a:t>
            </a:r>
            <a:r>
              <a:rPr lang="en-US" sz="2000" dirty="0" smtClean="0"/>
              <a:t>)</a:t>
            </a:r>
          </a:p>
          <a:p>
            <a:pPr>
              <a:lnSpc>
                <a:spcPct val="150000"/>
              </a:lnSpc>
            </a:pPr>
            <a:r>
              <a:rPr lang="en-US" sz="2000" dirty="0"/>
              <a:t>C-RAN decouples the baseband units (BBUs) from the remote radio heads (RRHs) and centralizes baseband processing, enabling more flexible and efficient resource management. </a:t>
            </a:r>
            <a:endParaRPr lang="en-US" sz="2000" dirty="0" smtClean="0"/>
          </a:p>
          <a:p>
            <a:pPr>
              <a:lnSpc>
                <a:spcPct val="150000"/>
              </a:lnSpc>
            </a:pPr>
            <a:r>
              <a:rPr lang="en-US" sz="2000" dirty="0"/>
              <a:t>This architecture introduces new challenges, especially in energy efficiency. </a:t>
            </a:r>
            <a:r>
              <a:rPr lang="en-US" sz="2000" dirty="0" smtClean="0"/>
              <a:t>The </a:t>
            </a:r>
            <a:r>
              <a:rPr lang="en-US" sz="2000" dirty="0"/>
              <a:t>continuous operation of RRHs and </a:t>
            </a:r>
            <a:r>
              <a:rPr lang="en-US" sz="2000" dirty="0" smtClean="0"/>
              <a:t>the demand for high speed data and video services couple with uneven services demand  </a:t>
            </a:r>
            <a:r>
              <a:rPr lang="en-US" sz="2000" dirty="0"/>
              <a:t>increase the energy </a:t>
            </a:r>
            <a:r>
              <a:rPr lang="en-US" sz="2000" dirty="0" smtClean="0"/>
              <a:t>consumption </a:t>
            </a:r>
            <a:r>
              <a:rPr lang="en-US" sz="2000" dirty="0"/>
              <a:t>of the </a:t>
            </a:r>
            <a:r>
              <a:rPr lang="en-US" sz="2000" dirty="0" smtClean="0"/>
              <a:t>network hence the need for energy efficiency optimization.</a:t>
            </a:r>
            <a:endParaRPr lang="en-US" sz="2000" dirty="0"/>
          </a:p>
          <a:p>
            <a:pPr>
              <a:lnSpc>
                <a:spcPct val="150000"/>
              </a:lnSpc>
            </a:pPr>
            <a:endParaRPr lang="en-US" sz="2000" dirty="0" smtClean="0"/>
          </a:p>
          <a:p>
            <a:pPr marL="0" indent="0">
              <a:lnSpc>
                <a:spcPct val="160000"/>
              </a:lnSpc>
              <a:buNone/>
            </a:pPr>
            <a:endParaRPr lang="en-US" dirty="0"/>
          </a:p>
        </p:txBody>
      </p:sp>
    </p:spTree>
    <p:extLst>
      <p:ext uri="{BB962C8B-B14F-4D97-AF65-F5344CB8AC3E}">
        <p14:creationId xmlns:p14="http://schemas.microsoft.com/office/powerpoint/2010/main" val="637287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stretch>
            <a:fillRect/>
          </a:stretch>
        </p:blipFill>
        <p:spPr>
          <a:xfrm>
            <a:off x="3227878" y="1739900"/>
            <a:ext cx="4550102" cy="4238998"/>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4091543074"/>
              </p:ext>
            </p:extLst>
          </p:nvPr>
        </p:nvGraphicFramePr>
        <p:xfrm>
          <a:off x="1054451" y="934085"/>
          <a:ext cx="10023942" cy="494666"/>
        </p:xfrm>
        <a:graphic>
          <a:graphicData uri="http://schemas.openxmlformats.org/drawingml/2006/table">
            <a:tbl>
              <a:tblPr firstRow="1" bandRow="1">
                <a:tableStyleId>{5C22544A-7EE6-4342-B048-85BDC9FD1C3A}</a:tableStyleId>
              </a:tblPr>
              <a:tblGrid>
                <a:gridCol w="10023942"/>
              </a:tblGrid>
              <a:tr h="494666">
                <a:tc>
                  <a:txBody>
                    <a:bodyPr/>
                    <a:lstStyle/>
                    <a:p>
                      <a:r>
                        <a:rPr lang="en-US" sz="2400" dirty="0" smtClean="0"/>
                        <a:t>C-RAN Architecture</a:t>
                      </a:r>
                      <a:endParaRPr lang="en-US" sz="2400" dirty="0"/>
                    </a:p>
                  </a:txBody>
                  <a:tcPr/>
                </a:tc>
              </a:tr>
            </a:tbl>
          </a:graphicData>
        </a:graphic>
      </p:graphicFrame>
    </p:spTree>
    <p:extLst>
      <p:ext uri="{BB962C8B-B14F-4D97-AF65-F5344CB8AC3E}">
        <p14:creationId xmlns:p14="http://schemas.microsoft.com/office/powerpoint/2010/main" val="3598756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28688"/>
            <a:ext cx="10515600" cy="1042393"/>
          </a:xfrm>
        </p:spPr>
        <p:txBody>
          <a:bodyPr>
            <a:normAutofit/>
          </a:bodyPr>
          <a:lstStyle/>
          <a:p>
            <a:r>
              <a:rPr lang="en-US" sz="3200" dirty="0"/>
              <a:t>Problem statement and Objectives</a:t>
            </a:r>
          </a:p>
        </p:txBody>
      </p:sp>
      <p:sp>
        <p:nvSpPr>
          <p:cNvPr id="3" name="Content Placeholder 2"/>
          <p:cNvSpPr>
            <a:spLocks noGrp="1"/>
          </p:cNvSpPr>
          <p:nvPr>
            <p:ph idx="1"/>
          </p:nvPr>
        </p:nvSpPr>
        <p:spPr/>
        <p:txBody>
          <a:bodyPr>
            <a:normAutofit/>
          </a:bodyPr>
          <a:lstStyle/>
          <a:p>
            <a:r>
              <a:rPr lang="en-US" b="1" dirty="0" smtClean="0"/>
              <a:t>Problem statement:</a:t>
            </a:r>
          </a:p>
          <a:p>
            <a:pPr marL="0" indent="0">
              <a:buNone/>
            </a:pPr>
            <a:r>
              <a:rPr lang="en-US" sz="2000" dirty="0" smtClean="0"/>
              <a:t>While </a:t>
            </a:r>
            <a:r>
              <a:rPr lang="en-US" sz="2000" dirty="0"/>
              <a:t>C-RAN improves scalability and performance in 5G, it also leads to high energy consumption due to continuous RRHs activities and centralized processing. Also, the adaption to varying traffic loads and channel conditions</a:t>
            </a:r>
            <a:r>
              <a:rPr lang="en-US" dirty="0" smtClean="0"/>
              <a:t>.</a:t>
            </a:r>
          </a:p>
          <a:p>
            <a:r>
              <a:rPr lang="en-US" b="1" dirty="0" smtClean="0"/>
              <a:t>Objectives:</a:t>
            </a:r>
          </a:p>
          <a:p>
            <a:pPr marL="514350" indent="-514350">
              <a:buFont typeface="+mj-lt"/>
              <a:buAutoNum type="arabicPeriod"/>
            </a:pPr>
            <a:r>
              <a:rPr lang="en-US" sz="2000" dirty="0" smtClean="0"/>
              <a:t>To </a:t>
            </a:r>
            <a:r>
              <a:rPr lang="en-US" sz="2000" dirty="0"/>
              <a:t>model the energy consumption and traffic behavior of a 5G C-RAN system.</a:t>
            </a:r>
          </a:p>
          <a:p>
            <a:pPr marL="514350" indent="-514350">
              <a:buFont typeface="+mj-lt"/>
              <a:buAutoNum type="arabicPeriod"/>
            </a:pPr>
            <a:r>
              <a:rPr lang="en-US" sz="2000" dirty="0"/>
              <a:t>To design a DRL agent capable of making dynamic decisions on RRH </a:t>
            </a:r>
            <a:r>
              <a:rPr lang="en-US" sz="2000" dirty="0" smtClean="0"/>
              <a:t>activation </a:t>
            </a:r>
            <a:r>
              <a:rPr lang="en-US" sz="2000" dirty="0"/>
              <a:t>and resource </a:t>
            </a:r>
            <a:r>
              <a:rPr lang="en-US" sz="2000" dirty="0" smtClean="0"/>
              <a:t>allocation.</a:t>
            </a:r>
            <a:endParaRPr lang="en-US" sz="2000" dirty="0"/>
          </a:p>
        </p:txBody>
      </p:sp>
    </p:spTree>
    <p:extLst>
      <p:ext uri="{BB962C8B-B14F-4D97-AF65-F5344CB8AC3E}">
        <p14:creationId xmlns:p14="http://schemas.microsoft.com/office/powerpoint/2010/main" val="432268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57250"/>
            <a:ext cx="10515600" cy="714375"/>
          </a:xfrm>
        </p:spPr>
        <p:txBody>
          <a:bodyPr>
            <a:normAutofit/>
          </a:bodyPr>
          <a:lstStyle/>
          <a:p>
            <a:r>
              <a:rPr lang="en-US" sz="3200" dirty="0" smtClean="0"/>
              <a:t>Literature Review</a:t>
            </a:r>
            <a:endParaRPr lang="en-US" sz="3200" dirty="0"/>
          </a:p>
        </p:txBody>
      </p:sp>
      <p:sp>
        <p:nvSpPr>
          <p:cNvPr id="3" name="Content Placeholder 2"/>
          <p:cNvSpPr>
            <a:spLocks noGrp="1"/>
          </p:cNvSpPr>
          <p:nvPr>
            <p:ph idx="1"/>
          </p:nvPr>
        </p:nvSpPr>
        <p:spPr/>
        <p:txBody>
          <a:bodyPr>
            <a:normAutofit/>
          </a:bodyPr>
          <a:lstStyle/>
          <a:p>
            <a:pPr marL="0" indent="0">
              <a:buNone/>
            </a:pPr>
            <a:r>
              <a:rPr lang="en-US" sz="2000" b="1" dirty="0" smtClean="0"/>
              <a:t>Optimization of Energy-Efficient Cloud Radio Access Networks for 5G using Artificial Neural Networks[1]</a:t>
            </a:r>
          </a:p>
          <a:p>
            <a:pPr marL="0" indent="0">
              <a:lnSpc>
                <a:spcPct val="150000"/>
              </a:lnSpc>
              <a:buNone/>
            </a:pPr>
            <a:r>
              <a:rPr lang="en-US" sz="1800" dirty="0" smtClean="0"/>
              <a:t>The  power consumption is jointly formulated as power minimization beamforming and RRHs selection problem. An Artificial Neural Network (ANN) - based optimization model is used to optimize the active Remote Radio Heads (RRHs) numbers in remote network sites and the consumed power. The model considers various signal to interference plus noise ratios per client and power consumption models. Specifically, the model uses an adopted Bi-Section Group Sparse Beamforming (GSBF) optimization algorithm to reach near optimum solutions</a:t>
            </a:r>
            <a:endParaRPr lang="en-US" sz="1800" dirty="0"/>
          </a:p>
        </p:txBody>
      </p:sp>
    </p:spTree>
    <p:extLst>
      <p:ext uri="{BB962C8B-B14F-4D97-AF65-F5344CB8AC3E}">
        <p14:creationId xmlns:p14="http://schemas.microsoft.com/office/powerpoint/2010/main" val="479159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0551" y="870944"/>
            <a:ext cx="10515600" cy="5223095"/>
          </a:xfrm>
        </p:spPr>
        <p:txBody>
          <a:bodyPr>
            <a:normAutofit fontScale="70000" lnSpcReduction="20000"/>
          </a:bodyPr>
          <a:lstStyle/>
          <a:p>
            <a:pPr>
              <a:lnSpc>
                <a:spcPct val="160000"/>
              </a:lnSpc>
            </a:pPr>
            <a:r>
              <a:rPr lang="en-US" sz="2600" b="1" dirty="0"/>
              <a:t>Double Deep Q-Network-Based </a:t>
            </a:r>
            <a:r>
              <a:rPr lang="en-US" sz="2600" b="1" dirty="0" smtClean="0"/>
              <a:t>Energy-Efficient Resource </a:t>
            </a:r>
            <a:r>
              <a:rPr lang="en-US" sz="2600" b="1" dirty="0"/>
              <a:t>Allocation in Cloud </a:t>
            </a:r>
            <a:r>
              <a:rPr lang="en-US" sz="2600" b="1" dirty="0" smtClean="0"/>
              <a:t>Radio Access Network[6]</a:t>
            </a:r>
          </a:p>
          <a:p>
            <a:pPr marL="0" indent="0">
              <a:lnSpc>
                <a:spcPct val="160000"/>
              </a:lnSpc>
              <a:buNone/>
            </a:pPr>
            <a:r>
              <a:rPr lang="en-US" sz="2600" dirty="0" smtClean="0"/>
              <a:t>In this paper, it aims to optimize the energy efficiency (EE) subject to the constraints on per-RRH</a:t>
            </a:r>
            <a:br>
              <a:rPr lang="en-US" sz="2600" dirty="0" smtClean="0"/>
            </a:br>
            <a:r>
              <a:rPr lang="en-US" sz="2600" dirty="0" smtClean="0"/>
              <a:t>transmission power </a:t>
            </a:r>
            <a:r>
              <a:rPr lang="en-US" sz="2600" dirty="0"/>
              <a:t>and user data </a:t>
            </a:r>
            <a:r>
              <a:rPr lang="en-US" sz="2600" dirty="0" smtClean="0"/>
              <a:t>rates. It formulates </a:t>
            </a:r>
            <a:r>
              <a:rPr lang="en-US" sz="2600" dirty="0"/>
              <a:t>the EE problem as a Markov </a:t>
            </a:r>
            <a:r>
              <a:rPr lang="en-US" sz="2600" dirty="0" smtClean="0"/>
              <a:t>decision process </a:t>
            </a:r>
            <a:r>
              <a:rPr lang="en-US" sz="2600" dirty="0"/>
              <a:t>(MDP) and </a:t>
            </a:r>
            <a:r>
              <a:rPr lang="en-US" sz="2600" dirty="0" smtClean="0"/>
              <a:t>adopts </a:t>
            </a:r>
            <a:r>
              <a:rPr lang="en-US" sz="2600" dirty="0"/>
              <a:t>deep reinforcement learning (DRL) </a:t>
            </a:r>
            <a:r>
              <a:rPr lang="en-US" sz="2600" dirty="0" smtClean="0"/>
              <a:t>technique </a:t>
            </a:r>
            <a:r>
              <a:rPr lang="en-US" sz="2600" dirty="0"/>
              <a:t>to </a:t>
            </a:r>
            <a:r>
              <a:rPr lang="en-US" sz="2600" dirty="0" smtClean="0"/>
              <a:t>reap </a:t>
            </a:r>
            <a:r>
              <a:rPr lang="en-US" sz="2600" dirty="0"/>
              <a:t>the </a:t>
            </a:r>
            <a:r>
              <a:rPr lang="en-US" sz="2600" dirty="0" smtClean="0"/>
              <a:t>cumulative EE rewards. In </a:t>
            </a:r>
            <a:r>
              <a:rPr lang="en-US" sz="2600" dirty="0"/>
              <a:t>each time </a:t>
            </a:r>
            <a:r>
              <a:rPr lang="en-US" sz="2600" dirty="0" smtClean="0"/>
              <a:t>slot, it uses </a:t>
            </a:r>
            <a:r>
              <a:rPr lang="en-US" sz="2600" dirty="0"/>
              <a:t>DQN </a:t>
            </a:r>
            <a:r>
              <a:rPr lang="en-US" sz="2600" dirty="0" smtClean="0"/>
              <a:t>algorithm to configure </a:t>
            </a:r>
            <a:r>
              <a:rPr lang="en-US" sz="2600" dirty="0"/>
              <a:t>the status of </a:t>
            </a:r>
            <a:r>
              <a:rPr lang="en-US" sz="2600" dirty="0" smtClean="0"/>
              <a:t>RRHs prior </a:t>
            </a:r>
            <a:r>
              <a:rPr lang="en-US" sz="2600" dirty="0"/>
              <a:t>to solving a power minimization problem for active RRHs. </a:t>
            </a:r>
            <a:br>
              <a:rPr lang="en-US" sz="2600" dirty="0"/>
            </a:br>
            <a:r>
              <a:rPr lang="en-US" sz="2600" dirty="0"/>
              <a:t/>
            </a:r>
            <a:br>
              <a:rPr lang="en-US" sz="2600" dirty="0"/>
            </a:br>
            <a:r>
              <a:rPr lang="en-US" sz="1800" dirty="0"/>
              <a:t/>
            </a:r>
            <a:br>
              <a:rPr lang="en-US" sz="1800" dirty="0"/>
            </a:br>
            <a:r>
              <a:rPr lang="en-US" sz="1800" dirty="0"/>
              <a:t/>
            </a:r>
            <a:br>
              <a:rPr lang="en-US" sz="1800" dirty="0"/>
            </a:br>
            <a:r>
              <a:rPr lang="en-US" sz="1800" dirty="0"/>
              <a:t/>
            </a:r>
            <a:br>
              <a:rPr lang="en-US" sz="1800" dirty="0"/>
            </a:br>
            <a:r>
              <a:rPr lang="en-US" sz="1800" dirty="0"/>
              <a:t/>
            </a:r>
            <a:br>
              <a:rPr lang="en-US" sz="1800" dirty="0"/>
            </a:br>
            <a:endParaRPr lang="en-US" sz="1800" b="1" dirty="0"/>
          </a:p>
          <a:p>
            <a:pPr marL="0" indent="0">
              <a:buNone/>
            </a:pPr>
            <a:r>
              <a:rPr lang="en-US" sz="1800" dirty="0"/>
              <a:t/>
            </a:r>
            <a:br>
              <a:rPr lang="en-US" sz="1800" dirty="0"/>
            </a:br>
            <a:endParaRPr lang="en-US" sz="1800" dirty="0"/>
          </a:p>
        </p:txBody>
      </p:sp>
    </p:spTree>
    <p:extLst>
      <p:ext uri="{BB962C8B-B14F-4D97-AF65-F5344CB8AC3E}">
        <p14:creationId xmlns:p14="http://schemas.microsoft.com/office/powerpoint/2010/main" val="674448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8541" y="828081"/>
            <a:ext cx="10515600" cy="5209648"/>
          </a:xfrm>
        </p:spPr>
        <p:txBody>
          <a:bodyPr>
            <a:normAutofit/>
          </a:bodyPr>
          <a:lstStyle/>
          <a:p>
            <a:r>
              <a:rPr lang="en-US" sz="1900" b="1" dirty="0"/>
              <a:t>A Deep Reinforcement Learning based </a:t>
            </a:r>
            <a:r>
              <a:rPr lang="en-US" sz="1900" b="1" dirty="0" smtClean="0"/>
              <a:t>Framework for </a:t>
            </a:r>
            <a:r>
              <a:rPr lang="en-US" sz="1900" b="1" dirty="0"/>
              <a:t>Power-Efficient Resource </a:t>
            </a:r>
            <a:r>
              <a:rPr lang="en-US" sz="1900" b="1" dirty="0" smtClean="0"/>
              <a:t>Allocation in </a:t>
            </a:r>
            <a:r>
              <a:rPr lang="en-US" sz="1900" b="1" dirty="0"/>
              <a:t>Cloud </a:t>
            </a:r>
            <a:r>
              <a:rPr lang="en-US" sz="1900" b="1" dirty="0" smtClean="0"/>
              <a:t>RANs[3]</a:t>
            </a:r>
          </a:p>
          <a:p>
            <a:pPr marL="0" indent="0">
              <a:lnSpc>
                <a:spcPct val="150000"/>
              </a:lnSpc>
              <a:buNone/>
            </a:pPr>
            <a:r>
              <a:rPr lang="en-US" sz="1900" dirty="0" smtClean="0"/>
              <a:t>The paper focuses on  </a:t>
            </a:r>
            <a:r>
              <a:rPr lang="en-US" sz="1900" dirty="0"/>
              <a:t>resource allocation </a:t>
            </a:r>
            <a:r>
              <a:rPr lang="en-US" sz="1900" dirty="0" smtClean="0"/>
              <a:t>improvement in cloud </a:t>
            </a:r>
            <a:r>
              <a:rPr lang="en-US" sz="1900" dirty="0"/>
              <a:t>RANs </a:t>
            </a:r>
            <a:r>
              <a:rPr lang="en-US" sz="1900" dirty="0" smtClean="0"/>
              <a:t>to obtain the </a:t>
            </a:r>
            <a:r>
              <a:rPr lang="en-US" sz="1900" dirty="0"/>
              <a:t>objective of minimizing power consumption and </a:t>
            </a:r>
            <a:r>
              <a:rPr lang="en-US" sz="1900" dirty="0" smtClean="0"/>
              <a:t>meeting demands </a:t>
            </a:r>
            <a:r>
              <a:rPr lang="en-US" sz="1900" dirty="0"/>
              <a:t>of wireless users over a long operational </a:t>
            </a:r>
            <a:r>
              <a:rPr lang="en-US" sz="1900" dirty="0" smtClean="0"/>
              <a:t>period</a:t>
            </a:r>
            <a:r>
              <a:rPr lang="en-US" sz="1900" b="1" dirty="0"/>
              <a:t> </a:t>
            </a:r>
            <a:r>
              <a:rPr lang="en-US" sz="1900" dirty="0" smtClean="0"/>
              <a:t>using </a:t>
            </a:r>
            <a:r>
              <a:rPr lang="en-US" sz="1900" dirty="0"/>
              <a:t>a </a:t>
            </a:r>
            <a:r>
              <a:rPr lang="en-US" sz="1900" dirty="0" smtClean="0"/>
              <a:t>novel</a:t>
            </a:r>
            <a:r>
              <a:rPr lang="en-US" sz="1900" dirty="0"/>
              <a:t> </a:t>
            </a:r>
            <a:r>
              <a:rPr lang="en-US" sz="1900" dirty="0" smtClean="0"/>
              <a:t>DRL-based framework. The paper applies </a:t>
            </a:r>
            <a:r>
              <a:rPr lang="en-US" sz="1900" dirty="0"/>
              <a:t>a </a:t>
            </a:r>
            <a:r>
              <a:rPr lang="en-US" sz="1900" dirty="0" smtClean="0"/>
              <a:t>Deep Neural </a:t>
            </a:r>
            <a:r>
              <a:rPr lang="en-US" sz="1900" dirty="0"/>
              <a:t>Network (DNN) to approximate the action-value </a:t>
            </a:r>
            <a:r>
              <a:rPr lang="en-US" sz="1900" dirty="0" smtClean="0"/>
              <a:t>function, and </a:t>
            </a:r>
            <a:r>
              <a:rPr lang="en-US" sz="1900" dirty="0"/>
              <a:t>formally formulate the resource allocation problem (in </a:t>
            </a:r>
            <a:r>
              <a:rPr lang="en-US" sz="1900" dirty="0" smtClean="0"/>
              <a:t>each</a:t>
            </a:r>
            <a:r>
              <a:rPr lang="en-US" sz="1900" dirty="0"/>
              <a:t> </a:t>
            </a:r>
            <a:r>
              <a:rPr lang="en-US" sz="1900" dirty="0" smtClean="0"/>
              <a:t>decision </a:t>
            </a:r>
            <a:r>
              <a:rPr lang="en-US" sz="1900" dirty="0"/>
              <a:t>epoch) for </a:t>
            </a:r>
            <a:r>
              <a:rPr lang="en-US" sz="1900" dirty="0" smtClean="0"/>
              <a:t>a given </a:t>
            </a:r>
            <a:r>
              <a:rPr lang="en-US" sz="1900" dirty="0"/>
              <a:t>set of active RRHs  as a convex optimization </a:t>
            </a:r>
            <a:r>
              <a:rPr lang="en-US" sz="1900" dirty="0" smtClean="0"/>
              <a:t>problem.</a:t>
            </a:r>
          </a:p>
          <a:p>
            <a:pPr marL="0" indent="0">
              <a:lnSpc>
                <a:spcPct val="150000"/>
              </a:lnSpc>
              <a:buNone/>
            </a:pPr>
            <a:endParaRPr lang="en-US" sz="6400" b="1" dirty="0" smtClean="0"/>
          </a:p>
        </p:txBody>
      </p:sp>
    </p:spTree>
    <p:extLst>
      <p:ext uri="{BB962C8B-B14F-4D97-AF65-F5344CB8AC3E}">
        <p14:creationId xmlns:p14="http://schemas.microsoft.com/office/powerpoint/2010/main" val="10072333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0099"/>
            <a:ext cx="10515600" cy="840442"/>
          </a:xfrm>
        </p:spPr>
        <p:txBody>
          <a:bodyPr>
            <a:noAutofit/>
          </a:bodyPr>
          <a:lstStyle/>
          <a:p>
            <a:r>
              <a:rPr lang="en-US" sz="3200" dirty="0" smtClean="0"/>
              <a:t>Methodology and Approach</a:t>
            </a:r>
            <a:endParaRPr lang="en-US" sz="3200" dirty="0"/>
          </a:p>
        </p:txBody>
      </p:sp>
      <p:sp>
        <p:nvSpPr>
          <p:cNvPr id="3" name="Content Placeholder 2"/>
          <p:cNvSpPr>
            <a:spLocks noGrp="1"/>
          </p:cNvSpPr>
          <p:nvPr>
            <p:ph idx="1"/>
          </p:nvPr>
        </p:nvSpPr>
        <p:spPr>
          <a:xfrm>
            <a:off x="838200" y="1640541"/>
            <a:ext cx="10515600" cy="4074460"/>
          </a:xfrm>
        </p:spPr>
        <p:txBody>
          <a:bodyPr>
            <a:normAutofit/>
          </a:bodyPr>
          <a:lstStyle/>
          <a:p>
            <a:pPr>
              <a:lnSpc>
                <a:spcPct val="150000"/>
              </a:lnSpc>
            </a:pPr>
            <a:r>
              <a:rPr lang="en-US" sz="2000" dirty="0" smtClean="0"/>
              <a:t>System </a:t>
            </a:r>
            <a:r>
              <a:rPr lang="en-US" sz="2000" dirty="0"/>
              <a:t>Modeling  - Model the 5G C-RAN environment including RRHs, users, channel states, and traffic </a:t>
            </a:r>
            <a:r>
              <a:rPr lang="en-US" sz="2000" dirty="0" smtClean="0"/>
              <a:t>load of the proposed</a:t>
            </a:r>
          </a:p>
          <a:p>
            <a:pPr>
              <a:lnSpc>
                <a:spcPct val="150000"/>
              </a:lnSpc>
            </a:pPr>
            <a:r>
              <a:rPr lang="en-US" sz="2000" dirty="0" smtClean="0"/>
              <a:t>Algorithm </a:t>
            </a:r>
            <a:r>
              <a:rPr lang="en-US" sz="2000" dirty="0"/>
              <a:t>Selection  - Implement and train a DRL algorithm </a:t>
            </a:r>
            <a:r>
              <a:rPr lang="en-US" sz="2000" dirty="0" smtClean="0"/>
              <a:t>(using Deep Deterministic Policy Gradient(DDPG) </a:t>
            </a:r>
            <a:r>
              <a:rPr lang="en-US" sz="2000" dirty="0"/>
              <a:t>for optimal policy learning</a:t>
            </a:r>
            <a:r>
              <a:rPr lang="en-US" sz="2000" dirty="0" smtClean="0"/>
              <a:t>.</a:t>
            </a:r>
          </a:p>
          <a:p>
            <a:pPr>
              <a:lnSpc>
                <a:spcPct val="150000"/>
              </a:lnSpc>
            </a:pPr>
            <a:endParaRPr lang="en-US" sz="2000" dirty="0"/>
          </a:p>
        </p:txBody>
      </p:sp>
    </p:spTree>
    <p:extLst>
      <p:ext uri="{BB962C8B-B14F-4D97-AF65-F5344CB8AC3E}">
        <p14:creationId xmlns:p14="http://schemas.microsoft.com/office/powerpoint/2010/main" val="265034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3682"/>
            <a:ext cx="10515600" cy="309283"/>
          </a:xfrm>
        </p:spPr>
        <p:txBody>
          <a:bodyPr>
            <a:normAutofit fontScale="90000"/>
          </a:bodyPr>
          <a:lstStyle/>
          <a:p>
            <a:r>
              <a:rPr lang="en-US" sz="3600" dirty="0"/>
              <a:t>Proposed model</a:t>
            </a:r>
            <a:r>
              <a:rPr lang="en-US" dirty="0"/>
              <a:t/>
            </a:r>
            <a:br>
              <a:rPr lang="en-US" dirty="0"/>
            </a:b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0738" y="1411288"/>
            <a:ext cx="8670524" cy="4613275"/>
          </a:xfrm>
        </p:spPr>
      </p:pic>
    </p:spTree>
    <p:extLst>
      <p:ext uri="{BB962C8B-B14F-4D97-AF65-F5344CB8AC3E}">
        <p14:creationId xmlns:p14="http://schemas.microsoft.com/office/powerpoint/2010/main" val="10799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874059"/>
                <a:ext cx="10515600" cy="5042647"/>
              </a:xfrm>
            </p:spPr>
            <p:txBody>
              <a:bodyPr>
                <a:normAutofit/>
              </a:bodyPr>
              <a:lstStyle/>
              <a:p>
                <a:r>
                  <a:rPr lang="en-US" sz="2400" b="1" dirty="0" smtClean="0"/>
                  <a:t>Network</a:t>
                </a:r>
                <a:r>
                  <a:rPr lang="en-US" sz="2400" dirty="0" smtClean="0"/>
                  <a:t>  </a:t>
                </a:r>
                <a:r>
                  <a:rPr lang="en-US" sz="2400" b="1" dirty="0" smtClean="0"/>
                  <a:t>Model</a:t>
                </a:r>
              </a:p>
              <a:p>
                <a:pPr marL="0" indent="0">
                  <a:buNone/>
                </a:pPr>
                <a:r>
                  <a:rPr lang="en-US" sz="2000" dirty="0"/>
                  <a:t>We consider a set of </a:t>
                </a:r>
                <a:r>
                  <a:rPr lang="en-US" sz="2000" dirty="0" smtClean="0"/>
                  <a:t>RRHs, </a:t>
                </a:r>
                <a:r>
                  <a:rPr lang="en-US" sz="2000" dirty="0"/>
                  <a:t>R = {1, 2, . . . ,R}, a set of </a:t>
                </a:r>
                <a:r>
                  <a:rPr lang="en-US" sz="2000" dirty="0" smtClean="0"/>
                  <a:t>UEs,U </a:t>
                </a:r>
                <a:r>
                  <a:rPr lang="en-US" sz="2000" dirty="0"/>
                  <a:t>= {1, 2, . . . ,U} and a set of </a:t>
                </a:r>
                <a:r>
                  <a:rPr lang="en-US" sz="2000" dirty="0" smtClean="0"/>
                  <a:t>BBUs,B </a:t>
                </a:r>
                <a:r>
                  <a:rPr lang="en-US" sz="2000" dirty="0"/>
                  <a:t>= {1, 2, . . . B}.</a:t>
                </a:r>
                <a:r>
                  <a:rPr lang="en-US" sz="2400" dirty="0"/>
                  <a:t> </a:t>
                </a:r>
                <a:endParaRPr lang="en-US" sz="2400" dirty="0" smtClean="0"/>
              </a:p>
              <a:p>
                <a:pPr marL="0" indent="0">
                  <a:lnSpc>
                    <a:spcPct val="150000"/>
                  </a:lnSpc>
                  <a:buNone/>
                </a:pPr>
                <a:r>
                  <a:rPr lang="en-US" sz="2000" dirty="0" smtClean="0"/>
                  <a:t>The path </a:t>
                </a:r>
                <a:r>
                  <a:rPr lang="en-US" sz="2000" dirty="0"/>
                  <a:t>loss of the system model is given by </a:t>
                </a:r>
                <a:endParaRPr lang="en-US" sz="2000" dirty="0" smtClean="0"/>
              </a:p>
              <a:p>
                <a:pPr marL="0" indent="0">
                  <a:lnSpc>
                    <a:spcPct val="150000"/>
                  </a:lnSpc>
                  <a:buNone/>
                </a:pPr>
                <a:r>
                  <a:rPr lang="en-US" sz="2000" dirty="0" smtClean="0"/>
                  <a:t>PL(d</a:t>
                </a:r>
                <a:r>
                  <a:rPr lang="en-US" sz="2000" baseline="-25000" dirty="0" smtClean="0"/>
                  <a:t>r,u</a:t>
                </a:r>
                <a:r>
                  <a:rPr lang="en-US" sz="2000" dirty="0" smtClean="0"/>
                  <a:t>)=148.1+37.6</a:t>
                </a:r>
                <a14:m>
                  <m:oMath xmlns:m="http://schemas.openxmlformats.org/officeDocument/2006/math">
                    <m:func>
                      <m:funcPr>
                        <m:ctrlPr>
                          <a:rPr lang="en-US" sz="2000" i="1" smtClean="0">
                            <a:latin typeface="Cambria Math" panose="02040503050406030204" pitchFamily="18" charset="0"/>
                          </a:rPr>
                        </m:ctrlPr>
                      </m:funcPr>
                      <m:fName>
                        <m:sSub>
                          <m:sSubPr>
                            <m:ctrlPr>
                              <a:rPr lang="en-US" sz="2000" i="1" smtClean="0">
                                <a:latin typeface="Cambria Math" panose="02040503050406030204" pitchFamily="18" charset="0"/>
                              </a:rPr>
                            </m:ctrlPr>
                          </m:sSubPr>
                          <m:e>
                            <m:r>
                              <m:rPr>
                                <m:sty m:val="p"/>
                              </m:rPr>
                              <a:rPr lang="en-US" sz="2000" i="0" smtClean="0">
                                <a:latin typeface="Cambria Math" panose="02040503050406030204" pitchFamily="18" charset="0"/>
                              </a:rPr>
                              <m:t>log</m:t>
                            </m:r>
                          </m:e>
                          <m:sub>
                            <m:r>
                              <a:rPr lang="en-US" sz="2000" b="0" i="1" smtClean="0">
                                <a:latin typeface="Cambria Math" panose="02040503050406030204" pitchFamily="18" charset="0"/>
                              </a:rPr>
                              <m:t>2</m:t>
                            </m:r>
                          </m:sub>
                        </m:sSub>
                      </m:fName>
                      <m:e>
                        <m:r>
                          <a:rPr lang="en-US" sz="2000" b="0" i="1" smtClean="0">
                            <a:latin typeface="Cambria Math" panose="02040503050406030204" pitchFamily="18" charset="0"/>
                          </a:rPr>
                          <m:t>𝑑</m:t>
                        </m:r>
                        <m:r>
                          <a:rPr lang="en-US" sz="2000" b="0" i="1" baseline="-25000" smtClean="0">
                            <a:latin typeface="Cambria Math" panose="02040503050406030204" pitchFamily="18" charset="0"/>
                          </a:rPr>
                          <m:t>𝑟</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m:t>
                        </m:r>
                      </m:e>
                    </m:func>
                  </m:oMath>
                </a14:m>
                <a:r>
                  <a:rPr lang="en-US" sz="2000" dirty="0" smtClean="0"/>
                  <a:t> </a:t>
                </a:r>
                <a:r>
                  <a:rPr lang="en-US" sz="2000" i="1" dirty="0" smtClean="0"/>
                  <a:t>dB ,                                                                                                  </a:t>
                </a:r>
                <a:r>
                  <a:rPr lang="en-US" sz="2000" dirty="0" smtClean="0"/>
                  <a:t>where d</a:t>
                </a:r>
                <a:r>
                  <a:rPr lang="en-US" sz="2000" baseline="-25000" dirty="0" smtClean="0"/>
                  <a:t>r,u</a:t>
                </a:r>
                <a:r>
                  <a:rPr lang="en-US" sz="2000" dirty="0" smtClean="0"/>
                  <a:t> </a:t>
                </a:r>
                <a:r>
                  <a:rPr lang="en-US" sz="2000" dirty="0"/>
                  <a:t>represents the distance between the </a:t>
                </a:r>
                <a:r>
                  <a:rPr lang="en-US" sz="2000" dirty="0" smtClean="0"/>
                  <a:t>RRH,r </a:t>
                </a:r>
                <a:r>
                  <a:rPr lang="en-US" sz="2000" dirty="0"/>
                  <a:t>and </a:t>
                </a:r>
                <a:r>
                  <a:rPr lang="en-US" sz="2000" dirty="0" smtClean="0"/>
                  <a:t>UE,u</a:t>
                </a:r>
                <a:r>
                  <a:rPr lang="en-US" sz="2000" dirty="0"/>
                  <a:t>. </a:t>
                </a:r>
                <a:endParaRPr lang="en-US" sz="2000" dirty="0" smtClean="0"/>
              </a:p>
              <a:p>
                <a:pPr marL="0" indent="0">
                  <a:buNone/>
                </a:pPr>
                <a:r>
                  <a:rPr lang="en-US" sz="2000" dirty="0" smtClean="0"/>
                  <a:t>The radio </a:t>
                </a:r>
                <a:r>
                  <a:rPr lang="en-US" sz="2000" dirty="0"/>
                  <a:t>channel between the RRH and UE is </a:t>
                </a:r>
                <a:r>
                  <a:rPr lang="en-US" sz="2000" dirty="0" smtClean="0"/>
                  <a:t>modelled as</a:t>
                </a:r>
              </a:p>
              <a:p>
                <a:pPr marL="0" indent="0">
                  <a:buNone/>
                </a:pPr>
                <a:r>
                  <a:rPr lang="en-US" sz="2400" dirty="0" smtClean="0"/>
                  <a:t>h</a:t>
                </a:r>
                <a:r>
                  <a:rPr lang="en-US" sz="2400" baseline="-25000" dirty="0" smtClean="0"/>
                  <a:t>r,u</a:t>
                </a:r>
                <a:r>
                  <a:rPr lang="en-US" sz="2400" baseline="-25000" dirty="0"/>
                  <a:t> </a:t>
                </a:r>
                <a:r>
                  <a:rPr lang="en-US" sz="2400" dirty="0" smtClean="0"/>
                  <a:t>=10</a:t>
                </a:r>
                <a:r>
                  <a:rPr lang="en-US" sz="2400" baseline="30000" dirty="0" smtClean="0"/>
                  <a:t>-PL(dr,u)/20</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US" sz="2000" baseline="30000" dirty="0" smtClean="0"/>
                  <a:t>(</a:t>
                </a:r>
                <a:r>
                  <a:rPr lang="el-GR" sz="2000" baseline="30000" dirty="0" smtClean="0"/>
                  <a:t>φ</a:t>
                </a:r>
                <a:r>
                  <a:rPr lang="en-US" sz="2000" baseline="30000" dirty="0" smtClean="0"/>
                  <a:t>r,u*</a:t>
                </a:r>
                <a:r>
                  <a:rPr lang="el-GR" sz="2000" baseline="30000" dirty="0" smtClean="0"/>
                  <a:t>ς</a:t>
                </a:r>
                <a:r>
                  <a:rPr lang="en-US" sz="2000" baseline="30000" dirty="0" smtClean="0"/>
                  <a:t>r,u*nr,u) ,</a:t>
                </a:r>
              </a:p>
              <a:p>
                <a:pPr marL="0" indent="0">
                  <a:lnSpc>
                    <a:spcPct val="150000"/>
                  </a:lnSpc>
                  <a:buNone/>
                </a:pPr>
                <a:r>
                  <a:rPr lang="en-US" sz="2000" dirty="0" smtClean="0"/>
                  <a:t>Where </a:t>
                </a:r>
                <a:r>
                  <a:rPr lang="el-GR" sz="2000" dirty="0"/>
                  <a:t>φ</a:t>
                </a:r>
                <a:r>
                  <a:rPr lang="en-US" sz="2000" baseline="-25000" dirty="0" smtClean="0"/>
                  <a:t>r,u</a:t>
                </a:r>
                <a:r>
                  <a:rPr lang="en-US" sz="2000" dirty="0" smtClean="0"/>
                  <a:t> ,</a:t>
                </a:r>
                <a:r>
                  <a:rPr lang="el-GR" sz="2000" dirty="0" smtClean="0"/>
                  <a:t>ς</a:t>
                </a:r>
                <a:r>
                  <a:rPr lang="en-US" sz="2000" baseline="-25000" dirty="0" smtClean="0"/>
                  <a:t>r,u</a:t>
                </a:r>
                <a:r>
                  <a:rPr lang="en-US" sz="2000" dirty="0" smtClean="0"/>
                  <a:t> ,n</a:t>
                </a:r>
                <a:r>
                  <a:rPr lang="en-US" sz="2000" baseline="-25000" dirty="0" smtClean="0"/>
                  <a:t>r,u </a:t>
                </a:r>
                <a:r>
                  <a:rPr lang="en-US" sz="2000" dirty="0"/>
                  <a:t>are </a:t>
                </a:r>
                <a:r>
                  <a:rPr lang="en-US" sz="2000" dirty="0" smtClean="0"/>
                  <a:t>the </a:t>
                </a:r>
                <a:r>
                  <a:rPr lang="en-US" sz="2000" dirty="0"/>
                  <a:t>antenna </a:t>
                </a:r>
                <a:r>
                  <a:rPr lang="en-US" sz="2000" dirty="0" smtClean="0"/>
                  <a:t>gain, shadowing </a:t>
                </a:r>
                <a:r>
                  <a:rPr lang="en-US" sz="2000" dirty="0"/>
                  <a:t>and small-scale fading between RRH and </a:t>
                </a:r>
                <a:r>
                  <a:rPr lang="en-US" sz="2000" dirty="0" smtClean="0"/>
                  <a:t>UE,respectively</a:t>
                </a:r>
                <a:r>
                  <a:rPr lang="en-US" sz="2000" dirty="0"/>
                  <a:t>.</a:t>
                </a:r>
                <a:endParaRPr lang="en-US" sz="2000" baseline="-25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874059"/>
                <a:ext cx="10515600" cy="5042647"/>
              </a:xfrm>
              <a:blipFill rotWithShape="0">
                <a:blip r:embed="rId2"/>
                <a:stretch>
                  <a:fillRect l="-928" t="-1691" r="-986"/>
                </a:stretch>
              </a:blipFill>
            </p:spPr>
            <p:txBody>
              <a:bodyPr/>
              <a:lstStyle/>
              <a:p>
                <a:r>
                  <a:rPr lang="en-US">
                    <a:noFill/>
                  </a:rPr>
                  <a:t> </a:t>
                </a:r>
              </a:p>
            </p:txBody>
          </p:sp>
        </mc:Fallback>
      </mc:AlternateContent>
    </p:spTree>
    <p:extLst>
      <p:ext uri="{BB962C8B-B14F-4D97-AF65-F5344CB8AC3E}">
        <p14:creationId xmlns:p14="http://schemas.microsoft.com/office/powerpoint/2010/main" val="2203000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739589"/>
                <a:ext cx="10515600" cy="5298140"/>
              </a:xfrm>
            </p:spPr>
            <p:txBody>
              <a:bodyPr>
                <a:normAutofit/>
              </a:bodyPr>
              <a:lstStyle/>
              <a:p>
                <a:r>
                  <a:rPr lang="en-US" sz="2000" dirty="0" smtClean="0"/>
                  <a:t>The signal-to interference-plus-noise </a:t>
                </a:r>
                <a:r>
                  <a:rPr lang="en-US" sz="2000" dirty="0"/>
                  <a:t>ratio (SINR) of the UE u at time </a:t>
                </a:r>
                <a:r>
                  <a:rPr lang="en-US" sz="2000" dirty="0" smtClean="0"/>
                  <a:t>slot t</a:t>
                </a:r>
                <a:r>
                  <a:rPr lang="en-US" sz="2000" dirty="0"/>
                  <a:t>, γ</a:t>
                </a:r>
                <a:r>
                  <a:rPr lang="en-US" sz="2000" baseline="-25000" dirty="0"/>
                  <a:t>u(t) </a:t>
                </a:r>
                <a:r>
                  <a:rPr lang="en-US" sz="2000" dirty="0" smtClean="0"/>
                  <a:t>is </a:t>
                </a:r>
                <a:r>
                  <a:rPr lang="en-US" sz="2000" dirty="0"/>
                  <a:t>written </a:t>
                </a:r>
                <a:r>
                  <a:rPr lang="en-US" sz="2000" dirty="0" smtClean="0"/>
                  <a:t>as</a:t>
                </a:r>
              </a:p>
              <a:p>
                <a:pPr marL="0" indent="0">
                  <a:buNone/>
                </a:pPr>
                <a:r>
                  <a:rPr lang="en-US" sz="2400" dirty="0" smtClean="0">
                    <a:solidFill>
                      <a:srgbClr val="E7E6E6">
                        <a:lumMod val="10000"/>
                      </a:srgbClr>
                    </a:solidFill>
                  </a:rPr>
                  <a:t>                                γ</a:t>
                </a:r>
                <a:r>
                  <a:rPr lang="en-US" sz="2400" baseline="-25000" dirty="0" smtClean="0">
                    <a:latin typeface="Calibri" panose="020F0502020204030204" pitchFamily="34" charset="0"/>
                    <a:ea typeface="Times New Roman" panose="02020603050405020304" pitchFamily="18" charset="0"/>
                    <a:cs typeface="Times New Roman" panose="02020603050405020304" pitchFamily="18" charset="0"/>
                  </a:rPr>
                  <a:t>u(t)</a:t>
                </a:r>
                <a:r>
                  <a:rPr lang="en-US" sz="2400" dirty="0" smtClean="0">
                    <a:effectLst/>
                    <a:latin typeface="Calibri" panose="020F050202020403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400" i="1" smtClean="0">
                            <a:effectLst/>
                            <a:latin typeface="Cambria Math" panose="02040503050406030204" pitchFamily="18" charset="0"/>
                            <a:cs typeface="Times New Roman" panose="02020603050405020304" pitchFamily="18" charset="0"/>
                          </a:rPr>
                        </m:ctrlPr>
                      </m:fPr>
                      <m:num>
                        <m:r>
                          <a:rPr lang="en-US" sz="2400" i="1" smtClean="0">
                            <a:effectLst/>
                            <a:latin typeface="Cambria Math" panose="02040503050406030204" pitchFamily="18" charset="0"/>
                            <a:cs typeface="Times New Roman" panose="02020603050405020304" pitchFamily="18" charset="0"/>
                          </a:rPr>
                          <m:t>|</m:t>
                        </m:r>
                        <m:r>
                          <a:rPr lang="en-US" sz="2400" b="0" i="1" smtClean="0">
                            <a:effectLst/>
                            <a:latin typeface="Cambria Math" panose="02040503050406030204" pitchFamily="18" charset="0"/>
                            <a:cs typeface="Times New Roman" panose="02020603050405020304" pitchFamily="18" charset="0"/>
                          </a:rPr>
                          <m:t>h</m:t>
                        </m:r>
                        <m:r>
                          <a:rPr lang="en-US" sz="2400" b="0" i="1" baseline="-25000" smtClean="0">
                            <a:effectLst/>
                            <a:latin typeface="Cambria Math" panose="02040503050406030204" pitchFamily="18" charset="0"/>
                            <a:cs typeface="Times New Roman" panose="02020603050405020304" pitchFamily="18" charset="0"/>
                          </a:rPr>
                          <m:t>𝑢</m:t>
                        </m:r>
                        <m:r>
                          <a:rPr lang="en-US" sz="2400" b="0" i="1" baseline="30000" smtClean="0">
                            <a:effectLst/>
                            <a:latin typeface="Cambria Math" panose="02040503050406030204" pitchFamily="18" charset="0"/>
                            <a:cs typeface="Times New Roman" panose="02020603050405020304" pitchFamily="18" charset="0"/>
                          </a:rPr>
                          <m:t>𝐻</m:t>
                        </m:r>
                        <m:d>
                          <m:dPr>
                            <m:ctrlPr>
                              <a:rPr lang="en-US" sz="2400" b="0" i="1" smtClean="0">
                                <a:effectLst/>
                                <a:latin typeface="Cambria Math" panose="02040503050406030204" pitchFamily="18" charset="0"/>
                                <a:cs typeface="Times New Roman" panose="02020603050405020304" pitchFamily="18" charset="0"/>
                              </a:rPr>
                            </m:ctrlPr>
                          </m:dPr>
                          <m:e>
                            <m:r>
                              <a:rPr lang="en-US" sz="2400" b="0" i="1" smtClean="0">
                                <a:effectLst/>
                                <a:latin typeface="Cambria Math" panose="02040503050406030204" pitchFamily="18" charset="0"/>
                                <a:cs typeface="Times New Roman" panose="02020603050405020304" pitchFamily="18" charset="0"/>
                              </a:rPr>
                              <m:t>𝑡</m:t>
                            </m:r>
                          </m:e>
                        </m:d>
                        <m:r>
                          <a:rPr lang="en-US" sz="2400" b="0" i="1" smtClean="0">
                            <a:effectLst/>
                            <a:latin typeface="Cambria Math" panose="02040503050406030204" pitchFamily="18" charset="0"/>
                            <a:cs typeface="Times New Roman" panose="02020603050405020304" pitchFamily="18" charset="0"/>
                          </a:rPr>
                          <m:t>𝑤</m:t>
                        </m:r>
                        <m:r>
                          <a:rPr lang="en-US" sz="2400" b="0" i="1" baseline="-25000" smtClean="0">
                            <a:effectLst/>
                            <a:latin typeface="Cambria Math" panose="02040503050406030204" pitchFamily="18" charset="0"/>
                            <a:cs typeface="Times New Roman" panose="02020603050405020304" pitchFamily="18" charset="0"/>
                          </a:rPr>
                          <m:t>𝑢</m:t>
                        </m:r>
                        <m:r>
                          <a:rPr lang="en-US" sz="2400" b="0" i="1" smtClean="0">
                            <a:effectLst/>
                            <a:latin typeface="Cambria Math" panose="02040503050406030204" pitchFamily="18" charset="0"/>
                            <a:cs typeface="Times New Roman" panose="02020603050405020304" pitchFamily="18" charset="0"/>
                          </a:rPr>
                          <m:t>(</m:t>
                        </m:r>
                        <m:r>
                          <a:rPr lang="en-US" sz="2400" b="0" i="1" smtClean="0">
                            <a:effectLst/>
                            <a:latin typeface="Cambria Math" panose="02040503050406030204" pitchFamily="18" charset="0"/>
                            <a:cs typeface="Times New Roman" panose="02020603050405020304" pitchFamily="18" charset="0"/>
                          </a:rPr>
                          <m:t>𝑡</m:t>
                        </m:r>
                        <m:r>
                          <a:rPr lang="en-US" sz="2400" b="0" i="1" smtClean="0">
                            <a:effectLst/>
                            <a:latin typeface="Cambria Math" panose="02040503050406030204" pitchFamily="18" charset="0"/>
                            <a:cs typeface="Times New Roman" panose="02020603050405020304" pitchFamily="18" charset="0"/>
                          </a:rPr>
                          <m:t>)|2</m:t>
                        </m:r>
                      </m:num>
                      <m:den>
                        <m:nary>
                          <m:naryPr>
                            <m:chr m:val="∑"/>
                            <m:supHide m:val="on"/>
                            <m:ctrlPr>
                              <a:rPr lang="en-US" sz="2400" i="1" smtClean="0">
                                <a:effectLst/>
                                <a:latin typeface="Cambria Math" panose="02040503050406030204" pitchFamily="18" charset="0"/>
                                <a:cs typeface="Times New Roman" panose="02020603050405020304" pitchFamily="18" charset="0"/>
                              </a:rPr>
                            </m:ctrlPr>
                          </m:naryPr>
                          <m:sub>
                            <m:r>
                              <m:rPr>
                                <m:brk m:alnAt="7"/>
                              </m:rPr>
                              <a:rPr lang="en-US" sz="2400" b="0" i="1" smtClean="0">
                                <a:effectLst/>
                                <a:latin typeface="Cambria Math" panose="02040503050406030204" pitchFamily="18" charset="0"/>
                                <a:cs typeface="Times New Roman" panose="02020603050405020304" pitchFamily="18" charset="0"/>
                              </a:rPr>
                              <m:t>𝑣</m:t>
                            </m:r>
                            <m:r>
                              <a:rPr lang="en-US" sz="2400" b="0" i="1" smtClean="0">
                                <a:effectLst/>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effectLst/>
                                <a:latin typeface="Cambria Math" panose="02040503050406030204" pitchFamily="18" charset="0"/>
                                <a:ea typeface="Cambria Math" panose="02040503050406030204" pitchFamily="18" charset="0"/>
                                <a:cs typeface="Times New Roman" panose="02020603050405020304" pitchFamily="18" charset="0"/>
                              </a:rPr>
                              <m:t>𝑢</m:t>
                            </m:r>
                          </m:sub>
                          <m:sup/>
                          <m:e>
                            <m:d>
                              <m:dPr>
                                <m:begChr m:val="|"/>
                                <m:endChr m:val="|"/>
                                <m:ctrlPr>
                                  <a:rPr lang="en-US" sz="2400" b="0" i="1" smtClean="0">
                                    <a:effectLst/>
                                    <a:latin typeface="Cambria Math" panose="02040503050406030204" pitchFamily="18" charset="0"/>
                                    <a:cs typeface="Times New Roman" panose="02020603050405020304" pitchFamily="18" charset="0"/>
                                  </a:rPr>
                                </m:ctrlPr>
                              </m:dPr>
                              <m:e>
                                <m:r>
                                  <a:rPr lang="en-US" sz="2400" b="0" i="1" smtClean="0">
                                    <a:effectLst/>
                                    <a:latin typeface="Cambria Math" panose="02040503050406030204" pitchFamily="18" charset="0"/>
                                    <a:cs typeface="Times New Roman" panose="02020603050405020304" pitchFamily="18" charset="0"/>
                                  </a:rPr>
                                  <m:t>h</m:t>
                                </m:r>
                                <m:r>
                                  <a:rPr lang="en-US" sz="2400" b="0" i="1" baseline="-25000" smtClean="0">
                                    <a:effectLst/>
                                    <a:latin typeface="Cambria Math" panose="02040503050406030204" pitchFamily="18" charset="0"/>
                                    <a:cs typeface="Times New Roman" panose="02020603050405020304" pitchFamily="18" charset="0"/>
                                  </a:rPr>
                                  <m:t>𝑣</m:t>
                                </m:r>
                                <m:r>
                                  <a:rPr lang="en-US" sz="2400" b="0" i="1" baseline="30000" smtClean="0">
                                    <a:effectLst/>
                                    <a:latin typeface="Cambria Math" panose="02040503050406030204" pitchFamily="18" charset="0"/>
                                    <a:cs typeface="Times New Roman" panose="02020603050405020304" pitchFamily="18" charset="0"/>
                                  </a:rPr>
                                  <m:t>𝐻</m:t>
                                </m:r>
                                <m:d>
                                  <m:dPr>
                                    <m:ctrlPr>
                                      <a:rPr lang="en-US" sz="2400" b="0" i="1" smtClean="0">
                                        <a:effectLst/>
                                        <a:latin typeface="Cambria Math" panose="02040503050406030204" pitchFamily="18" charset="0"/>
                                        <a:cs typeface="Times New Roman" panose="02020603050405020304" pitchFamily="18" charset="0"/>
                                      </a:rPr>
                                    </m:ctrlPr>
                                  </m:dPr>
                                  <m:e>
                                    <m:r>
                                      <a:rPr lang="en-US" sz="2400" b="0" i="1" smtClean="0">
                                        <a:effectLst/>
                                        <a:latin typeface="Cambria Math" panose="02040503050406030204" pitchFamily="18" charset="0"/>
                                        <a:cs typeface="Times New Roman" panose="02020603050405020304" pitchFamily="18" charset="0"/>
                                      </a:rPr>
                                      <m:t>𝑡</m:t>
                                    </m:r>
                                  </m:e>
                                </m:d>
                                <m:r>
                                  <a:rPr lang="en-US" sz="2400" b="0" i="1" smtClean="0">
                                    <a:effectLst/>
                                    <a:latin typeface="Cambria Math" panose="02040503050406030204" pitchFamily="18" charset="0"/>
                                    <a:cs typeface="Times New Roman" panose="02020603050405020304" pitchFamily="18" charset="0"/>
                                  </a:rPr>
                                  <m:t>𝑤</m:t>
                                </m:r>
                                <m:r>
                                  <a:rPr lang="en-US" sz="2400" b="0" i="1" baseline="-25000" smtClean="0">
                                    <a:effectLst/>
                                    <a:latin typeface="Cambria Math" panose="02040503050406030204" pitchFamily="18" charset="0"/>
                                    <a:cs typeface="Times New Roman" panose="02020603050405020304" pitchFamily="18" charset="0"/>
                                  </a:rPr>
                                  <m:t>𝑢</m:t>
                                </m:r>
                                <m:d>
                                  <m:dPr>
                                    <m:ctrlPr>
                                      <a:rPr lang="en-US" sz="2400" b="0" i="1" smtClean="0">
                                        <a:effectLst/>
                                        <a:latin typeface="Cambria Math" panose="02040503050406030204" pitchFamily="18" charset="0"/>
                                        <a:cs typeface="Times New Roman" panose="02020603050405020304" pitchFamily="18" charset="0"/>
                                      </a:rPr>
                                    </m:ctrlPr>
                                  </m:dPr>
                                  <m:e>
                                    <m:r>
                                      <a:rPr lang="en-US" sz="2400" b="0" i="1" smtClean="0">
                                        <a:effectLst/>
                                        <a:latin typeface="Cambria Math" panose="02040503050406030204" pitchFamily="18" charset="0"/>
                                        <a:cs typeface="Times New Roman" panose="02020603050405020304" pitchFamily="18" charset="0"/>
                                      </a:rPr>
                                      <m:t>𝑡</m:t>
                                    </m:r>
                                  </m:e>
                                </m:d>
                              </m:e>
                            </m:d>
                            <m:r>
                              <a:rPr lang="en-US" sz="2400" b="0" i="1" baseline="30000" smtClean="0">
                                <a:effectLst/>
                                <a:latin typeface="Cambria Math" panose="02040503050406030204" pitchFamily="18" charset="0"/>
                                <a:cs typeface="Times New Roman" panose="02020603050405020304" pitchFamily="18" charset="0"/>
                              </a:rPr>
                              <m:t>2</m:t>
                            </m:r>
                            <m:r>
                              <a:rPr lang="en-US" sz="2400" b="0" i="1" smtClean="0">
                                <a:effectLst/>
                                <a:latin typeface="Cambria Math" panose="02040503050406030204" pitchFamily="18" charset="0"/>
                                <a:cs typeface="Times New Roman" panose="02020603050405020304" pitchFamily="18" charset="0"/>
                              </a:rPr>
                              <m:t>+</m:t>
                            </m:r>
                            <m:r>
                              <m:rPr>
                                <m:sty m:val="p"/>
                              </m:rPr>
                              <a:rPr lang="el-GR" sz="2400" b="0" i="1" smtClean="0">
                                <a:effectLst/>
                                <a:latin typeface="Cambria Math" panose="02040503050406030204" pitchFamily="18" charset="0"/>
                                <a:cs typeface="Times New Roman" panose="02020603050405020304" pitchFamily="18" charset="0"/>
                              </a:rPr>
                              <m:t>σ</m:t>
                            </m:r>
                            <m:r>
                              <a:rPr lang="en-US" sz="2400" b="0" i="1" baseline="30000" smtClean="0">
                                <a:effectLst/>
                                <a:latin typeface="Cambria Math" panose="02040503050406030204" pitchFamily="18" charset="0"/>
                                <a:cs typeface="Times New Roman" panose="02020603050405020304" pitchFamily="18" charset="0"/>
                              </a:rPr>
                              <m:t>2</m:t>
                            </m:r>
                          </m:e>
                        </m:nary>
                      </m:den>
                    </m:f>
                  </m:oMath>
                </a14:m>
                <a:endParaRPr lang="en-US" sz="2400" dirty="0" smtClean="0">
                  <a:effectLst/>
                  <a:latin typeface="Calibri" panose="020F0502020204030204" pitchFamily="34" charset="0"/>
                  <a:cs typeface="Times New Roman" panose="02020603050405020304" pitchFamily="18" charset="0"/>
                </a:endParaRPr>
              </a:p>
              <a:p>
                <a:pPr marL="0" indent="0">
                  <a:lnSpc>
                    <a:spcPct val="150000"/>
                  </a:lnSpc>
                  <a:buNone/>
                </a:pPr>
                <a:r>
                  <a:rPr lang="en-US" sz="2000" dirty="0" smtClean="0">
                    <a:solidFill>
                      <a:srgbClr val="000000"/>
                    </a:solidFill>
                  </a:rPr>
                  <a:t>where </a:t>
                </a:r>
                <a:r>
                  <a:rPr lang="en-US" sz="2000" i="1" dirty="0" smtClean="0">
                    <a:solidFill>
                      <a:srgbClr val="000000"/>
                    </a:solidFill>
                  </a:rPr>
                  <a:t>h</a:t>
                </a:r>
                <a:r>
                  <a:rPr lang="en-US" sz="2000" i="1" baseline="-25000" dirty="0" smtClean="0">
                    <a:solidFill>
                      <a:srgbClr val="000000"/>
                    </a:solidFill>
                  </a:rPr>
                  <a:t>u</a:t>
                </a:r>
                <a:r>
                  <a:rPr lang="en-US" sz="2000" baseline="-25000" dirty="0" smtClean="0">
                    <a:solidFill>
                      <a:srgbClr val="000000"/>
                    </a:solidFill>
                  </a:rPr>
                  <a:t>(</a:t>
                </a:r>
                <a:r>
                  <a:rPr lang="en-US" sz="2000" i="1" baseline="-25000" dirty="0" smtClean="0">
                    <a:solidFill>
                      <a:srgbClr val="000000"/>
                    </a:solidFill>
                  </a:rPr>
                  <a:t>t</a:t>
                </a:r>
                <a:r>
                  <a:rPr lang="en-US" sz="2000" baseline="-25000" dirty="0" smtClean="0">
                    <a:solidFill>
                      <a:srgbClr val="000000"/>
                    </a:solidFill>
                  </a:rPr>
                  <a:t>) </a:t>
                </a:r>
                <a:r>
                  <a:rPr lang="en-US" sz="2000" dirty="0" smtClean="0">
                    <a:solidFill>
                      <a:srgbClr val="000000"/>
                    </a:solidFill>
                  </a:rPr>
                  <a:t>= [</a:t>
                </a:r>
                <a:r>
                  <a:rPr lang="en-US" sz="2000" i="1" dirty="0" smtClean="0">
                    <a:solidFill>
                      <a:srgbClr val="000000"/>
                    </a:solidFill>
                  </a:rPr>
                  <a:t>h</a:t>
                </a:r>
                <a:r>
                  <a:rPr lang="en-US" sz="2000" baseline="-25000" dirty="0" smtClean="0">
                    <a:solidFill>
                      <a:srgbClr val="000000"/>
                    </a:solidFill>
                  </a:rPr>
                  <a:t>1</a:t>
                </a:r>
                <a:r>
                  <a:rPr lang="en-US" sz="2000" i="1" baseline="-25000" dirty="0" smtClean="0">
                    <a:solidFill>
                      <a:srgbClr val="000000"/>
                    </a:solidFill>
                  </a:rPr>
                  <a:t>,u</a:t>
                </a:r>
                <a:r>
                  <a:rPr lang="en-US" sz="2000" i="1" dirty="0" smtClean="0">
                    <a:solidFill>
                      <a:srgbClr val="000000"/>
                    </a:solidFill>
                  </a:rPr>
                  <a:t>, h</a:t>
                </a:r>
                <a:r>
                  <a:rPr lang="en-US" sz="2000" baseline="-25000" dirty="0" smtClean="0">
                    <a:solidFill>
                      <a:srgbClr val="000000"/>
                    </a:solidFill>
                  </a:rPr>
                  <a:t>2</a:t>
                </a:r>
                <a:r>
                  <a:rPr lang="en-US" sz="2000" i="1" baseline="-25000" dirty="0" smtClean="0">
                    <a:solidFill>
                      <a:srgbClr val="000000"/>
                    </a:solidFill>
                  </a:rPr>
                  <a:t>,u</a:t>
                </a:r>
                <a:r>
                  <a:rPr lang="en-US" sz="2000" i="1" dirty="0" smtClean="0">
                    <a:solidFill>
                      <a:srgbClr val="000000"/>
                    </a:solidFill>
                  </a:rPr>
                  <a:t>, . . . , h</a:t>
                </a:r>
                <a:r>
                  <a:rPr lang="en-US" sz="2000" i="1" baseline="-25000" dirty="0" smtClean="0">
                    <a:solidFill>
                      <a:srgbClr val="000000"/>
                    </a:solidFill>
                  </a:rPr>
                  <a:t>R,u</a:t>
                </a:r>
                <a:r>
                  <a:rPr lang="en-US" sz="2000" dirty="0" smtClean="0">
                    <a:solidFill>
                      <a:srgbClr val="000000"/>
                    </a:solidFill>
                  </a:rPr>
                  <a:t>]</a:t>
                </a:r>
                <a:r>
                  <a:rPr lang="en-US" sz="2000" i="1" baseline="30000" dirty="0" smtClean="0">
                    <a:solidFill>
                      <a:srgbClr val="000000"/>
                    </a:solidFill>
                  </a:rPr>
                  <a:t>T</a:t>
                </a:r>
                <a:r>
                  <a:rPr lang="en-US" sz="2000" i="1" dirty="0" smtClean="0">
                    <a:solidFill>
                      <a:srgbClr val="000000"/>
                    </a:solidFill>
                  </a:rPr>
                  <a:t> </a:t>
                </a:r>
                <a:r>
                  <a:rPr lang="en-US" sz="2000" dirty="0" smtClean="0">
                    <a:solidFill>
                      <a:srgbClr val="000000"/>
                    </a:solidFill>
                  </a:rPr>
                  <a:t>and each component</a:t>
                </a:r>
                <a:r>
                  <a:rPr lang="en-US" sz="2000" dirty="0">
                    <a:solidFill>
                      <a:srgbClr val="000000"/>
                    </a:solidFill>
                  </a:rPr>
                  <a:t> </a:t>
                </a:r>
                <a:r>
                  <a:rPr lang="en-US" sz="2000" i="1" dirty="0" smtClean="0">
                    <a:solidFill>
                      <a:srgbClr val="000000"/>
                    </a:solidFill>
                  </a:rPr>
                  <a:t>h</a:t>
                </a:r>
                <a:r>
                  <a:rPr lang="en-US" sz="2000" i="1" baseline="-25000" dirty="0" smtClean="0">
                    <a:solidFill>
                      <a:srgbClr val="000000"/>
                    </a:solidFill>
                  </a:rPr>
                  <a:t>r,u</a:t>
                </a:r>
                <a:r>
                  <a:rPr lang="en-US" sz="2000" i="1" dirty="0" smtClean="0">
                    <a:solidFill>
                      <a:srgbClr val="000000"/>
                    </a:solidFill>
                  </a:rPr>
                  <a:t> </a:t>
                </a:r>
                <a:r>
                  <a:rPr lang="en-US" sz="2000" dirty="0" smtClean="0">
                    <a:solidFill>
                      <a:srgbClr val="000000"/>
                    </a:solidFill>
                  </a:rPr>
                  <a:t>represents the channel gain between RRH </a:t>
                </a:r>
                <a:r>
                  <a:rPr lang="en-US" sz="2000" i="1" dirty="0" smtClean="0">
                    <a:solidFill>
                      <a:srgbClr val="000000"/>
                    </a:solidFill>
                  </a:rPr>
                  <a:t>r </a:t>
                </a:r>
                <a:r>
                  <a:rPr lang="en-US" sz="2000" dirty="0" smtClean="0">
                    <a:solidFill>
                      <a:srgbClr val="000000"/>
                    </a:solidFill>
                  </a:rPr>
                  <a:t>and UE </a:t>
                </a:r>
                <a:r>
                  <a:rPr lang="en-US" sz="2000" i="1" dirty="0" smtClean="0">
                    <a:solidFill>
                      <a:srgbClr val="000000"/>
                    </a:solidFill>
                  </a:rPr>
                  <a:t>u </a:t>
                </a:r>
                <a:r>
                  <a:rPr lang="en-US" sz="2000" dirty="0" smtClean="0">
                    <a:solidFill>
                      <a:srgbClr val="000000"/>
                    </a:solidFill>
                  </a:rPr>
                  <a:t>at time slot </a:t>
                </a:r>
                <a:r>
                  <a:rPr lang="en-US" sz="2000" i="1" dirty="0" smtClean="0">
                    <a:solidFill>
                      <a:srgbClr val="000000"/>
                    </a:solidFill>
                  </a:rPr>
                  <a:t>t</a:t>
                </a:r>
                <a:r>
                  <a:rPr lang="en-US" sz="2000" dirty="0" smtClean="0">
                    <a:solidFill>
                      <a:srgbClr val="000000"/>
                    </a:solidFill>
                  </a:rPr>
                  <a:t>.</a:t>
                </a:r>
              </a:p>
              <a:p>
                <a:pPr marL="0" indent="0">
                  <a:lnSpc>
                    <a:spcPct val="150000"/>
                  </a:lnSpc>
                  <a:buNone/>
                </a:pPr>
                <a:r>
                  <a:rPr lang="en-US" sz="2000" dirty="0" smtClean="0">
                    <a:solidFill>
                      <a:srgbClr val="000000"/>
                    </a:solidFill>
                  </a:rPr>
                  <a:t> Also </a:t>
                </a:r>
                <a:r>
                  <a:rPr lang="en-US" sz="2000" i="1" dirty="0" smtClean="0">
                    <a:solidFill>
                      <a:srgbClr val="000000"/>
                    </a:solidFill>
                  </a:rPr>
                  <a:t>w</a:t>
                </a:r>
                <a:r>
                  <a:rPr lang="en-US" sz="2000" i="1" baseline="-25000" dirty="0" smtClean="0">
                    <a:solidFill>
                      <a:srgbClr val="000000"/>
                    </a:solidFill>
                  </a:rPr>
                  <a:t>u</a:t>
                </a:r>
                <a:r>
                  <a:rPr lang="en-US" sz="2000" baseline="-25000" dirty="0" smtClean="0">
                    <a:solidFill>
                      <a:srgbClr val="000000"/>
                    </a:solidFill>
                  </a:rPr>
                  <a:t>(</a:t>
                </a:r>
                <a:r>
                  <a:rPr lang="en-US" sz="2000" i="1" baseline="-25000" dirty="0" smtClean="0">
                    <a:solidFill>
                      <a:srgbClr val="000000"/>
                    </a:solidFill>
                  </a:rPr>
                  <a:t>t</a:t>
                </a:r>
                <a:r>
                  <a:rPr lang="en-US" sz="2000" baseline="-25000" dirty="0" smtClean="0">
                    <a:solidFill>
                      <a:srgbClr val="000000"/>
                    </a:solidFill>
                  </a:rPr>
                  <a:t>) </a:t>
                </a:r>
                <a:r>
                  <a:rPr lang="en-US" sz="2000" dirty="0" smtClean="0">
                    <a:solidFill>
                      <a:srgbClr val="000000"/>
                    </a:solidFill>
                  </a:rPr>
                  <a:t>= [</a:t>
                </a:r>
                <a:r>
                  <a:rPr lang="en-US" sz="2000" i="1" dirty="0" smtClean="0">
                    <a:solidFill>
                      <a:srgbClr val="000000"/>
                    </a:solidFill>
                  </a:rPr>
                  <a:t>w</a:t>
                </a:r>
                <a:r>
                  <a:rPr lang="en-US" sz="2000" baseline="-25000" dirty="0" smtClean="0">
                    <a:solidFill>
                      <a:srgbClr val="000000"/>
                    </a:solidFill>
                  </a:rPr>
                  <a:t>1</a:t>
                </a:r>
                <a:r>
                  <a:rPr lang="en-US" sz="2000" i="1" baseline="-25000" dirty="0" smtClean="0">
                    <a:solidFill>
                      <a:srgbClr val="000000"/>
                    </a:solidFill>
                  </a:rPr>
                  <a:t>,u</a:t>
                </a:r>
                <a:r>
                  <a:rPr lang="en-US" sz="2000" i="1" dirty="0" smtClean="0">
                    <a:solidFill>
                      <a:srgbClr val="000000"/>
                    </a:solidFill>
                  </a:rPr>
                  <a:t>, w</a:t>
                </a:r>
                <a:r>
                  <a:rPr lang="en-US" sz="2000" baseline="-25000" dirty="0" smtClean="0">
                    <a:solidFill>
                      <a:srgbClr val="000000"/>
                    </a:solidFill>
                  </a:rPr>
                  <a:t>2</a:t>
                </a:r>
                <a:r>
                  <a:rPr lang="en-US" sz="2000" i="1" baseline="-25000" dirty="0" smtClean="0">
                    <a:solidFill>
                      <a:srgbClr val="000000"/>
                    </a:solidFill>
                  </a:rPr>
                  <a:t>,u</a:t>
                </a:r>
                <a:r>
                  <a:rPr lang="en-US" sz="2000" i="1" dirty="0" smtClean="0">
                    <a:solidFill>
                      <a:srgbClr val="000000"/>
                    </a:solidFill>
                  </a:rPr>
                  <a:t>, . . . , w</a:t>
                </a:r>
                <a:r>
                  <a:rPr lang="en-US" sz="2000" i="1" baseline="-25000" dirty="0" smtClean="0">
                    <a:solidFill>
                      <a:srgbClr val="000000"/>
                    </a:solidFill>
                  </a:rPr>
                  <a:t>R,u</a:t>
                </a:r>
                <a:r>
                  <a:rPr lang="en-US" sz="2000" dirty="0" smtClean="0">
                    <a:solidFill>
                      <a:srgbClr val="000000"/>
                    </a:solidFill>
                  </a:rPr>
                  <a:t>]</a:t>
                </a:r>
                <a:r>
                  <a:rPr lang="en-US" sz="2000" i="1" baseline="30000" dirty="0" smtClean="0">
                    <a:solidFill>
                      <a:srgbClr val="000000"/>
                    </a:solidFill>
                  </a:rPr>
                  <a:t>T</a:t>
                </a:r>
                <a:r>
                  <a:rPr lang="en-US" sz="2000" i="1" dirty="0" smtClean="0">
                    <a:solidFill>
                      <a:srgbClr val="000000"/>
                    </a:solidFill>
                  </a:rPr>
                  <a:t> </a:t>
                </a:r>
                <a:r>
                  <a:rPr lang="en-US" sz="2000" dirty="0" smtClean="0">
                    <a:solidFill>
                      <a:srgbClr val="000000"/>
                    </a:solidFill>
                  </a:rPr>
                  <a:t>is the weighted vector and each component of </a:t>
                </a:r>
                <a:r>
                  <a:rPr lang="en-US" sz="2000" i="1" dirty="0" smtClean="0">
                    <a:solidFill>
                      <a:srgbClr val="000000"/>
                    </a:solidFill>
                  </a:rPr>
                  <a:t>w</a:t>
                </a:r>
                <a:r>
                  <a:rPr lang="en-US" sz="2000" i="1" baseline="-25000" dirty="0" smtClean="0">
                    <a:solidFill>
                      <a:srgbClr val="000000"/>
                    </a:solidFill>
                  </a:rPr>
                  <a:t>r,u</a:t>
                </a:r>
                <a:r>
                  <a:rPr lang="en-US" sz="2000" i="1" dirty="0" smtClean="0">
                    <a:solidFill>
                      <a:srgbClr val="000000"/>
                    </a:solidFill>
                  </a:rPr>
                  <a:t> </a:t>
                </a:r>
                <a:r>
                  <a:rPr lang="en-US" sz="2000" dirty="0" smtClean="0">
                    <a:solidFill>
                      <a:srgbClr val="000000"/>
                    </a:solidFill>
                  </a:rPr>
                  <a:t>represents the beamforming weight between RRH </a:t>
                </a:r>
                <a:r>
                  <a:rPr lang="en-US" sz="2000" i="1" dirty="0" smtClean="0">
                    <a:solidFill>
                      <a:srgbClr val="000000"/>
                    </a:solidFill>
                  </a:rPr>
                  <a:t>r </a:t>
                </a:r>
                <a:r>
                  <a:rPr lang="en-US" sz="2000" dirty="0" smtClean="0">
                    <a:solidFill>
                      <a:srgbClr val="000000"/>
                    </a:solidFill>
                  </a:rPr>
                  <a:t>and UE </a:t>
                </a:r>
                <a:r>
                  <a:rPr lang="en-US" sz="2000" i="1" dirty="0" smtClean="0">
                    <a:solidFill>
                      <a:srgbClr val="000000"/>
                    </a:solidFill>
                  </a:rPr>
                  <a:t>u </a:t>
                </a:r>
                <a:r>
                  <a:rPr lang="en-US" sz="2000" dirty="0" smtClean="0">
                    <a:solidFill>
                      <a:srgbClr val="000000"/>
                    </a:solidFill>
                  </a:rPr>
                  <a:t>at time slot </a:t>
                </a:r>
                <a:r>
                  <a:rPr lang="en-US" sz="2000" i="1" dirty="0" smtClean="0">
                    <a:solidFill>
                      <a:srgbClr val="000000"/>
                    </a:solidFill>
                  </a:rPr>
                  <a:t>t</a:t>
                </a:r>
                <a:r>
                  <a:rPr lang="en-US" sz="2000" dirty="0" smtClean="0">
                    <a:solidFill>
                      <a:srgbClr val="000000"/>
                    </a:solidFill>
                  </a:rPr>
                  <a:t>. </a:t>
                </a:r>
              </a:p>
              <a:p>
                <a:pPr marL="0" indent="0">
                  <a:lnSpc>
                    <a:spcPct val="150000"/>
                  </a:lnSpc>
                  <a:buNone/>
                </a:pPr>
                <a:r>
                  <a:rPr lang="el-GR" sz="2000" i="1" dirty="0" smtClean="0">
                    <a:solidFill>
                      <a:srgbClr val="000000"/>
                    </a:solidFill>
                  </a:rPr>
                  <a:t>σ</a:t>
                </a:r>
                <a:r>
                  <a:rPr lang="el-GR" sz="2000" dirty="0" smtClean="0">
                    <a:solidFill>
                      <a:srgbClr val="000000"/>
                    </a:solidFill>
                  </a:rPr>
                  <a:t>2 </a:t>
                </a:r>
                <a:r>
                  <a:rPr lang="en-US" sz="2000" dirty="0" smtClean="0">
                    <a:solidFill>
                      <a:srgbClr val="000000"/>
                    </a:solidFill>
                  </a:rPr>
                  <a:t>represents the background noise</a:t>
                </a:r>
                <a:br>
                  <a:rPr lang="en-US" sz="2000" dirty="0" smtClean="0">
                    <a:solidFill>
                      <a:srgbClr val="000000"/>
                    </a:solidFill>
                  </a:rPr>
                </a:br>
                <a:r>
                  <a:rPr lang="en-US" sz="2000" dirty="0" smtClean="0">
                    <a:solidFill>
                      <a:srgbClr val="000000"/>
                    </a:solidFill>
                  </a:rPr>
                  <a:t/>
                </a:r>
                <a:br>
                  <a:rPr lang="en-US" sz="2000" dirty="0" smtClean="0">
                    <a:solidFill>
                      <a:srgbClr val="000000"/>
                    </a:solidFill>
                  </a:rPr>
                </a:b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739589"/>
                <a:ext cx="10515600" cy="5298140"/>
              </a:xfrm>
              <a:blipFill rotWithShape="0">
                <a:blip r:embed="rId2"/>
                <a:stretch>
                  <a:fillRect l="-638" t="-1151"/>
                </a:stretch>
              </a:blipFill>
            </p:spPr>
            <p:txBody>
              <a:bodyPr/>
              <a:lstStyle/>
              <a:p>
                <a:r>
                  <a:rPr lang="en-US">
                    <a:noFill/>
                  </a:rPr>
                  <a:t> </a:t>
                </a:r>
              </a:p>
            </p:txBody>
          </p:sp>
        </mc:Fallback>
      </mc:AlternateContent>
    </p:spTree>
    <p:extLst>
      <p:ext uri="{BB962C8B-B14F-4D97-AF65-F5344CB8AC3E}">
        <p14:creationId xmlns:p14="http://schemas.microsoft.com/office/powerpoint/2010/main" val="3170742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833719"/>
                <a:ext cx="10515600" cy="5204010"/>
              </a:xfrm>
            </p:spPr>
            <p:txBody>
              <a:bodyPr/>
              <a:lstStyle/>
              <a:p>
                <a:r>
                  <a:rPr lang="en-US" sz="2000" dirty="0" smtClean="0"/>
                  <a:t>The Shannon capacity for </a:t>
                </a:r>
                <a:r>
                  <a:rPr lang="en-US" sz="2000" dirty="0"/>
                  <a:t>UE u at time slot t, C</a:t>
                </a:r>
                <a:r>
                  <a:rPr lang="en-US" sz="2000" baseline="-25000" dirty="0"/>
                  <a:t>u(t) </a:t>
                </a:r>
                <a:r>
                  <a:rPr lang="en-US" sz="2000" dirty="0" smtClean="0"/>
                  <a:t>is </a:t>
                </a:r>
                <a:r>
                  <a:rPr lang="en-US" sz="2000" dirty="0"/>
                  <a:t>calculated </a:t>
                </a:r>
                <a:r>
                  <a:rPr lang="en-US" sz="2000" dirty="0" smtClean="0"/>
                  <a:t>as  </a:t>
                </a:r>
              </a:p>
              <a:p>
                <a:pPr marL="0" indent="0">
                  <a:buNone/>
                </a:pPr>
                <a:r>
                  <a:rPr lang="en-US" sz="2000" dirty="0" smtClean="0"/>
                  <a:t>                                 Cu(t)=B</a:t>
                </a:r>
                <a14:m>
                  <m:oMath xmlns:m="http://schemas.openxmlformats.org/officeDocument/2006/math">
                    <m:func>
                      <m:funcPr>
                        <m:ctrlPr>
                          <a:rPr lang="en-US" sz="2000" i="1" smtClean="0">
                            <a:latin typeface="Cambria Math" panose="02040503050406030204" pitchFamily="18" charset="0"/>
                          </a:rPr>
                        </m:ctrlPr>
                      </m:funcPr>
                      <m:fName>
                        <m:sSub>
                          <m:sSubPr>
                            <m:ctrlPr>
                              <a:rPr lang="en-US" sz="2000" i="1" smtClean="0">
                                <a:latin typeface="Cambria Math" panose="02040503050406030204" pitchFamily="18" charset="0"/>
                              </a:rPr>
                            </m:ctrlPr>
                          </m:sSubPr>
                          <m:e>
                            <m:r>
                              <m:rPr>
                                <m:sty m:val="p"/>
                              </m:rPr>
                              <a:rPr lang="en-US" sz="2000" i="0" smtClean="0">
                                <a:latin typeface="Cambria Math" panose="02040503050406030204" pitchFamily="18" charset="0"/>
                              </a:rPr>
                              <m:t>log</m:t>
                            </m:r>
                          </m:e>
                          <m:sub>
                            <m:r>
                              <a:rPr lang="en-US" sz="2000" b="0" i="1" smtClean="0">
                                <a:latin typeface="Cambria Math" panose="02040503050406030204" pitchFamily="18" charset="0"/>
                              </a:rPr>
                              <m:t>2</m:t>
                            </m:r>
                          </m:sub>
                        </m:sSub>
                      </m:fName>
                      <m:e>
                        <m:r>
                          <a:rPr lang="en-US" sz="2000" b="0" i="1" smtClean="0">
                            <a:latin typeface="Cambria Math" panose="02040503050406030204" pitchFamily="18" charset="0"/>
                          </a:rPr>
                          <m:t>(1+</m:t>
                        </m:r>
                      </m:e>
                    </m:func>
                    <m:f>
                      <m:fPr>
                        <m:ctrlPr>
                          <a:rPr lang="en-US" sz="2000" i="1" smtClean="0">
                            <a:latin typeface="Cambria Math" panose="02040503050406030204" pitchFamily="18" charset="0"/>
                          </a:rPr>
                        </m:ctrlPr>
                      </m:fPr>
                      <m:num>
                        <m:r>
                          <m:rPr>
                            <m:nor/>
                          </m:rPr>
                          <a:rPr lang="en-US" sz="2400" dirty="0">
                            <a:solidFill>
                              <a:srgbClr val="E7E6E6">
                                <a:lumMod val="10000"/>
                              </a:srgbClr>
                            </a:solidFill>
                          </a:rPr>
                          <m:t>γ</m:t>
                        </m:r>
                        <m:r>
                          <m:rPr>
                            <m:nor/>
                          </m:rPr>
                          <a:rPr lang="en-US" sz="2400" baseline="-25000" dirty="0">
                            <a:solidFill>
                              <a:srgbClr val="E7E6E6">
                                <a:lumMod val="10000"/>
                              </a:srgbClr>
                            </a:solidFill>
                            <a:latin typeface="Calibri" panose="020F0502020204030204" pitchFamily="34" charset="0"/>
                            <a:ea typeface="Times New Roman" panose="02020603050405020304" pitchFamily="18" charset="0"/>
                            <a:cs typeface="Times New Roman" panose="02020603050405020304" pitchFamily="18" charset="0"/>
                          </a:rPr>
                          <m:t>u</m:t>
                        </m:r>
                        <m:r>
                          <m:rPr>
                            <m:nor/>
                          </m:rPr>
                          <a:rPr lang="en-US" sz="2400" baseline="-25000" dirty="0">
                            <a:solidFill>
                              <a:srgbClr val="E7E6E6">
                                <a:lumMod val="10000"/>
                              </a:srgbClr>
                            </a:solidFill>
                            <a:latin typeface="Calibri" panose="020F0502020204030204" pitchFamily="34" charset="0"/>
                            <a:ea typeface="Times New Roman" panose="02020603050405020304" pitchFamily="18" charset="0"/>
                            <a:cs typeface="Times New Roman" panose="02020603050405020304" pitchFamily="18" charset="0"/>
                          </a:rPr>
                          <m:t>(</m:t>
                        </m:r>
                        <m:r>
                          <m:rPr>
                            <m:nor/>
                          </m:rPr>
                          <a:rPr lang="en-US" sz="2400" baseline="-25000" dirty="0">
                            <a:solidFill>
                              <a:srgbClr val="E7E6E6">
                                <a:lumMod val="10000"/>
                              </a:srgbClr>
                            </a:solidFill>
                            <a:latin typeface="Calibri" panose="020F0502020204030204" pitchFamily="34" charset="0"/>
                            <a:ea typeface="Times New Roman" panose="02020603050405020304" pitchFamily="18" charset="0"/>
                            <a:cs typeface="Times New Roman" panose="02020603050405020304" pitchFamily="18" charset="0"/>
                          </a:rPr>
                          <m:t>t</m:t>
                        </m:r>
                        <m:r>
                          <m:rPr>
                            <m:nor/>
                          </m:rPr>
                          <a:rPr lang="en-US" sz="2400" baseline="-25000" dirty="0">
                            <a:solidFill>
                              <a:srgbClr val="E7E6E6">
                                <a:lumMod val="10000"/>
                              </a:srgbClr>
                            </a:solidFill>
                            <a:latin typeface="Calibri" panose="020F0502020204030204" pitchFamily="34" charset="0"/>
                            <a:ea typeface="Times New Roman" panose="02020603050405020304" pitchFamily="18" charset="0"/>
                            <a:cs typeface="Times New Roman" panose="02020603050405020304" pitchFamily="18" charset="0"/>
                          </a:rPr>
                          <m:t>)</m:t>
                        </m:r>
                      </m:num>
                      <m:den>
                        <m:r>
                          <a:rPr lang="en-US" sz="2000" i="1" smtClean="0">
                            <a:latin typeface="Cambria Math" panose="02040503050406030204" pitchFamily="18" charset="0"/>
                          </a:rPr>
                          <m:t>Ʈ</m:t>
                        </m:r>
                        <m:r>
                          <a:rPr lang="en-US" sz="2000" b="0" i="1" smtClean="0">
                            <a:latin typeface="Cambria Math" panose="02040503050406030204" pitchFamily="18" charset="0"/>
                          </a:rPr>
                          <m:t>𝑚</m:t>
                        </m:r>
                      </m:den>
                    </m:f>
                  </m:oMath>
                </a14:m>
                <a:r>
                  <a:rPr lang="en-US" sz="2000" dirty="0" smtClean="0"/>
                  <a:t>)</a:t>
                </a:r>
              </a:p>
              <a:p>
                <a:pPr marL="0" indent="0">
                  <a:lnSpc>
                    <a:spcPct val="150000"/>
                  </a:lnSpc>
                  <a:buNone/>
                </a:pPr>
                <a:r>
                  <a:rPr lang="en-US" sz="2000" dirty="0" smtClean="0">
                    <a:solidFill>
                      <a:srgbClr val="000000"/>
                    </a:solidFill>
                  </a:rPr>
                  <a:t>where </a:t>
                </a:r>
                <a:r>
                  <a:rPr lang="en-US" sz="2000" i="1" dirty="0">
                    <a:solidFill>
                      <a:srgbClr val="000000"/>
                    </a:solidFill>
                  </a:rPr>
                  <a:t>B </a:t>
                </a:r>
                <a:r>
                  <a:rPr lang="en-US" sz="2000" dirty="0">
                    <a:solidFill>
                      <a:srgbClr val="000000"/>
                    </a:solidFill>
                  </a:rPr>
                  <a:t>is the transmission bandwidth and </a:t>
                </a:r>
                <a:r>
                  <a:rPr lang="en-US" sz="2000" i="1" dirty="0" smtClean="0">
                    <a:solidFill>
                      <a:srgbClr val="000000"/>
                    </a:solidFill>
                  </a:rPr>
                  <a:t>m </a:t>
                </a:r>
                <a:r>
                  <a:rPr lang="en-US" sz="2000" dirty="0">
                    <a:solidFill>
                      <a:srgbClr val="000000"/>
                    </a:solidFill>
                  </a:rPr>
                  <a:t>denotes </a:t>
                </a:r>
                <a:r>
                  <a:rPr lang="en-US" sz="2000" dirty="0" smtClean="0">
                    <a:solidFill>
                      <a:srgbClr val="000000"/>
                    </a:solidFill>
                  </a:rPr>
                  <a:t>the realistic </a:t>
                </a:r>
                <a:r>
                  <a:rPr lang="en-US" sz="2000" dirty="0">
                    <a:solidFill>
                      <a:srgbClr val="000000"/>
                    </a:solidFill>
                  </a:rPr>
                  <a:t>capacity gap depending on the modulation scheme</a:t>
                </a:r>
                <a:br>
                  <a:rPr lang="en-US" sz="2000" dirty="0">
                    <a:solidFill>
                      <a:srgbClr val="000000"/>
                    </a:solidFill>
                  </a:rPr>
                </a:br>
                <a:r>
                  <a:rPr lang="en-US" sz="2000" dirty="0">
                    <a:solidFill>
                      <a:srgbClr val="000000"/>
                    </a:solidFill>
                  </a:rPr>
                  <a:t/>
                </a:r>
                <a:br>
                  <a:rPr lang="en-US" sz="2000" dirty="0">
                    <a:solidFill>
                      <a:srgbClr val="000000"/>
                    </a:solidFill>
                  </a:rPr>
                </a:b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833719"/>
                <a:ext cx="10515600" cy="5204010"/>
              </a:xfrm>
              <a:blipFill rotWithShape="0">
                <a:blip r:embed="rId2"/>
                <a:stretch>
                  <a:fillRect l="-638" t="-1290"/>
                </a:stretch>
              </a:blipFill>
            </p:spPr>
            <p:txBody>
              <a:bodyPr/>
              <a:lstStyle/>
              <a:p>
                <a:r>
                  <a:rPr lang="en-US">
                    <a:noFill/>
                  </a:rPr>
                  <a:t> </a:t>
                </a:r>
              </a:p>
            </p:txBody>
          </p:sp>
        </mc:Fallback>
      </mc:AlternateContent>
    </p:spTree>
    <p:extLst>
      <p:ext uri="{BB962C8B-B14F-4D97-AF65-F5344CB8AC3E}">
        <p14:creationId xmlns:p14="http://schemas.microsoft.com/office/powerpoint/2010/main" val="336966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Content Placeholder 4"/>
              <p:cNvSpPr>
                <a:spLocks noGrp="1"/>
              </p:cNvSpPr>
              <p:nvPr>
                <p:ph idx="1"/>
              </p:nvPr>
            </p:nvSpPr>
            <p:spPr>
              <a:xfrm>
                <a:off x="966787" y="971552"/>
                <a:ext cx="10515600" cy="5114924"/>
              </a:xfrm>
            </p:spPr>
            <p:txBody>
              <a:bodyPr>
                <a:normAutofit lnSpcReduction="10000"/>
              </a:bodyPr>
              <a:lstStyle/>
              <a:p>
                <a:r>
                  <a:rPr lang="en-US" sz="2200" b="1" dirty="0" smtClean="0"/>
                  <a:t>Total power consumption model</a:t>
                </a:r>
                <a:endParaRPr lang="en-US"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r>
                        <a:rPr lang="en-US" b="0" i="1" baseline="-25000" smtClean="0">
                          <a:latin typeface="Cambria Math" panose="02040503050406030204" pitchFamily="18" charset="0"/>
                        </a:rPr>
                        <m:t>𝑇𝑂𝑇𝐴𝐿</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𝑃𝑅</m:t>
                      </m:r>
                      <m:r>
                        <a:rPr lang="en-US" b="0" i="1" baseline="-25000" smtClean="0">
                          <a:latin typeface="Cambria Math" panose="02040503050406030204" pitchFamily="18" charset="0"/>
                        </a:rPr>
                        <m:t>𝑅𝐻</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𝑃𝐹</m:t>
                      </m:r>
                      <m:r>
                        <a:rPr lang="en-US" b="0" i="1" baseline="-25000"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𝑃𝐵</m:t>
                      </m:r>
                      <m:r>
                        <a:rPr lang="en-US" b="0" i="1" baseline="-25000" smtClean="0">
                          <a:latin typeface="Cambria Math" panose="02040503050406030204" pitchFamily="18" charset="0"/>
                        </a:rPr>
                        <m:t>𝐵𝑈</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smtClean="0"/>
              </a:p>
              <a:p>
                <a:pPr marL="0" indent="0">
                  <a:buNone/>
                </a:pPr>
                <a:endParaRPr lang="en-US" dirty="0" smtClean="0"/>
              </a:p>
              <a:p>
                <a:r>
                  <a:rPr lang="en-US" sz="2000" b="1" dirty="0"/>
                  <a:t>RRH Power Consumption Model</a:t>
                </a:r>
                <a:r>
                  <a:rPr lang="en-US" sz="2000" dirty="0"/>
                  <a:t>: </a:t>
                </a:r>
                <a:endParaRPr lang="en-US" sz="2000" dirty="0" smtClean="0"/>
              </a:p>
              <a:p>
                <a:pPr marL="0" indent="0">
                  <a:lnSpc>
                    <a:spcPct val="150000"/>
                  </a:lnSpc>
                  <a:buNone/>
                </a:pPr>
                <a:r>
                  <a:rPr lang="en-US" sz="2000" dirty="0" smtClean="0"/>
                  <a:t>An </a:t>
                </a:r>
                <a:r>
                  <a:rPr lang="en-US" sz="2000" dirty="0"/>
                  <a:t>RRH consists of RF and PA that scale linearly with the number of antennae. The power consumption for the radio part is </a:t>
                </a:r>
                <a:r>
                  <a:rPr lang="en-US" sz="2000" dirty="0" smtClean="0"/>
                  <a:t>calculated as</a:t>
                </a:r>
              </a:p>
              <a:p>
                <a:pPr marL="0" indent="0">
                  <a:buNone/>
                </a:pPr>
                <a14:m>
                  <m:oMath xmlns:m="http://schemas.openxmlformats.org/officeDocument/2006/math">
                    <m:r>
                      <a:rPr lang="en-US" sz="2000" b="0" i="1" smtClean="0">
                        <a:latin typeface="Cambria Math" panose="02040503050406030204" pitchFamily="18" charset="0"/>
                      </a:rPr>
                      <m:t>𝑃</m:t>
                    </m:r>
                    <m:r>
                      <a:rPr lang="en-US" sz="2000" b="0" i="1" baseline="-25000" smtClean="0">
                        <a:latin typeface="Cambria Math" panose="02040503050406030204" pitchFamily="18" charset="0"/>
                      </a:rPr>
                      <m:t>𝑅𝑅𝐻</m:t>
                    </m:r>
                  </m:oMath>
                </a14:m>
                <a:r>
                  <a:rPr lang="en-US" sz="2000" dirty="0" smtClean="0"/>
                  <a:t>=</a:t>
                </a:r>
                <a14:m>
                  <m:oMath xmlns:m="http://schemas.openxmlformats.org/officeDocument/2006/math">
                    <m:nary>
                      <m:naryPr>
                        <m:chr m:val="∑"/>
                        <m:ctrlPr>
                          <a:rPr lang="en-US" sz="2000" i="1" dirty="0" smtClean="0">
                            <a:latin typeface="Cambria Math" panose="02040503050406030204" pitchFamily="18" charset="0"/>
                          </a:rPr>
                        </m:ctrlPr>
                      </m:naryPr>
                      <m:sub>
                        <m:r>
                          <m:rPr>
                            <m:brk m:alnAt="23"/>
                          </m:rPr>
                          <a:rPr lang="en-US" sz="2000" b="0" i="1" dirty="0" smtClean="0">
                            <a:latin typeface="Cambria Math" panose="02040503050406030204" pitchFamily="18" charset="0"/>
                          </a:rPr>
                          <m:t>𝑖</m:t>
                        </m:r>
                        <m:r>
                          <a:rPr lang="en-US" sz="2000" b="0" i="1" dirty="0" smtClean="0">
                            <a:latin typeface="Cambria Math" panose="02040503050406030204" pitchFamily="18" charset="0"/>
                          </a:rPr>
                          <m:t>=1</m:t>
                        </m:r>
                      </m:sub>
                      <m:sup>
                        <m:r>
                          <a:rPr lang="en-US" sz="2000" b="0" i="1" dirty="0" smtClean="0">
                            <a:latin typeface="Cambria Math" panose="02040503050406030204" pitchFamily="18" charset="0"/>
                          </a:rPr>
                          <m:t>𝐻</m:t>
                        </m:r>
                      </m:sup>
                      <m:e>
                        <m:d>
                          <m:dPr>
                            <m:ctrlPr>
                              <a:rPr lang="en-US" sz="2000" i="1" dirty="0" smtClean="0">
                                <a:latin typeface="Cambria Math" panose="02040503050406030204" pitchFamily="18" charset="0"/>
                              </a:rPr>
                            </m:ctrlPr>
                          </m:dPr>
                          <m:e>
                            <m:f>
                              <m:fPr>
                                <m:ctrlPr>
                                  <a:rPr lang="en-US" sz="2000" i="1" dirty="0" smtClean="0">
                                    <a:latin typeface="Cambria Math" panose="02040503050406030204" pitchFamily="18" charset="0"/>
                                  </a:rPr>
                                </m:ctrlPr>
                              </m:fPr>
                              <m:num>
                                <m:r>
                                  <a:rPr lang="en-US" sz="2000" b="0" i="1" dirty="0" smtClean="0">
                                    <a:latin typeface="Cambria Math" panose="02040503050406030204" pitchFamily="18" charset="0"/>
                                  </a:rPr>
                                  <m:t>𝑃𝑜𝑢𝑡</m:t>
                                </m:r>
                              </m:num>
                              <m:den>
                                <m:r>
                                  <a:rPr lang="en-US" sz="2000" i="1" dirty="0" smtClean="0">
                                    <a:latin typeface="Cambria Math" panose="02040503050406030204" pitchFamily="18" charset="0"/>
                                  </a:rPr>
                                  <m:t>ŋ</m:t>
                                </m:r>
                                <m:r>
                                  <a:rPr lang="en-US" sz="2000" b="0" i="1" dirty="0" smtClean="0">
                                    <a:latin typeface="Cambria Math" panose="02040503050406030204" pitchFamily="18" charset="0"/>
                                  </a:rPr>
                                  <m:t>𝐴𝑃</m:t>
                                </m:r>
                              </m:den>
                            </m:f>
                            <m:r>
                              <a:rPr lang="en-US" sz="2000" b="0" i="1" dirty="0" smtClean="0">
                                <a:latin typeface="Cambria Math" panose="02040503050406030204" pitchFamily="18" charset="0"/>
                              </a:rPr>
                              <m:t>𝑅</m:t>
                            </m:r>
                            <m:r>
                              <a:rPr lang="en-US" sz="2000" b="0" i="1" baseline="-25000" dirty="0" smtClean="0">
                                <a:latin typeface="Cambria Math" panose="02040503050406030204" pitchFamily="18" charset="0"/>
                              </a:rPr>
                              <m:t>𝑖</m:t>
                            </m:r>
                            <m:r>
                              <a:rPr lang="en-US" sz="2000" b="0" i="1" baseline="30000" dirty="0" smtClean="0">
                                <a:latin typeface="Cambria Math" panose="02040503050406030204" pitchFamily="18" charset="0"/>
                              </a:rPr>
                              <m:t>𝑅𝑅𝐻</m:t>
                            </m:r>
                            <m:r>
                              <a:rPr lang="en-US" sz="2000" b="0" i="1" dirty="0" smtClean="0">
                                <a:latin typeface="Cambria Math" panose="02040503050406030204" pitchFamily="18" charset="0"/>
                              </a:rPr>
                              <m:t>+</m:t>
                            </m:r>
                            <m:r>
                              <a:rPr lang="en-US" sz="2000" b="0" i="1" dirty="0" smtClean="0">
                                <a:latin typeface="Cambria Math" panose="02040503050406030204" pitchFamily="18" charset="0"/>
                              </a:rPr>
                              <m:t>𝑃𝑅𝐹</m:t>
                            </m:r>
                          </m:e>
                        </m:d>
                      </m:e>
                    </m:nary>
                  </m:oMath>
                </a14:m>
                <a:endParaRPr lang="en-US" sz="2000" dirty="0" smtClean="0"/>
              </a:p>
              <a:p>
                <a:pPr marL="0" indent="0">
                  <a:lnSpc>
                    <a:spcPct val="150000"/>
                  </a:lnSpc>
                  <a:buNone/>
                </a:pPr>
                <a:r>
                  <a:rPr lang="en-US" sz="2000" dirty="0" smtClean="0"/>
                  <a:t>Considering, </a:t>
                </a:r>
                <a:r>
                  <a:rPr lang="en-US" sz="2000" dirty="0"/>
                  <a:t>(1) pr,active: consumed power of active RRH; (2) pr,trans: transmission power due to power amplifier; (3) pr,switch: switching power of RRH; and (4) pr,sleep: consumed power of sleep RRH. </a:t>
                </a:r>
                <a:r>
                  <a:rPr lang="en-US" sz="2000" dirty="0" smtClean="0"/>
                  <a:t>Denoting </a:t>
                </a:r>
                <a:r>
                  <a:rPr lang="en-US" sz="2000" b="1" dirty="0" smtClean="0"/>
                  <a:t>M</a:t>
                </a:r>
                <a:r>
                  <a:rPr lang="en-US" sz="2000" b="1" dirty="0"/>
                  <a:t>, N </a:t>
                </a:r>
                <a:r>
                  <a:rPr lang="en-US" sz="2000" dirty="0"/>
                  <a:t>and </a:t>
                </a:r>
                <a:r>
                  <a:rPr lang="en-US" sz="2000" b="1" dirty="0" smtClean="0"/>
                  <a:t>S</a:t>
                </a:r>
                <a:r>
                  <a:rPr lang="en-US" sz="2000" dirty="0" smtClean="0"/>
                  <a:t> </a:t>
                </a:r>
                <a:r>
                  <a:rPr lang="en-US" sz="2000" dirty="0"/>
                  <a:t>the set of active, sleep and mode-transition RRHs, respectively</a:t>
                </a:r>
                <a:endParaRPr lang="en-US" sz="2000" dirty="0" smtClean="0"/>
              </a:p>
            </p:txBody>
          </p:sp>
        </mc:Choice>
        <mc:Fallback>
          <p:sp>
            <p:nvSpPr>
              <p:cNvPr id="5" name="Content Placeholder 4"/>
              <p:cNvSpPr>
                <a:spLocks noGrp="1" noRot="1" noChangeAspect="1" noMove="1" noResize="1" noEditPoints="1" noAdjustHandles="1" noChangeArrowheads="1" noChangeShapeType="1" noTextEdit="1"/>
              </p:cNvSpPr>
              <p:nvPr>
                <p:ph idx="1"/>
              </p:nvPr>
            </p:nvSpPr>
            <p:spPr>
              <a:xfrm>
                <a:off x="966787" y="971552"/>
                <a:ext cx="10515600" cy="5114924"/>
              </a:xfrm>
              <a:blipFill rotWithShape="0">
                <a:blip r:embed="rId2"/>
                <a:stretch>
                  <a:fillRect l="-638" t="-1907" r="-290"/>
                </a:stretch>
              </a:blipFill>
            </p:spPr>
            <p:txBody>
              <a:bodyPr/>
              <a:lstStyle/>
              <a:p>
                <a:r>
                  <a:rPr lang="en-US">
                    <a:noFill/>
                  </a:rPr>
                  <a:t> </a:t>
                </a:r>
              </a:p>
            </p:txBody>
          </p:sp>
        </mc:Fallback>
      </mc:AlternateContent>
    </p:spTree>
    <p:extLst>
      <p:ext uri="{BB962C8B-B14F-4D97-AF65-F5344CB8AC3E}">
        <p14:creationId xmlns:p14="http://schemas.microsoft.com/office/powerpoint/2010/main" val="189015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857251"/>
                <a:ext cx="10515600" cy="5072062"/>
              </a:xfrm>
            </p:spPr>
            <p:txBody>
              <a:bodyPr>
                <a:normAutofit/>
              </a:bodyPr>
              <a:lstStyle/>
              <a:p>
                <a:r>
                  <a:rPr lang="en-US" sz="2000" dirty="0" smtClean="0"/>
                  <a:t>Then, the power consumption is expressed</a:t>
                </a:r>
              </a:p>
              <a:p>
                <a:pPr marL="0" indent="0">
                  <a:buNone/>
                </a:pPr>
                <a:r>
                  <a:rPr lang="en-US" sz="2000" i="1" dirty="0" smtClean="0"/>
                  <a:t>             P</a:t>
                </a:r>
                <a:r>
                  <a:rPr lang="en-US" sz="2000" i="1" baseline="-25000" dirty="0" smtClean="0"/>
                  <a:t>RRH</a:t>
                </a:r>
                <a:r>
                  <a:rPr lang="en-US" sz="2000" i="1" dirty="0" smtClean="0"/>
                  <a:t>=</a:t>
                </a:r>
                <a14:m>
                  <m:oMath xmlns:m="http://schemas.openxmlformats.org/officeDocument/2006/math">
                    <m:d>
                      <m:dPr>
                        <m:begChr m:val="{"/>
                        <m:endChr m:val=""/>
                        <m:ctrlPr>
                          <a:rPr lang="en-US" sz="2000" i="1" smtClean="0">
                            <a:latin typeface="Cambria Math" panose="02040503050406030204" pitchFamily="18" charset="0"/>
                          </a:rPr>
                        </m:ctrlPr>
                      </m:dPr>
                      <m:e>
                        <m:eqArr>
                          <m:eqArrPr>
                            <m:ctrlPr>
                              <a:rPr lang="en-US" sz="2000" i="1" smtClean="0">
                                <a:latin typeface="Cambria Math" panose="02040503050406030204" pitchFamily="18" charset="0"/>
                              </a:rPr>
                            </m:ctrlPr>
                          </m:eqArrPr>
                          <m:e>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smtClean="0">
                                    <a:latin typeface="Cambria Math" panose="02040503050406030204" pitchFamily="18" charset="0"/>
                                  </a:rPr>
                                  <m:t>ŋ</m:t>
                                </m:r>
                              </m:den>
                            </m:f>
                            <m:r>
                              <a:rPr lang="en-US" sz="2000" b="0" i="1" smtClean="0">
                                <a:latin typeface="Cambria Math" panose="02040503050406030204" pitchFamily="18" charset="0"/>
                              </a:rPr>
                              <m:t>𝑝𝑟</m:t>
                            </m:r>
                            <m:r>
                              <a:rPr lang="en-US" sz="2000" b="0" i="1" smtClean="0">
                                <a:latin typeface="Cambria Math" panose="02040503050406030204" pitchFamily="18" charset="0"/>
                              </a:rPr>
                              <m:t>,</m:t>
                            </m:r>
                            <m:r>
                              <a:rPr lang="en-US" sz="2000" b="0" i="1" smtClean="0">
                                <a:latin typeface="Cambria Math" panose="02040503050406030204" pitchFamily="18" charset="0"/>
                              </a:rPr>
                              <m:t>𝑡𝑟𝑎𝑛𝑠</m:t>
                            </m:r>
                            <m:r>
                              <a:rPr lang="en-US" sz="2000" b="0" i="1" smtClean="0">
                                <a:latin typeface="Cambria Math" panose="02040503050406030204" pitchFamily="18" charset="0"/>
                              </a:rPr>
                              <m:t>+</m:t>
                            </m:r>
                            <m:r>
                              <a:rPr lang="en-US" sz="2000" b="0" i="1" smtClean="0">
                                <a:latin typeface="Cambria Math" panose="02040503050406030204" pitchFamily="18" charset="0"/>
                              </a:rPr>
                              <m:t>𝑝𝑟</m:t>
                            </m:r>
                            <m:r>
                              <a:rPr lang="en-US" sz="2000" b="0" i="1" smtClean="0">
                                <a:latin typeface="Cambria Math" panose="02040503050406030204" pitchFamily="18" charset="0"/>
                              </a:rPr>
                              <m:t>,</m:t>
                            </m:r>
                            <m:r>
                              <a:rPr lang="en-US" sz="2000" b="0" i="1" smtClean="0">
                                <a:latin typeface="Cambria Math" panose="02040503050406030204" pitchFamily="18" charset="0"/>
                              </a:rPr>
                              <m:t>𝑎𝑐𝑡𝑖𝑣𝑒</m:t>
                            </m:r>
                            <m:r>
                              <a:rPr lang="en-US" sz="2000" b="0" i="1" smtClean="0">
                                <a:latin typeface="Cambria Math" panose="02040503050406030204" pitchFamily="18" charset="0"/>
                              </a:rPr>
                              <m:t>,</m:t>
                            </m:r>
                            <m:r>
                              <a:rPr lang="en-US" sz="2000" b="0" i="1" smtClean="0">
                                <a:latin typeface="Cambria Math" panose="02040503050406030204" pitchFamily="18" charset="0"/>
                              </a:rPr>
                              <m:t>𝑟</m:t>
                            </m:r>
                            <m:r>
                              <m:rPr>
                                <m:sty m:val="p"/>
                              </m:rPr>
                              <a:rPr lang="el-GR" sz="2000" b="0" i="1" smtClean="0">
                                <a:latin typeface="Cambria Math" panose="02040503050406030204" pitchFamily="18" charset="0"/>
                              </a:rPr>
                              <m:t>ϵ</m:t>
                            </m:r>
                            <m:r>
                              <a:rPr lang="en-US" sz="2000" b="0" i="1" smtClean="0">
                                <a:latin typeface="Cambria Math" panose="02040503050406030204" pitchFamily="18" charset="0"/>
                              </a:rPr>
                              <m:t>𝑀</m:t>
                            </m:r>
                          </m:e>
                          <m:e>
                            <m:r>
                              <a:rPr lang="en-US" sz="2000" b="0" i="1" smtClean="0">
                                <a:latin typeface="Cambria Math" panose="02040503050406030204" pitchFamily="18" charset="0"/>
                              </a:rPr>
                              <m:t>𝑝𝑟</m:t>
                            </m:r>
                            <m:r>
                              <a:rPr lang="en-US" sz="2000" b="0" i="1" smtClean="0">
                                <a:latin typeface="Cambria Math" panose="02040503050406030204" pitchFamily="18" charset="0"/>
                              </a:rPr>
                              <m:t>,</m:t>
                            </m:r>
                            <m:r>
                              <a:rPr lang="en-US" sz="2000" b="0" i="1" smtClean="0">
                                <a:latin typeface="Cambria Math" panose="02040503050406030204" pitchFamily="18" charset="0"/>
                              </a:rPr>
                              <m:t>𝑠𝑙𝑒𝑒𝑝</m:t>
                            </m:r>
                            <m:r>
                              <a:rPr lang="en-US" sz="2000" b="0" i="1" smtClean="0">
                                <a:latin typeface="Cambria Math" panose="02040503050406030204" pitchFamily="18" charset="0"/>
                              </a:rPr>
                              <m:t>,</m:t>
                            </m:r>
                            <m:r>
                              <a:rPr lang="en-US" sz="2000" b="0" i="1" smtClean="0">
                                <a:latin typeface="Cambria Math" panose="02040503050406030204" pitchFamily="18" charset="0"/>
                              </a:rPr>
                              <m:t>𝑟</m:t>
                            </m:r>
                            <m:r>
                              <m:rPr>
                                <m:sty m:val="p"/>
                              </m:rPr>
                              <a:rPr lang="el-GR" sz="2000" b="0" i="1" smtClean="0">
                                <a:latin typeface="Cambria Math" panose="02040503050406030204" pitchFamily="18" charset="0"/>
                              </a:rPr>
                              <m:t>ϵ</m:t>
                            </m:r>
                            <m:r>
                              <a:rPr lang="en-US" sz="2000" b="0" i="1" smtClean="0">
                                <a:latin typeface="Cambria Math" panose="02040503050406030204" pitchFamily="18" charset="0"/>
                              </a:rPr>
                              <m:t>𝑁</m:t>
                            </m:r>
                          </m:e>
                          <m:e>
                            <m:r>
                              <a:rPr lang="en-US" sz="2000" b="0" i="1" smtClean="0">
                                <a:latin typeface="Cambria Math" panose="02040503050406030204" pitchFamily="18" charset="0"/>
                              </a:rPr>
                              <m:t>𝑝𝑟</m:t>
                            </m:r>
                            <m:r>
                              <a:rPr lang="en-US" sz="2000" b="0" i="1" smtClean="0">
                                <a:latin typeface="Cambria Math" panose="02040503050406030204" pitchFamily="18" charset="0"/>
                              </a:rPr>
                              <m:t>,</m:t>
                            </m:r>
                            <m:r>
                              <a:rPr lang="en-US" sz="2000" b="0" i="1" smtClean="0">
                                <a:latin typeface="Cambria Math" panose="02040503050406030204" pitchFamily="18" charset="0"/>
                              </a:rPr>
                              <m:t>𝑠𝑤𝑖𝑡𝑐h</m:t>
                            </m:r>
                            <m:r>
                              <a:rPr lang="en-US" sz="2000" b="0" i="1" smtClean="0">
                                <a:latin typeface="Cambria Math" panose="02040503050406030204" pitchFamily="18" charset="0"/>
                              </a:rPr>
                              <m:t>,</m:t>
                            </m:r>
                            <m:r>
                              <a:rPr lang="en-US" sz="2000" b="0" i="1" smtClean="0">
                                <a:latin typeface="Cambria Math" panose="02040503050406030204" pitchFamily="18" charset="0"/>
                              </a:rPr>
                              <m:t>𝑟</m:t>
                            </m:r>
                            <m:r>
                              <m:rPr>
                                <m:sty m:val="p"/>
                              </m:rPr>
                              <a:rPr lang="el-GR" sz="2000" b="0" i="1" smtClean="0">
                                <a:latin typeface="Cambria Math" panose="02040503050406030204" pitchFamily="18" charset="0"/>
                              </a:rPr>
                              <m:t>ϵ</m:t>
                            </m:r>
                            <m:r>
                              <a:rPr lang="en-US" sz="2000" b="0" i="1" smtClean="0">
                                <a:latin typeface="Cambria Math" panose="02040503050406030204" pitchFamily="18" charset="0"/>
                              </a:rPr>
                              <m:t>𝑆</m:t>
                            </m:r>
                          </m:e>
                        </m:eqArr>
                      </m:e>
                    </m:d>
                  </m:oMath>
                </a14:m>
                <a:endParaRPr lang="en-US" i="1" dirty="0" smtClean="0"/>
              </a:p>
              <a:p>
                <a:pPr marL="0" indent="0">
                  <a:buNone/>
                </a:pPr>
                <a:endParaRPr lang="en-US" sz="2000" dirty="0" smtClean="0"/>
              </a:p>
              <a:p>
                <a:pPr marL="0" indent="0">
                  <a:buNone/>
                </a:pPr>
                <a:r>
                  <a:rPr lang="en-US" sz="2000" dirty="0" smtClean="0"/>
                  <a:t>Where</a:t>
                </a:r>
                <a:r>
                  <a:rPr lang="en-US" sz="2000" i="1" dirty="0" smtClean="0"/>
                  <a:t> pr,trans=</a:t>
                </a:r>
                <a14:m>
                  <m:oMath xmlns:m="http://schemas.openxmlformats.org/officeDocument/2006/math">
                    <m:nary>
                      <m:naryPr>
                        <m:chr m:val="∑"/>
                        <m:limLoc m:val="subSup"/>
                        <m:supHide m:val="on"/>
                        <m:ctrlPr>
                          <a:rPr lang="en-US" sz="2000" i="1" smtClean="0">
                            <a:latin typeface="Cambria Math" panose="02040503050406030204" pitchFamily="18" charset="0"/>
                          </a:rPr>
                        </m:ctrlPr>
                      </m:naryPr>
                      <m:sub>
                        <m:r>
                          <m:rPr>
                            <m:brk m:alnAt="9"/>
                          </m:rPr>
                          <a:rPr lang="en-US" sz="2000" b="0" i="1" smtClean="0">
                            <a:latin typeface="Cambria Math" panose="02040503050406030204" pitchFamily="18" charset="0"/>
                          </a:rPr>
                          <m:t>𝑟</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𝑀</m:t>
                        </m:r>
                      </m:sub>
                      <m:sup/>
                      <m:e>
                        <m:nary>
                          <m:naryPr>
                            <m:chr m:val="∑"/>
                            <m:limLoc m:val="subSup"/>
                            <m:supHide m:val="on"/>
                            <m:ctrlPr>
                              <a:rPr lang="en-US" sz="2000" i="1" smtClean="0">
                                <a:latin typeface="Cambria Math" panose="02040503050406030204" pitchFamily="18" charset="0"/>
                              </a:rPr>
                            </m:ctrlPr>
                          </m:naryPr>
                          <m:sub>
                            <m:r>
                              <m:rPr>
                                <m:brk m:alnAt="9"/>
                              </m:rPr>
                              <a:rPr lang="en-US" sz="2000" b="0" i="1" smtClean="0">
                                <a:latin typeface="Cambria Math" panose="02040503050406030204" pitchFamily="18" charset="0"/>
                              </a:rPr>
                              <m:t>𝑢</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𝑈</m:t>
                            </m:r>
                          </m:sub>
                          <m:sup/>
                          <m:e>
                            <m:r>
                              <a:rPr lang="en-US" sz="2000" i="1" smtClean="0">
                                <a:latin typeface="Cambria Math" panose="02040503050406030204" pitchFamily="18" charset="0"/>
                              </a:rPr>
                              <m:t>|</m:t>
                            </m:r>
                            <m:r>
                              <a:rPr lang="en-US" sz="2000" b="0" i="1" smtClean="0">
                                <a:latin typeface="Cambria Math" panose="02040503050406030204" pitchFamily="18" charset="0"/>
                              </a:rPr>
                              <m:t>𝑤</m:t>
                            </m:r>
                            <m:r>
                              <a:rPr lang="en-US" sz="2000" b="0" i="1" baseline="-25000" smtClean="0">
                                <a:latin typeface="Cambria Math" panose="02040503050406030204" pitchFamily="18" charset="0"/>
                              </a:rPr>
                              <m:t>𝑟</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m:t>
                            </m:r>
                            <m:r>
                              <a:rPr lang="en-US" sz="2000" b="0" i="1" smtClean="0">
                                <a:latin typeface="Cambria Math" panose="02040503050406030204" pitchFamily="18" charset="0"/>
                              </a:rPr>
                              <m:t>|</m:t>
                            </m:r>
                          </m:e>
                        </m:nary>
                      </m:e>
                    </m:nary>
                  </m:oMath>
                </a14:m>
                <a:r>
                  <a:rPr lang="en-US" baseline="30000" dirty="0"/>
                  <a:t>2 </a:t>
                </a:r>
                <a:endParaRPr lang="en-US" baseline="30000" dirty="0" smtClean="0"/>
              </a:p>
              <a:p>
                <a:pPr marL="0" indent="0">
                  <a:lnSpc>
                    <a:spcPct val="150000"/>
                  </a:lnSpc>
                  <a:buNone/>
                </a:pPr>
                <a:r>
                  <a:rPr lang="en-US" baseline="30000" dirty="0" smtClean="0"/>
                  <a:t>indicates </a:t>
                </a:r>
                <a:r>
                  <a:rPr lang="en-US" baseline="30000" dirty="0"/>
                  <a:t>the transmission power of RRH r and η is a constant indicating the drain efficiency of the power </a:t>
                </a:r>
                <a:r>
                  <a:rPr lang="en-US" baseline="30000" dirty="0" smtClean="0"/>
                  <a:t>amplifier.</a:t>
                </a:r>
              </a:p>
              <a:p>
                <a:pPr marL="0" indent="0">
                  <a:lnSpc>
                    <a:spcPct val="150000"/>
                  </a:lnSpc>
                  <a:buNone/>
                </a:pPr>
                <a:r>
                  <a:rPr lang="en-US" baseline="30000" dirty="0"/>
                  <a:t>Hence, </a:t>
                </a:r>
                <a:r>
                  <a:rPr lang="en-US" baseline="30000" dirty="0" smtClean="0"/>
                  <a:t>the </a:t>
                </a:r>
                <a:r>
                  <a:rPr lang="en-US" baseline="30000" dirty="0"/>
                  <a:t>total power </a:t>
                </a:r>
                <a:r>
                  <a:rPr lang="en-US" baseline="30000" dirty="0" smtClean="0"/>
                  <a:t>(</a:t>
                </a:r>
                <a:r>
                  <a:rPr lang="en-US" i="1" baseline="30000" dirty="0" err="1" smtClean="0"/>
                  <a:t>P</a:t>
                </a:r>
                <a:r>
                  <a:rPr lang="en-US" i="1" baseline="6000" dirty="0" err="1" smtClean="0"/>
                  <a:t>total</a:t>
                </a:r>
                <a:r>
                  <a:rPr lang="en-US" baseline="30000" dirty="0" smtClean="0"/>
                  <a:t>) of RRH </a:t>
                </a:r>
                <a:r>
                  <a:rPr lang="en-US" baseline="30000" dirty="0"/>
                  <a:t>at time </a:t>
                </a:r>
                <a:r>
                  <a:rPr lang="en-US" baseline="30000" dirty="0" smtClean="0"/>
                  <a:t>slot(t</a:t>
                </a:r>
                <a:r>
                  <a:rPr lang="en-US" baseline="30000" dirty="0"/>
                  <a:t>)</a:t>
                </a:r>
                <a:r>
                  <a:rPr lang="en-US" baseline="30000" dirty="0" smtClean="0"/>
                  <a:t> </a:t>
                </a:r>
                <a:r>
                  <a:rPr lang="en-US" baseline="30000" dirty="0"/>
                  <a:t>is expressed as</a:t>
                </a:r>
                <a:endParaRPr lang="en-US" baseline="30000" dirty="0" smtClean="0"/>
              </a:p>
              <a:p>
                <a:pPr marL="0" indent="0">
                  <a:buNone/>
                </a:pPr>
                <a:r>
                  <a:rPr lang="en-US" sz="2000" dirty="0"/>
                  <a:t>P</a:t>
                </a:r>
                <a:r>
                  <a:rPr lang="en-US" sz="2000" baseline="-25000" dirty="0"/>
                  <a:t>total (t) </a:t>
                </a:r>
                <a:r>
                  <a:rPr lang="en-US" sz="2000" dirty="0"/>
                  <a:t>= </a:t>
                </a:r>
                <a:r>
                  <a:rPr lang="en-US" sz="2000" dirty="0" smtClean="0"/>
                  <a:t>∑</a:t>
                </a:r>
                <a:r>
                  <a:rPr lang="en-US" sz="2000" baseline="-25000" dirty="0" smtClean="0"/>
                  <a:t>r</a:t>
                </a:r>
                <a:r>
                  <a:rPr lang="el-GR" sz="2000" baseline="-25000" dirty="0"/>
                  <a:t>ϵ</a:t>
                </a:r>
                <a:r>
                  <a:rPr lang="en-US" sz="2000" baseline="-25000" dirty="0"/>
                  <a:t>M(t</a:t>
                </a:r>
                <a:r>
                  <a:rPr lang="en-US" sz="2000" baseline="-25000" dirty="0" smtClean="0"/>
                  <a:t>)  </a:t>
                </a:r>
                <a:r>
                  <a:rPr lang="en-US" sz="2000" dirty="0" smtClean="0"/>
                  <a:t>∑</a:t>
                </a:r>
                <a:r>
                  <a:rPr lang="en-US" sz="2000" baseline="-25000" dirty="0" smtClean="0"/>
                  <a:t>u</a:t>
                </a:r>
                <a:r>
                  <a:rPr lang="el-GR" sz="2000" baseline="-25000" dirty="0"/>
                  <a:t>ϵ</a:t>
                </a:r>
                <a:r>
                  <a:rPr lang="en-US" sz="2000" baseline="-25000" dirty="0"/>
                  <a:t>u(t</a:t>
                </a:r>
                <a:r>
                  <a:rPr lang="en-US" sz="2000" baseline="-25000" dirty="0" smtClean="0"/>
                  <a:t>)</a:t>
                </a:r>
                <a:r>
                  <a:rPr lang="en-US" sz="2000" dirty="0" smtClean="0"/>
                  <a:t> </a:t>
                </a:r>
                <a14:m>
                  <m:oMath xmlns:m="http://schemas.openxmlformats.org/officeDocument/2006/math">
                    <m:box>
                      <m:boxPr>
                        <m:ctrlPr>
                          <a:rPr lang="en-US" sz="2000" i="1" smtClean="0">
                            <a:latin typeface="Cambria Math" panose="02040503050406030204" pitchFamily="18" charset="0"/>
                          </a:rPr>
                        </m:ctrlPr>
                      </m:boxPr>
                      <m:e>
                        <m:argPr>
                          <m:argSz m:val="-1"/>
                        </m:argPr>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i="1" smtClean="0">
                                <a:latin typeface="Cambria Math" panose="02040503050406030204" pitchFamily="18" charset="0"/>
                              </a:rPr>
                              <m:t>ŋ</m:t>
                            </m:r>
                          </m:den>
                        </m:f>
                      </m:e>
                    </m:box>
                  </m:oMath>
                </a14:m>
                <a:r>
                  <a:rPr lang="en-US" sz="2000" dirty="0" smtClean="0"/>
                  <a:t>|w</a:t>
                </a:r>
                <a:r>
                  <a:rPr lang="en-US" sz="2000" baseline="-25000" dirty="0" smtClean="0"/>
                  <a:t>r,u</a:t>
                </a:r>
                <a:r>
                  <a:rPr lang="en-US" sz="2000" dirty="0" smtClean="0"/>
                  <a:t>|</a:t>
                </a:r>
                <a:r>
                  <a:rPr lang="en-US" sz="2000" baseline="30000" dirty="0" smtClean="0"/>
                  <a:t>2</a:t>
                </a:r>
                <a:r>
                  <a:rPr lang="en-US" sz="2000" dirty="0" smtClean="0"/>
                  <a:t> </a:t>
                </a:r>
                <a:r>
                  <a:rPr lang="en-US" sz="2000" dirty="0"/>
                  <a:t>+</a:t>
                </a:r>
                <a:r>
                  <a:rPr lang="en-US" sz="2000" dirty="0" smtClean="0"/>
                  <a:t>∑</a:t>
                </a:r>
                <a:r>
                  <a:rPr lang="en-US" sz="2000" baseline="-25000" dirty="0" smtClean="0"/>
                  <a:t>r</a:t>
                </a:r>
                <a:r>
                  <a:rPr lang="el-GR" sz="2000" baseline="-25000" dirty="0"/>
                  <a:t>ϵ</a:t>
                </a:r>
                <a:r>
                  <a:rPr lang="en-US" sz="2000" baseline="-25000" dirty="0"/>
                  <a:t>M(t</a:t>
                </a:r>
                <a:r>
                  <a:rPr lang="en-US" sz="2000" baseline="-25000" dirty="0" smtClean="0"/>
                  <a:t>) </a:t>
                </a:r>
                <a:r>
                  <a:rPr lang="en-US" sz="2000" i="1" dirty="0" smtClean="0"/>
                  <a:t>pr,active</a:t>
                </a:r>
                <a:r>
                  <a:rPr lang="en-US" sz="2000" dirty="0" smtClean="0"/>
                  <a:t> </a:t>
                </a:r>
                <a:r>
                  <a:rPr lang="en-US" sz="2000" dirty="0"/>
                  <a:t>+</a:t>
                </a:r>
                <a:r>
                  <a:rPr lang="en-US" sz="2000" dirty="0" smtClean="0"/>
                  <a:t>∑</a:t>
                </a:r>
                <a:r>
                  <a:rPr lang="en-US" sz="2000" baseline="-25000" dirty="0" smtClean="0"/>
                  <a:t>r</a:t>
                </a:r>
                <a:r>
                  <a:rPr lang="el-GR" sz="2000" baseline="-25000" dirty="0"/>
                  <a:t>ϵ</a:t>
                </a:r>
                <a:r>
                  <a:rPr lang="en-US" sz="2000" baseline="-25000" dirty="0"/>
                  <a:t>N(t</a:t>
                </a:r>
                <a:r>
                  <a:rPr lang="en-US" sz="2000" baseline="-25000" dirty="0" smtClean="0"/>
                  <a:t>) </a:t>
                </a:r>
                <a:r>
                  <a:rPr lang="en-US" sz="2000" i="1" dirty="0" smtClean="0"/>
                  <a:t>pr,sleep</a:t>
                </a:r>
                <a:r>
                  <a:rPr lang="en-US" sz="2000" dirty="0" smtClean="0"/>
                  <a:t> </a:t>
                </a:r>
                <a:r>
                  <a:rPr lang="en-US" sz="2000" dirty="0"/>
                  <a:t>+ </a:t>
                </a:r>
                <a:r>
                  <a:rPr lang="en-US" sz="2000" dirty="0" smtClean="0"/>
                  <a:t>∑</a:t>
                </a:r>
                <a:r>
                  <a:rPr lang="en-US" sz="2000" baseline="-25000" dirty="0" smtClean="0"/>
                  <a:t>r</a:t>
                </a:r>
                <a:r>
                  <a:rPr lang="el-GR" sz="2000" baseline="-25000" dirty="0"/>
                  <a:t>ϵ</a:t>
                </a:r>
                <a:r>
                  <a:rPr lang="en-US" sz="2000" baseline="-25000" dirty="0" smtClean="0"/>
                  <a:t>S(t) </a:t>
                </a:r>
                <a:r>
                  <a:rPr lang="en-US" sz="2000" i="1" dirty="0" smtClean="0"/>
                  <a:t>pr,switch.</a:t>
                </a:r>
              </a:p>
              <a:p>
                <a:endParaRPr lang="en-US" sz="1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857251"/>
                <a:ext cx="10515600" cy="5072062"/>
              </a:xfrm>
              <a:blipFill rotWithShape="0">
                <a:blip r:embed="rId2"/>
                <a:stretch>
                  <a:fillRect l="-638" t="-1322" r="-812"/>
                </a:stretch>
              </a:blipFill>
            </p:spPr>
            <p:txBody>
              <a:bodyPr/>
              <a:lstStyle/>
              <a:p>
                <a:r>
                  <a:rPr lang="en-US">
                    <a:noFill/>
                  </a:rPr>
                  <a:t> </a:t>
                </a:r>
              </a:p>
            </p:txBody>
          </p:sp>
        </mc:Fallback>
      </mc:AlternateContent>
    </p:spTree>
    <p:extLst>
      <p:ext uri="{BB962C8B-B14F-4D97-AF65-F5344CB8AC3E}">
        <p14:creationId xmlns:p14="http://schemas.microsoft.com/office/powerpoint/2010/main" val="2219424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09625" y="771525"/>
                <a:ext cx="10515600" cy="5257799"/>
              </a:xfrm>
            </p:spPr>
            <p:txBody>
              <a:bodyPr>
                <a:normAutofit/>
              </a:bodyPr>
              <a:lstStyle/>
              <a:p>
                <a:r>
                  <a:rPr lang="en-US" sz="2000" dirty="0" smtClean="0"/>
                  <a:t> </a:t>
                </a:r>
                <a:r>
                  <a:rPr lang="en-US" sz="2000" b="1" dirty="0"/>
                  <a:t>Fronthaul Power Consumption Model</a:t>
                </a:r>
                <a:endParaRPr lang="en-US" sz="2000" b="1" dirty="0" smtClean="0"/>
              </a:p>
              <a:p>
                <a:pPr marL="0" indent="0">
                  <a:lnSpc>
                    <a:spcPct val="100000"/>
                  </a:lnSpc>
                  <a:buNone/>
                </a:pPr>
                <a:r>
                  <a:rPr lang="en-US" sz="2000" dirty="0"/>
                  <a:t>Considering PON front-haul network, where it's Optical Network Units (ONUs) implemented in a sleep mode, but the Optical Line Terminal (OLT) is always ON. </a:t>
                </a:r>
                <a:endParaRPr lang="en-US" sz="2000" dirty="0" smtClean="0"/>
              </a:p>
              <a:p>
                <a:pPr marL="0" indent="0">
                  <a:lnSpc>
                    <a:spcPct val="100000"/>
                  </a:lnSpc>
                  <a:buNone/>
                </a:pPr>
                <a:r>
                  <a:rPr lang="en-US" sz="2000" dirty="0" smtClean="0"/>
                  <a:t>Thus</a:t>
                </a:r>
                <a:r>
                  <a:rPr lang="en-US" sz="2000" dirty="0"/>
                  <a:t>, power consumed in the front-haul network is defined as</a:t>
                </a:r>
                <a:r>
                  <a:rPr lang="en-US" dirty="0" smtClean="0"/>
                  <a:t>:</a:t>
                </a:r>
              </a:p>
              <a:p>
                <a:pPr marL="0" indent="0">
                  <a:lnSpc>
                    <a:spcPct val="100000"/>
                  </a:lnSpc>
                  <a:buNone/>
                </a:pPr>
                <a:r>
                  <a:rPr lang="en-US" sz="2000" i="1" dirty="0" smtClean="0"/>
                  <a:t>P</a:t>
                </a:r>
                <a:r>
                  <a:rPr lang="en-US" sz="2000" i="1" baseline="-25000" dirty="0" smtClean="0"/>
                  <a:t>FH</a:t>
                </a:r>
                <a:r>
                  <a:rPr lang="en-US" sz="2000" dirty="0" smtClean="0"/>
                  <a:t>=</a:t>
                </a:r>
                <a:r>
                  <a:rPr lang="en-US" sz="2000" i="1" dirty="0" smtClean="0"/>
                  <a:t>P</a:t>
                </a:r>
                <a:r>
                  <a:rPr lang="en-US" sz="2000" i="1" baseline="-25000" dirty="0" smtClean="0"/>
                  <a:t>OLT </a:t>
                </a:r>
                <a:r>
                  <a:rPr lang="en-US" sz="2000" dirty="0" smtClean="0"/>
                  <a:t>+</a:t>
                </a:r>
                <a14:m>
                  <m:oMath xmlns:m="http://schemas.openxmlformats.org/officeDocument/2006/math">
                    <m:nary>
                      <m:naryPr>
                        <m:chr m:val="∑"/>
                        <m:limLoc m:val="subSup"/>
                        <m:ctrlPr>
                          <a:rPr lang="en-US" sz="2000" i="1" smtClean="0">
                            <a:latin typeface="Cambria Math" panose="02040503050406030204" pitchFamily="18" charset="0"/>
                          </a:rPr>
                        </m:ctrlPr>
                      </m:naryPr>
                      <m:sub>
                        <m:r>
                          <m:rPr>
                            <m:brk m:alnAt="25"/>
                          </m:rPr>
                          <a:rPr lang="en-US" sz="2000" b="0" i="1" smtClean="0">
                            <a:latin typeface="Cambria Math" panose="02040503050406030204" pitchFamily="18" charset="0"/>
                          </a:rPr>
                          <m:t>𝑔</m:t>
                        </m:r>
                        <m:r>
                          <a:rPr lang="en-US" sz="2000" b="0" i="1" smtClean="0">
                            <a:latin typeface="Cambria Math" panose="02040503050406030204" pitchFamily="18" charset="0"/>
                          </a:rPr>
                          <m:t>=1</m:t>
                        </m:r>
                      </m:sub>
                      <m:sup>
                        <m:r>
                          <a:rPr lang="en-US" sz="2000" b="0" i="1" smtClean="0">
                            <a:latin typeface="Cambria Math" panose="02040503050406030204" pitchFamily="18" charset="0"/>
                          </a:rPr>
                          <m:t>𝐺</m:t>
                        </m:r>
                      </m:sup>
                      <m:e>
                        <m:r>
                          <a:rPr lang="en-US" sz="2000" b="0" i="1" smtClean="0">
                            <a:latin typeface="Cambria Math" panose="02040503050406030204" pitchFamily="18" charset="0"/>
                          </a:rPr>
                          <m:t>𝑃</m:t>
                        </m:r>
                        <m:r>
                          <a:rPr lang="en-US" sz="2000" b="0" i="1" baseline="-25000" smtClean="0">
                            <a:latin typeface="Cambria Math" panose="02040503050406030204" pitchFamily="18" charset="0"/>
                          </a:rPr>
                          <m:t>𝑅𝑁</m:t>
                        </m:r>
                      </m:e>
                    </m:nary>
                  </m:oMath>
                </a14:m>
                <a:r>
                  <a:rPr lang="en-US" sz="2000" dirty="0" smtClean="0"/>
                  <a:t>+ </a:t>
                </a:r>
                <a14:m>
                  <m:oMath xmlns:m="http://schemas.openxmlformats.org/officeDocument/2006/math">
                    <m:nary>
                      <m:naryPr>
                        <m:chr m:val="∑"/>
                        <m:limLoc m:val="subSup"/>
                        <m:ctrlPr>
                          <a:rPr lang="en-US" sz="2000" i="1" smtClean="0">
                            <a:latin typeface="Cambria Math" panose="02040503050406030204" pitchFamily="18" charset="0"/>
                          </a:rPr>
                        </m:ctrlPr>
                      </m:naryPr>
                      <m:sub>
                        <m:r>
                          <m:rPr>
                            <m:brk m:alnAt="25"/>
                          </m:rPr>
                          <a:rPr lang="en-US" sz="2000" b="0" i="1" smtClean="0">
                            <a:latin typeface="Cambria Math" panose="02040503050406030204" pitchFamily="18" charset="0"/>
                          </a:rPr>
                          <m:t>𝑙</m:t>
                        </m:r>
                        <m:r>
                          <a:rPr lang="en-US" sz="2000" b="0" i="1" smtClean="0">
                            <a:latin typeface="Cambria Math" panose="02040503050406030204" pitchFamily="18" charset="0"/>
                          </a:rPr>
                          <m:t>=1</m:t>
                        </m:r>
                      </m:sub>
                      <m:sup>
                        <m:r>
                          <a:rPr lang="en-US" sz="2000" b="0" i="1" smtClean="0">
                            <a:latin typeface="Cambria Math" panose="02040503050406030204" pitchFamily="18" charset="0"/>
                          </a:rPr>
                          <m:t>𝐿</m:t>
                        </m:r>
                      </m:sup>
                      <m:e>
                        <m:r>
                          <a:rPr lang="en-US" sz="2000" b="0" i="1" smtClean="0">
                            <a:latin typeface="Cambria Math" panose="02040503050406030204" pitchFamily="18" charset="0"/>
                          </a:rPr>
                          <m:t>𝑃</m:t>
                        </m:r>
                        <m:r>
                          <a:rPr lang="en-US" sz="2000" b="0" i="1" baseline="-25000" smtClean="0">
                            <a:latin typeface="Cambria Math" panose="02040503050406030204" pitchFamily="18" charset="0"/>
                          </a:rPr>
                          <m:t>𝑂𝑁𝑈</m:t>
                        </m:r>
                      </m:e>
                    </m:nary>
                  </m:oMath>
                </a14:m>
                <a:endParaRPr lang="en-US" dirty="0" smtClean="0"/>
              </a:p>
              <a:p>
                <a:pPr marL="0" indent="0">
                  <a:lnSpc>
                    <a:spcPct val="150000"/>
                  </a:lnSpc>
                  <a:buNone/>
                </a:pPr>
                <a:r>
                  <a:rPr lang="en-US" sz="2000" dirty="0"/>
                  <a:t>where </a:t>
                </a:r>
                <a:r>
                  <a:rPr lang="en-US" sz="2000" dirty="0" smtClean="0"/>
                  <a:t>P</a:t>
                </a:r>
                <a:r>
                  <a:rPr lang="en-US" sz="2000" baseline="-25000" dirty="0" smtClean="0"/>
                  <a:t>fh</a:t>
                </a:r>
                <a:r>
                  <a:rPr lang="en-US" sz="2000" dirty="0" smtClean="0"/>
                  <a:t> </a:t>
                </a:r>
                <a:r>
                  <a:rPr lang="en-US" sz="2000" dirty="0"/>
                  <a:t>is the power consumption of the fronthaul, the P</a:t>
                </a:r>
                <a:r>
                  <a:rPr lang="en-US" sz="2000" baseline="-25000" dirty="0"/>
                  <a:t>OLT</a:t>
                </a:r>
                <a:r>
                  <a:rPr lang="en-US" sz="2000" dirty="0"/>
                  <a:t> is the power consumption of the optical line unit with the fronthaul link, P</a:t>
                </a:r>
                <a:r>
                  <a:rPr lang="en-US" sz="2000" baseline="-25000" dirty="0"/>
                  <a:t>ONU</a:t>
                </a:r>
                <a:r>
                  <a:rPr lang="en-US" sz="2000" dirty="0"/>
                  <a:t> is the power consumption of the optical network unit and P</a:t>
                </a:r>
                <a:r>
                  <a:rPr lang="en-US" sz="2000" baseline="-25000" dirty="0"/>
                  <a:t>RN</a:t>
                </a:r>
                <a:r>
                  <a:rPr lang="en-US" sz="2000" dirty="0"/>
                  <a:t> is the power consumption by the remote note within the fronthaul </a:t>
                </a:r>
                <a:r>
                  <a:rPr lang="en-US" sz="2000" dirty="0" smtClean="0"/>
                  <a:t>link.</a:t>
                </a:r>
              </a:p>
              <a:p>
                <a:pPr marL="0" indent="0">
                  <a:lnSpc>
                    <a:spcPct val="150000"/>
                  </a:lnSpc>
                  <a:buNone/>
                </a:pPr>
                <a:r>
                  <a:rPr lang="en-US" sz="2000" dirty="0"/>
                  <a:t> For more </a:t>
                </a:r>
                <a:r>
                  <a:rPr lang="en-US" sz="2000" dirty="0" smtClean="0"/>
                  <a:t>details,     </a:t>
                </a:r>
                <a:r>
                  <a:rPr lang="en-US" sz="2000" i="1" dirty="0" smtClean="0">
                    <a:solidFill>
                      <a:srgbClr val="E7E6E6">
                        <a:lumMod val="10000"/>
                      </a:srgbClr>
                    </a:solidFill>
                  </a:rPr>
                  <a:t>P</a:t>
                </a:r>
                <a:r>
                  <a:rPr lang="en-US" sz="2000" i="1" baseline="-25000" dirty="0" smtClean="0">
                    <a:solidFill>
                      <a:srgbClr val="E7E6E6">
                        <a:lumMod val="10000"/>
                      </a:srgbClr>
                    </a:solidFill>
                  </a:rPr>
                  <a:t>FH</a:t>
                </a:r>
                <a:r>
                  <a:rPr lang="en-US" sz="2000" i="1" dirty="0" smtClean="0">
                    <a:solidFill>
                      <a:srgbClr val="E7E6E6">
                        <a:lumMod val="10000"/>
                      </a:srgbClr>
                    </a:solidFill>
                  </a:rPr>
                  <a:t> </a:t>
                </a:r>
                <a:r>
                  <a:rPr lang="en-US" sz="2000" dirty="0">
                    <a:solidFill>
                      <a:srgbClr val="E7E6E6">
                        <a:lumMod val="10000"/>
                      </a:srgbClr>
                    </a:solidFill>
                  </a:rPr>
                  <a:t>=</a:t>
                </a:r>
                <a14:m>
                  <m:oMath xmlns:m="http://schemas.openxmlformats.org/officeDocument/2006/math">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𝑘</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𝐾</m:t>
                        </m:r>
                      </m:sup>
                      <m:e>
                        <m:r>
                          <a:rPr lang="en-US" sz="2000" i="1">
                            <a:solidFill>
                              <a:srgbClr val="E7E6E6">
                                <a:lumMod val="10000"/>
                              </a:srgbClr>
                            </a:solidFill>
                            <a:latin typeface="Cambria Math" panose="02040503050406030204" pitchFamily="18" charset="0"/>
                          </a:rPr>
                          <m:t>𝑃</m:t>
                        </m:r>
                        <m:r>
                          <a:rPr lang="en-US" sz="2000" i="1" baseline="-25000">
                            <a:solidFill>
                              <a:srgbClr val="E7E6E6">
                                <a:lumMod val="10000"/>
                              </a:srgbClr>
                            </a:solidFill>
                            <a:latin typeface="Cambria Math" panose="02040503050406030204" pitchFamily="18" charset="0"/>
                          </a:rPr>
                          <m:t>𝐿𝐶</m:t>
                        </m:r>
                      </m:e>
                    </m:nary>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𝑖</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𝐻</m:t>
                        </m:r>
                      </m:sup>
                      <m:e>
                        <m:r>
                          <a:rPr lang="en-US" sz="2000" i="1">
                            <a:solidFill>
                              <a:srgbClr val="E7E6E6">
                                <a:lumMod val="10000"/>
                              </a:srgbClr>
                            </a:solidFill>
                            <a:latin typeface="Cambria Math" panose="02040503050406030204" pitchFamily="18" charset="0"/>
                          </a:rPr>
                          <m:t>𝑅</m:t>
                        </m:r>
                        <m:r>
                          <a:rPr lang="en-US" sz="2000" i="1" baseline="-25000">
                            <a:solidFill>
                              <a:srgbClr val="E7E6E6">
                                <a:lumMod val="10000"/>
                              </a:srgbClr>
                            </a:solidFill>
                            <a:latin typeface="Cambria Math" panose="02040503050406030204" pitchFamily="18" charset="0"/>
                          </a:rPr>
                          <m:t>𝑖</m:t>
                        </m:r>
                        <m:r>
                          <a:rPr lang="en-US" sz="2000" i="1" baseline="-25000">
                            <a:solidFill>
                              <a:srgbClr val="E7E6E6">
                                <a:lumMod val="10000"/>
                              </a:srgbClr>
                            </a:solidFill>
                            <a:latin typeface="Cambria Math" panose="02040503050406030204" pitchFamily="18" charset="0"/>
                          </a:rPr>
                          <m:t>,</m:t>
                        </m:r>
                        <m:r>
                          <a:rPr lang="en-US" sz="2000" i="1" baseline="-25000">
                            <a:solidFill>
                              <a:srgbClr val="E7E6E6">
                                <a:lumMod val="10000"/>
                              </a:srgbClr>
                            </a:solidFill>
                            <a:latin typeface="Cambria Math" panose="02040503050406030204" pitchFamily="18" charset="0"/>
                          </a:rPr>
                          <m:t>𝑘</m:t>
                        </m:r>
                        <m:r>
                          <a:rPr lang="en-US" sz="2000" i="1" baseline="-25000">
                            <a:solidFill>
                              <a:srgbClr val="E7E6E6">
                                <a:lumMod val="10000"/>
                              </a:srgbClr>
                            </a:solidFill>
                            <a:latin typeface="Cambria Math" panose="02040503050406030204" pitchFamily="18" charset="0"/>
                          </a:rPr>
                          <m:t> </m:t>
                        </m:r>
                        <m:r>
                          <a:rPr lang="en-US" sz="2000" i="1" baseline="30000">
                            <a:solidFill>
                              <a:srgbClr val="E7E6E6">
                                <a:lumMod val="10000"/>
                              </a:srgbClr>
                            </a:solidFill>
                            <a:latin typeface="Cambria Math" panose="02040503050406030204" pitchFamily="18" charset="0"/>
                          </a:rPr>
                          <m:t>𝐿𝐶</m:t>
                        </m:r>
                      </m:e>
                    </m:nary>
                  </m:oMath>
                </a14:m>
                <a:r>
                  <a:rPr lang="en-US" dirty="0">
                    <a:solidFill>
                      <a:srgbClr val="E7E6E6">
                        <a:lumMod val="10000"/>
                      </a:srgbClr>
                    </a:solidFill>
                  </a:rPr>
                  <a:t> </a:t>
                </a:r>
                <a14:m>
                  <m:oMath xmlns:m="http://schemas.openxmlformats.org/officeDocument/2006/math">
                    <m:r>
                      <a:rPr lang="en-US" sz="2000" dirty="0">
                        <a:solidFill>
                          <a:srgbClr val="E7E6E6">
                            <a:lumMod val="10000"/>
                          </a:srgbClr>
                        </a:solidFill>
                        <a:latin typeface="Cambria Math" panose="02040503050406030204" pitchFamily="18" charset="0"/>
                      </a:rPr>
                      <m:t>+</m:t>
                    </m:r>
                    <m:nary>
                      <m:naryPr>
                        <m:chr m:val="∑"/>
                        <m:limLoc m:val="subSup"/>
                        <m:ctrlPr>
                          <a:rPr lang="en-US" sz="2000" i="1" dirty="0">
                            <a:solidFill>
                              <a:srgbClr val="E7E6E6">
                                <a:lumMod val="10000"/>
                              </a:srgbClr>
                            </a:solidFill>
                            <a:latin typeface="Cambria Math" panose="02040503050406030204" pitchFamily="18" charset="0"/>
                          </a:rPr>
                        </m:ctrlPr>
                      </m:naryPr>
                      <m:sub>
                        <m:r>
                          <m:rPr>
                            <m:brk m:alnAt="25"/>
                          </m:rPr>
                          <a:rPr lang="en-US" sz="2000" i="1" dirty="0">
                            <a:solidFill>
                              <a:srgbClr val="E7E6E6">
                                <a:lumMod val="10000"/>
                              </a:srgbClr>
                            </a:solidFill>
                            <a:latin typeface="Cambria Math" panose="02040503050406030204" pitchFamily="18" charset="0"/>
                          </a:rPr>
                          <m:t>𝑔</m:t>
                        </m:r>
                        <m:r>
                          <a:rPr lang="en-US" sz="2000" i="1" dirty="0">
                            <a:solidFill>
                              <a:srgbClr val="E7E6E6">
                                <a:lumMod val="10000"/>
                              </a:srgbClr>
                            </a:solidFill>
                            <a:latin typeface="Cambria Math" panose="02040503050406030204" pitchFamily="18" charset="0"/>
                          </a:rPr>
                          <m:t>=1</m:t>
                        </m:r>
                      </m:sub>
                      <m:sup>
                        <m:r>
                          <a:rPr lang="en-US" sz="2000" i="1" dirty="0">
                            <a:solidFill>
                              <a:srgbClr val="E7E6E6">
                                <a:lumMod val="10000"/>
                              </a:srgbClr>
                            </a:solidFill>
                            <a:latin typeface="Cambria Math" panose="02040503050406030204" pitchFamily="18" charset="0"/>
                          </a:rPr>
                          <m:t>𝐺</m:t>
                        </m:r>
                      </m:sup>
                      <m:e>
                        <m:r>
                          <a:rPr lang="en-US" sz="2000" i="1" dirty="0">
                            <a:solidFill>
                              <a:srgbClr val="E7E6E6">
                                <a:lumMod val="10000"/>
                              </a:srgbClr>
                            </a:solidFill>
                            <a:latin typeface="Cambria Math" panose="02040503050406030204" pitchFamily="18" charset="0"/>
                          </a:rPr>
                          <m:t>𝑃</m:t>
                        </m:r>
                        <m:r>
                          <a:rPr lang="en-US" sz="2000" i="1" baseline="-25000" dirty="0">
                            <a:solidFill>
                              <a:srgbClr val="E7E6E6">
                                <a:lumMod val="10000"/>
                              </a:srgbClr>
                            </a:solidFill>
                            <a:latin typeface="Cambria Math" panose="02040503050406030204" pitchFamily="18" charset="0"/>
                          </a:rPr>
                          <m:t>𝑅𝑁</m:t>
                        </m:r>
                      </m:e>
                    </m:nary>
                  </m:oMath>
                </a14:m>
                <a:r>
                  <a:rPr lang="en-US" dirty="0">
                    <a:solidFill>
                      <a:srgbClr val="E7E6E6">
                        <a:lumMod val="10000"/>
                      </a:srgbClr>
                    </a:solidFill>
                  </a:rPr>
                  <a:t>+</a:t>
                </a:r>
                <a14:m>
                  <m:oMath xmlns:m="http://schemas.openxmlformats.org/officeDocument/2006/math">
                    <m:nary>
                      <m:naryPr>
                        <m:chr m:val="∑"/>
                        <m:limLoc m:val="subSup"/>
                        <m:ctrlPr>
                          <a:rPr lang="en-US" sz="2000" i="1" dirty="0">
                            <a:solidFill>
                              <a:srgbClr val="E7E6E6">
                                <a:lumMod val="10000"/>
                              </a:srgbClr>
                            </a:solidFill>
                            <a:latin typeface="Cambria Math" panose="02040503050406030204" pitchFamily="18" charset="0"/>
                          </a:rPr>
                        </m:ctrlPr>
                      </m:naryPr>
                      <m:sub>
                        <m:r>
                          <m:rPr>
                            <m:brk m:alnAt="25"/>
                          </m:rPr>
                          <a:rPr lang="en-US" sz="2000" i="1" dirty="0">
                            <a:solidFill>
                              <a:srgbClr val="E7E6E6">
                                <a:lumMod val="10000"/>
                              </a:srgbClr>
                            </a:solidFill>
                            <a:latin typeface="Cambria Math" panose="02040503050406030204" pitchFamily="18" charset="0"/>
                          </a:rPr>
                          <m:t>𝑙</m:t>
                        </m:r>
                        <m:r>
                          <a:rPr lang="en-US" sz="2000" i="1" dirty="0">
                            <a:solidFill>
                              <a:srgbClr val="E7E6E6">
                                <a:lumMod val="10000"/>
                              </a:srgbClr>
                            </a:solidFill>
                            <a:latin typeface="Cambria Math" panose="02040503050406030204" pitchFamily="18" charset="0"/>
                          </a:rPr>
                          <m:t>=1</m:t>
                        </m:r>
                      </m:sub>
                      <m:sup>
                        <m:r>
                          <a:rPr lang="en-US" sz="2000" i="1" dirty="0">
                            <a:solidFill>
                              <a:srgbClr val="E7E6E6">
                                <a:lumMod val="10000"/>
                              </a:srgbClr>
                            </a:solidFill>
                            <a:latin typeface="Cambria Math" panose="02040503050406030204" pitchFamily="18" charset="0"/>
                          </a:rPr>
                          <m:t>𝐿</m:t>
                        </m:r>
                      </m:sup>
                      <m:e>
                        <m:r>
                          <a:rPr lang="en-US" sz="2000" i="1" dirty="0">
                            <a:solidFill>
                              <a:srgbClr val="E7E6E6">
                                <a:lumMod val="10000"/>
                              </a:srgbClr>
                            </a:solidFill>
                            <a:latin typeface="Cambria Math" panose="02040503050406030204" pitchFamily="18" charset="0"/>
                          </a:rPr>
                          <m:t>𝑃</m:t>
                        </m:r>
                        <m:r>
                          <a:rPr lang="en-US" sz="2000" i="1" baseline="-25000" dirty="0">
                            <a:solidFill>
                              <a:srgbClr val="E7E6E6">
                                <a:lumMod val="10000"/>
                              </a:srgbClr>
                            </a:solidFill>
                            <a:latin typeface="Cambria Math" panose="02040503050406030204" pitchFamily="18" charset="0"/>
                          </a:rPr>
                          <m:t>𝑂𝑁𝑈</m:t>
                        </m:r>
                      </m:e>
                    </m:nary>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09625" y="771525"/>
                <a:ext cx="10515600" cy="5257799"/>
              </a:xfrm>
              <a:blipFill rotWithShape="0">
                <a:blip r:embed="rId2"/>
                <a:stretch>
                  <a:fillRect l="-638" t="-1276"/>
                </a:stretch>
              </a:blipFill>
            </p:spPr>
            <p:txBody>
              <a:bodyPr/>
              <a:lstStyle/>
              <a:p>
                <a:r>
                  <a:rPr lang="en-US">
                    <a:noFill/>
                  </a:rPr>
                  <a:t> </a:t>
                </a:r>
              </a:p>
            </p:txBody>
          </p:sp>
        </mc:Fallback>
      </mc:AlternateContent>
    </p:spTree>
    <p:extLst>
      <p:ext uri="{BB962C8B-B14F-4D97-AF65-F5344CB8AC3E}">
        <p14:creationId xmlns:p14="http://schemas.microsoft.com/office/powerpoint/2010/main" val="2419723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900114"/>
                <a:ext cx="10515600" cy="4972050"/>
              </a:xfrm>
            </p:spPr>
            <p:txBody>
              <a:bodyPr/>
              <a:lstStyle/>
              <a:p>
                <a:pPr marL="0" indent="0">
                  <a:buNone/>
                </a:pPr>
                <a:r>
                  <a:rPr lang="en-US" sz="2000" dirty="0" smtClean="0"/>
                  <a:t>Where</a:t>
                </a:r>
                <a:r>
                  <a:rPr lang="en-US" dirty="0" smtClean="0"/>
                  <a:t> ,</a:t>
                </a:r>
                <a:r>
                  <a:rPr lang="en-US" sz="2000" dirty="0">
                    <a:solidFill>
                      <a:srgbClr val="E7E6E6">
                        <a:lumMod val="10000"/>
                      </a:srgbClr>
                    </a:solidFill>
                  </a:rPr>
                  <a:t> </a:t>
                </a:r>
                <a14:m>
                  <m:oMath xmlns:m="http://schemas.openxmlformats.org/officeDocument/2006/math">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𝑖</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𝐻</m:t>
                        </m:r>
                      </m:sup>
                      <m:e>
                        <m:r>
                          <a:rPr lang="en-US" sz="2000" i="1">
                            <a:solidFill>
                              <a:srgbClr val="E7E6E6">
                                <a:lumMod val="10000"/>
                              </a:srgbClr>
                            </a:solidFill>
                            <a:latin typeface="Cambria Math" panose="02040503050406030204" pitchFamily="18" charset="0"/>
                          </a:rPr>
                          <m:t>𝑅</m:t>
                        </m:r>
                        <m:r>
                          <a:rPr lang="en-US" sz="2000" i="1" baseline="-25000">
                            <a:solidFill>
                              <a:srgbClr val="E7E6E6">
                                <a:lumMod val="10000"/>
                              </a:srgbClr>
                            </a:solidFill>
                            <a:latin typeface="Cambria Math" panose="02040503050406030204" pitchFamily="18" charset="0"/>
                          </a:rPr>
                          <m:t>𝑖</m:t>
                        </m:r>
                        <m:r>
                          <a:rPr lang="en-US" sz="2000" i="1" baseline="-25000">
                            <a:solidFill>
                              <a:srgbClr val="E7E6E6">
                                <a:lumMod val="10000"/>
                              </a:srgbClr>
                            </a:solidFill>
                            <a:latin typeface="Cambria Math" panose="02040503050406030204" pitchFamily="18" charset="0"/>
                          </a:rPr>
                          <m:t>,</m:t>
                        </m:r>
                        <m:r>
                          <a:rPr lang="en-US" sz="2000" i="1" baseline="-25000">
                            <a:solidFill>
                              <a:srgbClr val="E7E6E6">
                                <a:lumMod val="10000"/>
                              </a:srgbClr>
                            </a:solidFill>
                            <a:latin typeface="Cambria Math" panose="02040503050406030204" pitchFamily="18" charset="0"/>
                          </a:rPr>
                          <m:t>𝑘</m:t>
                        </m:r>
                        <m:r>
                          <a:rPr lang="en-US" sz="2000" i="1" baseline="-25000">
                            <a:solidFill>
                              <a:srgbClr val="E7E6E6">
                                <a:lumMod val="10000"/>
                              </a:srgbClr>
                            </a:solidFill>
                            <a:latin typeface="Cambria Math" panose="02040503050406030204" pitchFamily="18" charset="0"/>
                          </a:rPr>
                          <m:t> </m:t>
                        </m:r>
                        <m:r>
                          <a:rPr lang="en-US" sz="2000" i="1" baseline="30000">
                            <a:solidFill>
                              <a:srgbClr val="E7E6E6">
                                <a:lumMod val="10000"/>
                              </a:srgbClr>
                            </a:solidFill>
                            <a:latin typeface="Cambria Math" panose="02040503050406030204" pitchFamily="18" charset="0"/>
                          </a:rPr>
                          <m:t>𝐿𝐶</m:t>
                        </m:r>
                      </m:e>
                    </m:nary>
                  </m:oMath>
                </a14:m>
                <a:r>
                  <a:rPr lang="en-US" dirty="0" smtClean="0"/>
                  <a:t> </a:t>
                </a:r>
                <a:r>
                  <a:rPr lang="en-US" sz="2000" dirty="0" smtClean="0"/>
                  <a:t>is the traffic loads of RRH</a:t>
                </a:r>
                <a:r>
                  <a:rPr lang="en-US" sz="2000" baseline="-25000" dirty="0" smtClean="0"/>
                  <a:t>i </a:t>
                </a:r>
                <a:r>
                  <a:rPr lang="en-US" sz="2000" baseline="-25000" dirty="0" smtClean="0"/>
                  <a:t> </a:t>
                </a:r>
                <a:r>
                  <a:rPr lang="en-US" sz="2000" dirty="0" smtClean="0"/>
                  <a:t>served </a:t>
                </a:r>
                <a:r>
                  <a:rPr lang="en-US" sz="2000" dirty="0" smtClean="0"/>
                  <a:t>by the LCs.</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900114"/>
                <a:ext cx="10515600" cy="4972050"/>
              </a:xfrm>
              <a:blipFill rotWithShape="0">
                <a:blip r:embed="rId2"/>
                <a:stretch>
                  <a:fillRect l="-638" t="-2331"/>
                </a:stretch>
              </a:blipFill>
            </p:spPr>
            <p:txBody>
              <a:bodyPr/>
              <a:lstStyle/>
              <a:p>
                <a:r>
                  <a:rPr lang="en-US">
                    <a:noFill/>
                  </a:rPr>
                  <a:t> </a:t>
                </a:r>
              </a:p>
            </p:txBody>
          </p:sp>
        </mc:Fallback>
      </mc:AlternateContent>
    </p:spTree>
    <p:extLst>
      <p:ext uri="{BB962C8B-B14F-4D97-AF65-F5344CB8AC3E}">
        <p14:creationId xmlns:p14="http://schemas.microsoft.com/office/powerpoint/2010/main" val="2818635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714375"/>
                <a:ext cx="10515600" cy="5343525"/>
              </a:xfrm>
            </p:spPr>
            <p:txBody>
              <a:bodyPr>
                <a:normAutofit/>
              </a:bodyPr>
              <a:lstStyle/>
              <a:p>
                <a:r>
                  <a:rPr lang="en-US" sz="2000" b="1" dirty="0" smtClean="0"/>
                  <a:t>BBU Pool Power Consumption Model</a:t>
                </a:r>
              </a:p>
              <a:p>
                <a:pPr marL="0" indent="0">
                  <a:buNone/>
                </a:pPr>
                <a:r>
                  <a:rPr lang="en-US" sz="2000" dirty="0"/>
                  <a:t>The power consumption at each BBU is composed of two parts: </a:t>
                </a:r>
                <a:endParaRPr lang="en-US" sz="2000" dirty="0" smtClean="0"/>
              </a:p>
              <a:p>
                <a:pPr marL="0" indent="0">
                  <a:buNone/>
                </a:pPr>
                <a:r>
                  <a:rPr lang="en-US" sz="2000" dirty="0"/>
                  <a:t>A</a:t>
                </a:r>
                <a:r>
                  <a:rPr lang="en-US" sz="2000" dirty="0" smtClean="0"/>
                  <a:t> static </a:t>
                </a:r>
                <a:r>
                  <a:rPr lang="en-US" sz="2000" dirty="0"/>
                  <a:t>power consumption </a:t>
                </a:r>
                <a:r>
                  <a:rPr lang="en-US" sz="2000" i="1" dirty="0"/>
                  <a:t>Pstat</a:t>
                </a:r>
                <a:r>
                  <a:rPr lang="en-US" sz="2000" dirty="0"/>
                  <a:t> </a:t>
                </a:r>
                <a:r>
                  <a:rPr lang="en-US" sz="2000" dirty="0" smtClean="0"/>
                  <a:t> and a </a:t>
                </a:r>
                <a:r>
                  <a:rPr lang="en-US" sz="2000" dirty="0"/>
                  <a:t>dynamic power consumption </a:t>
                </a:r>
                <a:r>
                  <a:rPr lang="en-US" sz="2000" i="1" dirty="0" smtClean="0"/>
                  <a:t>Pdyn</a:t>
                </a:r>
              </a:p>
              <a:p>
                <a:pPr marL="0" indent="0">
                  <a:buNone/>
                </a:pPr>
                <a:r>
                  <a:rPr lang="en-US" sz="2000" i="1" dirty="0" smtClean="0"/>
                  <a:t>                              </a:t>
                </a:r>
              </a:p>
              <a:p>
                <a:pPr marL="0" indent="0">
                  <a:buNone/>
                </a:pPr>
                <a:r>
                  <a:rPr lang="en-US" sz="2000" i="1" dirty="0"/>
                  <a:t> </a:t>
                </a:r>
                <a:r>
                  <a:rPr lang="en-US" sz="2000" i="1" dirty="0" smtClean="0"/>
                  <a:t>                        P</a:t>
                </a:r>
                <a:r>
                  <a:rPr lang="en-US" sz="2000" i="1" baseline="-25000" dirty="0" smtClean="0"/>
                  <a:t>BBU</a:t>
                </a:r>
                <a:r>
                  <a:rPr lang="en-US" sz="2000" i="1" dirty="0" smtClean="0"/>
                  <a:t>=Pstat </a:t>
                </a:r>
                <a:r>
                  <a:rPr lang="en-US" sz="2000" i="1" dirty="0"/>
                  <a:t>+∆</a:t>
                </a:r>
                <a:r>
                  <a:rPr lang="en-US" sz="2000" i="1" dirty="0" smtClean="0"/>
                  <a:t>pPdyn</a:t>
                </a:r>
                <a14:m>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𝑢</m:t>
                        </m:r>
                        <m:r>
                          <a:rPr lang="en-US" sz="2000" b="0" i="1" smtClean="0">
                            <a:latin typeface="Cambria Math" panose="02040503050406030204" pitchFamily="18" charset="0"/>
                          </a:rPr>
                          <m:t>=1</m:t>
                        </m:r>
                      </m:sub>
                      <m:sup>
                        <m:r>
                          <a:rPr lang="en-US" sz="2000" b="0" i="1" smtClean="0">
                            <a:latin typeface="Cambria Math" panose="02040503050406030204" pitchFamily="18" charset="0"/>
                          </a:rPr>
                          <m:t>𝑈</m:t>
                        </m:r>
                      </m:sup>
                      <m:e>
                        <m:r>
                          <a:rPr lang="en-US" sz="2000" b="0" i="1" smtClean="0">
                            <a:latin typeface="Cambria Math" panose="02040503050406030204" pitchFamily="18" charset="0"/>
                          </a:rPr>
                          <m:t>𝑅</m:t>
                        </m:r>
                        <m:r>
                          <a:rPr lang="en-US" sz="2000" b="0" i="1" baseline="-25000" smtClean="0">
                            <a:latin typeface="Cambria Math" panose="02040503050406030204" pitchFamily="18" charset="0"/>
                          </a:rPr>
                          <m:t>𝑖</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m:t>
                        </m:r>
                      </m:e>
                    </m:nary>
                    <m:r>
                      <a:rPr lang="en-US" sz="2000" b="0" i="1" baseline="30000" smtClean="0">
                        <a:latin typeface="Cambria Math" panose="02040503050406030204" pitchFamily="18" charset="0"/>
                      </a:rPr>
                      <m:t>𝑅𝐸𝑄</m:t>
                    </m:r>
                  </m:oMath>
                </a14:m>
                <a:endParaRPr lang="en-US" sz="2000" i="1" baseline="30000" dirty="0" smtClean="0"/>
              </a:p>
              <a:p>
                <a:pPr marL="0" indent="0">
                  <a:buNone/>
                </a:pPr>
                <a:endParaRPr lang="en-US" sz="2000" i="1" baseline="30000" dirty="0"/>
              </a:p>
              <a:p>
                <a:pPr marL="0" indent="0">
                  <a:buNone/>
                </a:pPr>
                <a:r>
                  <a:rPr lang="en-US" baseline="-25000" dirty="0"/>
                  <a:t>where, </a:t>
                </a:r>
                <a:r>
                  <a:rPr lang="en-US" baseline="-25000" dirty="0" smtClean="0"/>
                  <a:t>∆p </a:t>
                </a:r>
                <a:r>
                  <a:rPr lang="en-US" baseline="-25000" dirty="0"/>
                  <a:t>represents the linear power model tangent</a:t>
                </a:r>
                <a:r>
                  <a:rPr lang="en-US" i="1" baseline="-25000" dirty="0" smtClean="0"/>
                  <a:t>.</a:t>
                </a:r>
              </a:p>
              <a:p>
                <a:pPr marL="0" indent="0">
                  <a:lnSpc>
                    <a:spcPct val="150000"/>
                  </a:lnSpc>
                  <a:buNone/>
                </a:pPr>
                <a:r>
                  <a:rPr lang="en-US" baseline="-25000" dirty="0" smtClean="0"/>
                  <a:t>The </a:t>
                </a:r>
                <a:r>
                  <a:rPr lang="en-US" baseline="-25000" dirty="0"/>
                  <a:t>components of dynamic power consumption in a server are the processor, memory and hard disk</a:t>
                </a:r>
                <a:r>
                  <a:rPr lang="en-US" baseline="-25000" dirty="0" smtClean="0"/>
                  <a:t>.</a:t>
                </a:r>
                <a:endParaRPr lang="en-US" sz="2400" baseline="-25000" dirty="0"/>
              </a:p>
              <a:p>
                <a:pPr marL="0" indent="0">
                  <a:lnSpc>
                    <a:spcPct val="150000"/>
                  </a:lnSpc>
                  <a:buNone/>
                </a:pPr>
                <a:r>
                  <a:rPr lang="en-US" baseline="-25000" dirty="0"/>
                  <a:t> </a:t>
                </a:r>
                <a:r>
                  <a:rPr lang="en-US" dirty="0" smtClean="0"/>
                  <a:t>                  </a:t>
                </a:r>
                <a:r>
                  <a:rPr lang="en-US" sz="2000" dirty="0" smtClean="0"/>
                  <a:t>Pdyn= P</a:t>
                </a:r>
                <a:r>
                  <a:rPr lang="en-US" sz="2000" baseline="-25000" dirty="0" smtClean="0"/>
                  <a:t>CPU</a:t>
                </a:r>
                <a:r>
                  <a:rPr lang="en-US" sz="2000" dirty="0" smtClean="0"/>
                  <a:t> +P</a:t>
                </a:r>
                <a:r>
                  <a:rPr lang="en-US" sz="2000" baseline="-25000" dirty="0" smtClean="0"/>
                  <a:t>MEM </a:t>
                </a:r>
                <a:r>
                  <a:rPr lang="en-US" sz="2000" dirty="0" smtClean="0"/>
                  <a:t>+P</a:t>
                </a:r>
                <a:r>
                  <a:rPr lang="en-US" sz="2000" baseline="-25000" dirty="0" smtClean="0"/>
                  <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714375"/>
                <a:ext cx="10515600" cy="5343525"/>
              </a:xfrm>
              <a:blipFill rotWithShape="0">
                <a:blip r:embed="rId2"/>
                <a:stretch>
                  <a:fillRect l="-638" t="-1140"/>
                </a:stretch>
              </a:blipFill>
            </p:spPr>
            <p:txBody>
              <a:bodyPr/>
              <a:lstStyle/>
              <a:p>
                <a:r>
                  <a:rPr lang="en-US">
                    <a:noFill/>
                  </a:rPr>
                  <a:t> </a:t>
                </a:r>
              </a:p>
            </p:txBody>
          </p:sp>
        </mc:Fallback>
      </mc:AlternateContent>
    </p:spTree>
    <p:extLst>
      <p:ext uri="{BB962C8B-B14F-4D97-AF65-F5344CB8AC3E}">
        <p14:creationId xmlns:p14="http://schemas.microsoft.com/office/powerpoint/2010/main" val="1230430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700089"/>
                <a:ext cx="10515600" cy="5357811"/>
              </a:xfrm>
            </p:spPr>
            <p:txBody>
              <a:bodyPr>
                <a:normAutofit/>
              </a:bodyPr>
              <a:lstStyle/>
              <a:p>
                <a:endParaRPr lang="en-US" sz="2000" dirty="0" smtClean="0"/>
              </a:p>
              <a:p>
                <a:r>
                  <a:rPr lang="en-US" sz="2000" dirty="0" smtClean="0"/>
                  <a:t>P</a:t>
                </a:r>
                <a:r>
                  <a:rPr lang="en-US" sz="2000" baseline="-25000" dirty="0" smtClean="0"/>
                  <a:t>BBU</a:t>
                </a:r>
                <a:r>
                  <a:rPr lang="en-US" sz="2000" dirty="0" smtClean="0"/>
                  <a:t>=P</a:t>
                </a:r>
                <a:r>
                  <a:rPr lang="en-US" sz="2000" baseline="-25000" dirty="0" smtClean="0"/>
                  <a:t>stat</a:t>
                </a:r>
                <a:r>
                  <a:rPr lang="en-US" sz="2000" dirty="0" smtClean="0"/>
                  <a:t> +∆p(P</a:t>
                </a:r>
                <a:r>
                  <a:rPr lang="en-US" sz="2000" baseline="-25000" dirty="0" smtClean="0"/>
                  <a:t>CPU </a:t>
                </a:r>
                <a:r>
                  <a:rPr lang="en-US" sz="2000" dirty="0" smtClean="0"/>
                  <a:t>+P</a:t>
                </a:r>
                <a:r>
                  <a:rPr lang="en-US" sz="2000" baseline="-25000" dirty="0" smtClean="0"/>
                  <a:t>MEM</a:t>
                </a:r>
                <a:r>
                  <a:rPr lang="en-US" sz="2000" dirty="0" smtClean="0"/>
                  <a:t>+P</a:t>
                </a:r>
                <a:r>
                  <a:rPr lang="en-US" sz="2000" baseline="-25000" dirty="0" smtClean="0"/>
                  <a:t>IO</a:t>
                </a:r>
                <a:r>
                  <a:rPr lang="en-US" sz="2000" dirty="0"/>
                  <a:t>) </a:t>
                </a:r>
                <a14:m>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𝑢</m:t>
                        </m:r>
                        <m:r>
                          <a:rPr lang="en-US" sz="2000" b="0" i="1" smtClean="0">
                            <a:latin typeface="Cambria Math" panose="02040503050406030204" pitchFamily="18" charset="0"/>
                          </a:rPr>
                          <m:t>=1</m:t>
                        </m:r>
                      </m:sub>
                      <m:sup>
                        <m:r>
                          <a:rPr lang="en-US" sz="2000" b="0" i="1" smtClean="0">
                            <a:latin typeface="Cambria Math" panose="02040503050406030204" pitchFamily="18" charset="0"/>
                          </a:rPr>
                          <m:t>𝑈</m:t>
                        </m:r>
                      </m:sup>
                      <m:e>
                        <m:r>
                          <a:rPr lang="en-US" sz="2000" b="0" i="1" smtClean="0">
                            <a:latin typeface="Cambria Math" panose="02040503050406030204" pitchFamily="18" charset="0"/>
                          </a:rPr>
                          <m:t>𝑅</m:t>
                        </m:r>
                        <m:r>
                          <a:rPr lang="en-US" sz="2000" b="0" i="1" baseline="-25000" smtClean="0">
                            <a:latin typeface="Cambria Math" panose="02040503050406030204" pitchFamily="18" charset="0"/>
                          </a:rPr>
                          <m:t>𝑖</m:t>
                        </m:r>
                        <m:r>
                          <a:rPr lang="en-US" sz="2000" b="0" i="1" smtClean="0">
                            <a:latin typeface="Cambria Math" panose="02040503050406030204" pitchFamily="18" charset="0"/>
                          </a:rPr>
                          <m:t>,</m:t>
                        </m:r>
                        <m:r>
                          <a:rPr lang="en-US" sz="2000" b="0" i="1" baseline="-25000" smtClean="0">
                            <a:latin typeface="Cambria Math" panose="02040503050406030204" pitchFamily="18" charset="0"/>
                          </a:rPr>
                          <m:t>𝑢</m:t>
                        </m:r>
                        <m:r>
                          <a:rPr lang="en-US" sz="2000" b="0" i="1" baseline="30000" smtClean="0">
                            <a:latin typeface="Cambria Math" panose="02040503050406030204" pitchFamily="18" charset="0"/>
                          </a:rPr>
                          <m:t>𝑅𝐸𝑄</m:t>
                        </m:r>
                      </m:e>
                    </m:nary>
                  </m:oMath>
                </a14:m>
                <a:endParaRPr lang="en-US" sz="2000" dirty="0" smtClean="0"/>
              </a:p>
              <a:p>
                <a:pPr marL="0" indent="0">
                  <a:buNone/>
                </a:pPr>
                <a:endParaRPr lang="en-US" sz="2000" dirty="0"/>
              </a:p>
              <a:p>
                <a:r>
                  <a:rPr lang="en-US" sz="2000" dirty="0" smtClean="0"/>
                  <a:t>Ppool=</a:t>
                </a:r>
                <a14:m>
                  <m:oMath xmlns:m="http://schemas.openxmlformats.org/officeDocument/2006/math">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𝑗</m:t>
                        </m:r>
                        <m:r>
                          <a:rPr lang="en-US" sz="2000" b="0" i="1" smtClean="0">
                            <a:latin typeface="Cambria Math" panose="02040503050406030204" pitchFamily="18" charset="0"/>
                          </a:rPr>
                          <m:t>=1</m:t>
                        </m:r>
                      </m:sub>
                      <m:sup>
                        <m:r>
                          <a:rPr lang="en-US" sz="2000" b="0" i="1" smtClean="0">
                            <a:latin typeface="Cambria Math" panose="02040503050406030204" pitchFamily="18" charset="0"/>
                          </a:rPr>
                          <m:t>𝑀</m:t>
                        </m:r>
                      </m:sup>
                      <m:e>
                        <m:r>
                          <a:rPr lang="en-US" sz="2000" b="0" i="1" smtClean="0">
                            <a:latin typeface="Cambria Math" panose="02040503050406030204" pitchFamily="18" charset="0"/>
                          </a:rPr>
                          <m:t>(</m:t>
                        </m:r>
                        <m:r>
                          <m:rPr>
                            <m:sty m:val="p"/>
                          </m:rPr>
                          <a:rPr lang="en-US" sz="2000" b="0" i="0" smtClean="0">
                            <a:latin typeface="Cambria Math" panose="02040503050406030204" pitchFamily="18" charset="0"/>
                          </a:rPr>
                          <m:t>P</m:t>
                        </m:r>
                        <m:r>
                          <m:rPr>
                            <m:sty m:val="p"/>
                          </m:rPr>
                          <a:rPr lang="en-US" sz="2000" b="0" i="0" baseline="-25000" smtClean="0">
                            <a:latin typeface="Cambria Math" panose="02040503050406030204" pitchFamily="18" charset="0"/>
                          </a:rPr>
                          <m:t>stat</m:t>
                        </m:r>
                        <m:r>
                          <a:rPr lang="en-US" sz="2000" b="0" i="0" smtClean="0">
                            <a:latin typeface="Cambria Math" panose="02040503050406030204" pitchFamily="18" charset="0"/>
                          </a:rPr>
                          <m:t>+</m:t>
                        </m:r>
                        <m:r>
                          <a:rPr lang="en-US" sz="2000" b="0" i="1" smtClean="0">
                            <a:latin typeface="Cambria Math" panose="02040503050406030204" pitchFamily="18" charset="0"/>
                          </a:rPr>
                          <m:t>∆</m:t>
                        </m:r>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𝑃𝐶𝑃𝑈</m:t>
                        </m:r>
                        <m:r>
                          <a:rPr lang="en-US" sz="2000" b="0" i="1" smtClean="0">
                            <a:latin typeface="Cambria Math" panose="02040503050406030204" pitchFamily="18" charset="0"/>
                          </a:rPr>
                          <m:t>+</m:t>
                        </m:r>
                        <m:r>
                          <a:rPr lang="en-US" sz="2000" b="0" i="1" smtClean="0">
                            <a:latin typeface="Cambria Math" panose="02040503050406030204" pitchFamily="18" charset="0"/>
                          </a:rPr>
                          <m:t>𝑃𝑀</m:t>
                        </m:r>
                        <m:r>
                          <a:rPr lang="en-US" sz="2000" b="0" i="1" baseline="-25000" smtClean="0">
                            <a:latin typeface="Cambria Math" panose="02040503050406030204" pitchFamily="18" charset="0"/>
                          </a:rPr>
                          <m:t>𝐸𝑀</m:t>
                        </m:r>
                        <m:r>
                          <a:rPr lang="en-US" sz="2000" b="0" i="1" smtClean="0">
                            <a:latin typeface="Cambria Math" panose="02040503050406030204" pitchFamily="18" charset="0"/>
                          </a:rPr>
                          <m:t>+</m:t>
                        </m:r>
                        <m:r>
                          <a:rPr lang="en-US" sz="2000" b="0" i="1" smtClean="0">
                            <a:latin typeface="Cambria Math" panose="02040503050406030204" pitchFamily="18" charset="0"/>
                          </a:rPr>
                          <m:t>𝑃𝐼</m:t>
                        </m:r>
                        <m:r>
                          <a:rPr lang="en-US" sz="2000" b="0" i="1" baseline="-25000" smtClean="0">
                            <a:latin typeface="Cambria Math" panose="02040503050406030204" pitchFamily="18" charset="0"/>
                          </a:rPr>
                          <m:t>𝑂</m:t>
                        </m:r>
                        <m:r>
                          <a:rPr lang="en-US" sz="2000" b="0" i="1" smtClean="0">
                            <a:latin typeface="Cambria Math" panose="02040503050406030204" pitchFamily="18" charset="0"/>
                          </a:rPr>
                          <m:t>)</m:t>
                        </m:r>
                      </m:e>
                    </m:nary>
                    <m:nary>
                      <m:naryPr>
                        <m:chr m:val="∑"/>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𝑢</m:t>
                        </m:r>
                        <m:r>
                          <a:rPr lang="en-US" sz="2000" b="0" i="1" smtClean="0">
                            <a:latin typeface="Cambria Math" panose="02040503050406030204" pitchFamily="18" charset="0"/>
                          </a:rPr>
                          <m:t>=1</m:t>
                        </m:r>
                      </m:sub>
                      <m:sup>
                        <m:r>
                          <a:rPr lang="en-US" sz="2000" b="0" i="1" smtClean="0">
                            <a:latin typeface="Cambria Math" panose="02040503050406030204" pitchFamily="18" charset="0"/>
                          </a:rPr>
                          <m:t>𝑈</m:t>
                        </m:r>
                      </m:sup>
                      <m:e>
                        <m:r>
                          <a:rPr lang="en-US" sz="2000" b="0" i="1" smtClean="0">
                            <a:latin typeface="Cambria Math" panose="02040503050406030204" pitchFamily="18" charset="0"/>
                          </a:rPr>
                          <m:t>𝑅</m:t>
                        </m:r>
                        <m:r>
                          <a:rPr lang="en-US" sz="2000" b="0" i="1" baseline="-25000" smtClean="0">
                            <a:latin typeface="Cambria Math" panose="02040503050406030204" pitchFamily="18" charset="0"/>
                          </a:rPr>
                          <m:t>𝑖</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𝑢𝑅𝐸𝑄</m:t>
                        </m:r>
                      </m:e>
                    </m:nary>
                  </m:oMath>
                </a14:m>
                <a:r>
                  <a:rPr lang="en-US" sz="2000" dirty="0" smtClean="0"/>
                  <a:t>)</a:t>
                </a:r>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700089"/>
                <a:ext cx="10515600" cy="5357811"/>
              </a:xfrm>
              <a:blipFill rotWithShape="0">
                <a:blip r:embed="rId2"/>
                <a:stretch>
                  <a:fillRect l="-522" t="-2162"/>
                </a:stretch>
              </a:blipFill>
            </p:spPr>
            <p:txBody>
              <a:bodyPr/>
              <a:lstStyle/>
              <a:p>
                <a:r>
                  <a:rPr lang="en-US">
                    <a:noFill/>
                  </a:rPr>
                  <a:t> </a:t>
                </a:r>
              </a:p>
            </p:txBody>
          </p:sp>
        </mc:Fallback>
      </mc:AlternateContent>
    </p:spTree>
    <p:extLst>
      <p:ext uri="{BB962C8B-B14F-4D97-AF65-F5344CB8AC3E}">
        <p14:creationId xmlns:p14="http://schemas.microsoft.com/office/powerpoint/2010/main" val="2147169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785813"/>
                <a:ext cx="10515600" cy="5214937"/>
              </a:xfrm>
            </p:spPr>
            <p:txBody>
              <a:bodyPr>
                <a:normAutofit/>
              </a:bodyPr>
              <a:lstStyle/>
              <a:p>
                <a:r>
                  <a:rPr lang="en-US" sz="2000" b="1" dirty="0" smtClean="0"/>
                  <a:t>Problem formulation of RRH</a:t>
                </a:r>
              </a:p>
              <a:p>
                <a:pPr marL="0" indent="0">
                  <a:buNone/>
                </a:pPr>
                <a:r>
                  <a:rPr lang="en-US" sz="2000" dirty="0"/>
                  <a:t>For RRH selection in each time slot t. Given the set of active RRHs M(t) problem is reduced to slot-by-slot </a:t>
                </a:r>
                <a:r>
                  <a:rPr lang="en-US" sz="2000" dirty="0" smtClean="0"/>
                  <a:t>optimization</a:t>
                </a:r>
              </a:p>
              <a:p>
                <a:pPr marL="0" indent="0">
                  <a:buNone/>
                </a:pPr>
                <a:r>
                  <a:rPr lang="en-US" sz="2000" dirty="0" smtClean="0"/>
                  <a:t>                           Minimize(</a:t>
                </a:r>
                <a:r>
                  <a:rPr lang="en-US" sz="2000" dirty="0" err="1" smtClean="0"/>
                  <a:t>wt</a:t>
                </a:r>
                <a:r>
                  <a:rPr lang="en-US" sz="2000" dirty="0" smtClean="0"/>
                  <a:t>)  </a:t>
                </a:r>
                <a14:m>
                  <m:oMath xmlns:m="http://schemas.openxmlformats.org/officeDocument/2006/math">
                    <m:nary>
                      <m:naryPr>
                        <m:chr m:val="∑"/>
                        <m:limLoc m:val="subSup"/>
                        <m:supHide m:val="on"/>
                        <m:ctrlPr>
                          <a:rPr lang="en-US" sz="2000" i="1" smtClean="0">
                            <a:latin typeface="Cambria Math" panose="02040503050406030204" pitchFamily="18" charset="0"/>
                          </a:rPr>
                        </m:ctrlPr>
                      </m:naryPr>
                      <m:sub>
                        <m:r>
                          <m:rPr>
                            <m:brk m:alnAt="9"/>
                          </m:rP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𝑟</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𝑀𝑡</m:t>
                        </m:r>
                      </m:sub>
                      <m:sup/>
                      <m:e>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𝑢</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𝑈𝑡</m:t>
                            </m:r>
                          </m:sub>
                          <m:sup/>
                          <m:e>
                            <m:r>
                              <a:rPr lang="en-US" sz="2000" i="1" smtClean="0">
                                <a:latin typeface="Cambria Math" panose="02040503050406030204" pitchFamily="18" charset="0"/>
                              </a:rPr>
                              <m:t>|</m:t>
                            </m:r>
                            <m:r>
                              <a:rPr lang="en-US" sz="2000" b="0" i="1" smtClean="0">
                                <a:latin typeface="Cambria Math" panose="02040503050406030204" pitchFamily="18" charset="0"/>
                              </a:rPr>
                              <m:t>𝑤</m:t>
                            </m:r>
                            <m:r>
                              <a:rPr lang="en-US" sz="2000" b="0" i="1" baseline="-25000" smtClean="0">
                                <a:latin typeface="Cambria Math" panose="02040503050406030204" pitchFamily="18" charset="0"/>
                              </a:rPr>
                              <m:t>𝑟</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m:t>
                            </m:r>
                          </m:e>
                        </m:nary>
                      </m:e>
                    </m:nary>
                    <m:r>
                      <m:rPr>
                        <m:sty m:val="p"/>
                      </m:rPr>
                      <a:rPr lang="en-US" sz="2000" b="0" i="0" smtClean="0">
                        <a:latin typeface="Cambria Math" panose="02040503050406030204" pitchFamily="18" charset="0"/>
                      </a:rPr>
                      <m:t>t</m:t>
                    </m:r>
                    <m:r>
                      <a:rPr lang="en-US" sz="2000" b="0" i="1" smtClean="0">
                        <a:latin typeface="Cambria Math" panose="02040503050406030204" pitchFamily="18" charset="0"/>
                      </a:rPr>
                      <m:t>|</m:t>
                    </m:r>
                  </m:oMath>
                </a14:m>
                <a:r>
                  <a:rPr lang="en-US" sz="2000" baseline="30000" dirty="0" smtClean="0"/>
                  <a:t>2</a:t>
                </a:r>
                <a:r>
                  <a:rPr lang="en-US" sz="2000" dirty="0"/>
                  <a:t> </a:t>
                </a:r>
                <a:r>
                  <a:rPr lang="en-US" sz="2000" dirty="0" smtClean="0"/>
                  <a:t> </a:t>
                </a:r>
              </a:p>
              <a:p>
                <a:pPr marL="0" indent="0">
                  <a:buNone/>
                </a:pPr>
                <a:r>
                  <a:rPr lang="en-US" sz="2000" dirty="0"/>
                  <a:t> </a:t>
                </a:r>
                <a:r>
                  <a:rPr lang="en-US" sz="2000" dirty="0" smtClean="0"/>
                  <a:t>         </a:t>
                </a:r>
              </a:p>
              <a:p>
                <a:pPr marL="0" indent="0">
                  <a:buNone/>
                </a:pPr>
                <a:r>
                  <a:rPr lang="en-US" sz="2000" dirty="0"/>
                  <a:t> </a:t>
                </a:r>
                <a:r>
                  <a:rPr lang="en-US" sz="2000" dirty="0" smtClean="0"/>
                  <a:t>                        subject to         </a:t>
                </a:r>
                <a:r>
                  <a:rPr lang="el-GR" sz="2000" dirty="0" smtClean="0">
                    <a:latin typeface="Calibri" panose="020F0502020204030204" pitchFamily="34" charset="0"/>
                    <a:cs typeface="Calibri" panose="020F0502020204030204" pitchFamily="34" charset="0"/>
                  </a:rPr>
                  <a:t>ϒ</a:t>
                </a:r>
                <a:r>
                  <a:rPr lang="en-US" sz="2000" baseline="-25000" dirty="0" smtClean="0">
                    <a:latin typeface="Calibri" panose="020F0502020204030204" pitchFamily="34" charset="0"/>
                    <a:cs typeface="Calibri" panose="020F0502020204030204" pitchFamily="34" charset="0"/>
                  </a:rPr>
                  <a:t>u</a:t>
                </a:r>
                <a:r>
                  <a:rPr lang="en-US" sz="2000" dirty="0" smtClean="0">
                    <a:latin typeface="Calibri" panose="020F0502020204030204" pitchFamily="34" charset="0"/>
                    <a:cs typeface="Calibri" panose="020F0502020204030204" pitchFamily="34" charset="0"/>
                  </a:rPr>
                  <a:t>(t) ≥ SINR</a:t>
                </a:r>
                <a:r>
                  <a:rPr lang="en-US" sz="2000" baseline="-25000" dirty="0" smtClean="0">
                    <a:latin typeface="Calibri" panose="020F0502020204030204" pitchFamily="34" charset="0"/>
                    <a:cs typeface="Calibri" panose="020F0502020204030204" pitchFamily="34" charset="0"/>
                  </a:rPr>
                  <a:t>u</a:t>
                </a:r>
                <a:r>
                  <a:rPr lang="en-US" sz="2000" dirty="0" smtClean="0">
                    <a:latin typeface="Calibri" panose="020F0502020204030204" pitchFamily="34" charset="0"/>
                    <a:cs typeface="Calibri" panose="020F0502020204030204" pitchFamily="34" charset="0"/>
                  </a:rPr>
                  <a:t>(t),    Ɐu</a:t>
                </a:r>
                <a14:m>
                  <m:oMath xmlns:m="http://schemas.openxmlformats.org/officeDocument/2006/math">
                    <m:r>
                      <a:rPr lang="en-US" sz="2000" i="1" smtClean="0">
                        <a:latin typeface="Cambria Math" panose="02040503050406030204" pitchFamily="18" charset="0"/>
                        <a:ea typeface="Cambria Math" panose="02040503050406030204" pitchFamily="18" charset="0"/>
                        <a:cs typeface="Calibri" panose="020F0502020204030204" pitchFamily="34" charset="0"/>
                      </a:rPr>
                      <m:t>∈</m:t>
                    </m:r>
                    <m:r>
                      <m:rPr>
                        <m:sty m:val="p"/>
                      </m:rPr>
                      <a:rPr lang="en-US" sz="2000" b="0" i="0" smtClean="0">
                        <a:latin typeface="Cambria Math" panose="02040503050406030204" pitchFamily="18" charset="0"/>
                        <a:ea typeface="Cambria Math" panose="02040503050406030204" pitchFamily="18" charset="0"/>
                        <a:cs typeface="Calibri" panose="020F0502020204030204" pitchFamily="34" charset="0"/>
                      </a:rPr>
                      <m:t>U</m:t>
                    </m:r>
                    <m:r>
                      <m:rPr>
                        <m:sty m:val="p"/>
                      </m:rPr>
                      <a:rPr lang="en-US" sz="2000" b="0" i="0" baseline="-25000" smtClean="0">
                        <a:latin typeface="Cambria Math" panose="02040503050406030204" pitchFamily="18" charset="0"/>
                        <a:ea typeface="Cambria Math" panose="02040503050406030204" pitchFamily="18" charset="0"/>
                        <a:cs typeface="Calibri" panose="020F0502020204030204" pitchFamily="34" charset="0"/>
                      </a:rPr>
                      <m:t>t</m:t>
                    </m:r>
                  </m:oMath>
                </a14:m>
                <a:endParaRPr lang="en-US" sz="2000" baseline="-25000" dirty="0" smtClean="0"/>
              </a:p>
              <a:p>
                <a:pPr marL="0" indent="0">
                  <a:buNone/>
                </a:pPr>
                <a:r>
                  <a:rPr lang="en-US" sz="2000" baseline="-25000" dirty="0"/>
                  <a:t> </a:t>
                </a:r>
                <a:r>
                  <a:rPr lang="en-US" sz="2000" baseline="-25000" dirty="0" smtClean="0"/>
                  <a:t>                                                                           </a:t>
                </a:r>
              </a:p>
              <a:p>
                <a:pPr marL="0" indent="0">
                  <a:buNone/>
                </a:pPr>
                <a:endParaRPr lang="en-US" sz="2000" baseline="-25000" dirty="0"/>
              </a:p>
              <a:p>
                <a:pPr marL="0" indent="0">
                  <a:buNone/>
                </a:pPr>
                <a:r>
                  <a:rPr lang="en-US" sz="2000" baseline="-25000" dirty="0" smtClean="0"/>
                  <a:t> </a:t>
                </a:r>
                <a:r>
                  <a:rPr lang="en-US" sz="2000" dirty="0" smtClean="0"/>
                  <a:t>                                                   </a:t>
                </a:r>
                <a14:m>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𝑢</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𝑈𝑡</m:t>
                        </m:r>
                      </m:sub>
                      <m:sup/>
                      <m:e>
                        <m:r>
                          <a:rPr lang="en-US" sz="2000" i="1" smtClean="0">
                            <a:latin typeface="Cambria Math" panose="02040503050406030204" pitchFamily="18" charset="0"/>
                          </a:rPr>
                          <m:t>|</m:t>
                        </m:r>
                        <m:r>
                          <a:rPr lang="en-US" sz="2000" b="0" i="1" smtClean="0">
                            <a:latin typeface="Cambria Math" panose="02040503050406030204" pitchFamily="18" charset="0"/>
                          </a:rPr>
                          <m:t>𝑤</m:t>
                        </m:r>
                        <m:r>
                          <a:rPr lang="en-US" sz="2000" b="0" i="1" baseline="-25000" smtClean="0">
                            <a:latin typeface="Cambria Math" panose="02040503050406030204" pitchFamily="18" charset="0"/>
                          </a:rPr>
                          <m:t>𝑟</m:t>
                        </m:r>
                        <m:r>
                          <a:rPr lang="en-US" sz="2000" b="0" i="1" baseline="-25000" smtClean="0">
                            <a:latin typeface="Cambria Math" panose="02040503050406030204" pitchFamily="18" charset="0"/>
                          </a:rPr>
                          <m:t>,</m:t>
                        </m:r>
                        <m:r>
                          <a:rPr lang="en-US" sz="2000" b="0" i="1" baseline="-25000" smtClean="0">
                            <a:latin typeface="Cambria Math" panose="02040503050406030204" pitchFamily="18" charset="0"/>
                          </a:rPr>
                          <m:t>𝑢</m:t>
                        </m:r>
                        <m:r>
                          <a:rPr lang="en-US" sz="2000" b="0" i="1" baseline="-25000" smtClean="0">
                            <a:latin typeface="Cambria Math" panose="02040503050406030204" pitchFamily="18" charset="0"/>
                          </a:rPr>
                          <m:t> </m:t>
                        </m:r>
                        <m:r>
                          <a:rPr lang="en-US" sz="2000" b="0" i="1" smtClean="0">
                            <a:latin typeface="Cambria Math" panose="02040503050406030204" pitchFamily="18" charset="0"/>
                          </a:rPr>
                          <m:t>𝑡</m:t>
                        </m:r>
                        <m:r>
                          <a:rPr lang="en-US" sz="2000" b="0" i="1" smtClean="0">
                            <a:latin typeface="Cambria Math" panose="02040503050406030204" pitchFamily="18" charset="0"/>
                          </a:rPr>
                          <m:t>|2</m:t>
                        </m:r>
                      </m:e>
                    </m:nary>
                  </m:oMath>
                </a14:m>
                <a:r>
                  <a:rPr lang="en-US" sz="2000" dirty="0" smtClean="0"/>
                  <a:t> ≤  </a:t>
                </a:r>
                <a:r>
                  <a:rPr lang="en-US" sz="2000" i="1" dirty="0" smtClean="0"/>
                  <a:t>pr</a:t>
                </a:r>
                <a:r>
                  <a:rPr lang="en-US" sz="2000" dirty="0"/>
                  <a:t> </a:t>
                </a:r>
                <a:r>
                  <a:rPr lang="en-US" sz="2000" i="1" dirty="0" smtClean="0"/>
                  <a:t>transmit</a:t>
                </a:r>
                <a:r>
                  <a:rPr lang="en-US" sz="2000" dirty="0" smtClean="0"/>
                  <a:t>,     </a:t>
                </a:r>
                <a:r>
                  <a:rPr lang="en-US" sz="2000" dirty="0" smtClean="0">
                    <a:latin typeface="Calibri" panose="020F0502020204030204" pitchFamily="34" charset="0"/>
                    <a:cs typeface="Calibri" panose="020F0502020204030204" pitchFamily="34" charset="0"/>
                  </a:rPr>
                  <a:t>Ɐr</a:t>
                </a:r>
                <a:r>
                  <a:rPr lang="el-GR" sz="2000" dirty="0" smtClean="0">
                    <a:latin typeface="Calibri" panose="020F0502020204030204" pitchFamily="34" charset="0"/>
                    <a:cs typeface="Calibri" panose="020F0502020204030204" pitchFamily="34" charset="0"/>
                  </a:rPr>
                  <a:t>ϵ</a:t>
                </a:r>
                <a:r>
                  <a:rPr lang="en-US" sz="2000" dirty="0" smtClean="0">
                    <a:latin typeface="Calibri" panose="020F0502020204030204" pitchFamily="34" charset="0"/>
                    <a:cs typeface="Calibri" panose="020F0502020204030204" pitchFamily="34" charset="0"/>
                  </a:rPr>
                  <a:t>Mt</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2000" dirty="0" smtClean="0">
                    <a:latin typeface="Calibri" panose="020F0502020204030204" pitchFamily="34" charset="0"/>
                    <a:cs typeface="Calibri" panose="020F0502020204030204" pitchFamily="34" charset="0"/>
                  </a:rPr>
                  <a:t>                              where                SINR</a:t>
                </a:r>
                <a:r>
                  <a:rPr lang="en-US" sz="2000" baseline="-25000" dirty="0" smtClean="0">
                    <a:latin typeface="Calibri" panose="020F0502020204030204" pitchFamily="34" charset="0"/>
                    <a:cs typeface="Calibri" panose="020F0502020204030204" pitchFamily="34" charset="0"/>
                  </a:rPr>
                  <a:t>u</a:t>
                </a:r>
                <a:r>
                  <a:rPr lang="en-US" sz="2000" dirty="0" smtClean="0">
                    <a:latin typeface="Calibri" panose="020F0502020204030204" pitchFamily="34" charset="0"/>
                    <a:cs typeface="Calibri" panose="020F0502020204030204" pitchFamily="34" charset="0"/>
                  </a:rPr>
                  <a:t>(t)   =  Ʈm(2</a:t>
                </a:r>
                <a14:m>
                  <m:oMath xmlns:m="http://schemas.openxmlformats.org/officeDocument/2006/math">
                    <m:r>
                      <m:rPr>
                        <m:sty m:val="p"/>
                      </m:rPr>
                      <a:rPr lang="en-US" sz="2000" baseline="30000">
                        <a:latin typeface="Cambria Math" panose="02040503050406030204" pitchFamily="18" charset="0"/>
                        <a:cs typeface="Calibri" panose="020F0502020204030204" pitchFamily="34" charset="0"/>
                      </a:rPr>
                      <m:t>D</m:t>
                    </m:r>
                    <m:r>
                      <m:rPr>
                        <m:sty m:val="p"/>
                      </m:rPr>
                      <a:rPr lang="en-US" sz="2000" b="0" i="0" baseline="30000" smtClean="0">
                        <a:latin typeface="Cambria Math" panose="02040503050406030204" pitchFamily="18" charset="0"/>
                        <a:cs typeface="Calibri" panose="020F0502020204030204" pitchFamily="34" charset="0"/>
                      </a:rPr>
                      <m:t>u</m:t>
                    </m:r>
                    <m:r>
                      <a:rPr lang="en-US" sz="2000" b="0" i="0" baseline="30000" smtClean="0">
                        <a:latin typeface="Cambria Math" panose="02040503050406030204" pitchFamily="18" charset="0"/>
                        <a:cs typeface="Calibri" panose="020F0502020204030204" pitchFamily="34" charset="0"/>
                      </a:rPr>
                      <m:t>(</m:t>
                    </m:r>
                    <m:r>
                      <m:rPr>
                        <m:sty m:val="p"/>
                      </m:rPr>
                      <a:rPr lang="en-US" sz="2000" b="0" i="0" baseline="30000" smtClean="0">
                        <a:latin typeface="Cambria Math" panose="02040503050406030204" pitchFamily="18" charset="0"/>
                        <a:cs typeface="Calibri" panose="020F0502020204030204" pitchFamily="34" charset="0"/>
                      </a:rPr>
                      <m:t>t</m:t>
                    </m:r>
                    <m:r>
                      <a:rPr lang="en-US" sz="2000" b="0" i="0" baseline="30000" smtClean="0">
                        <a:latin typeface="Cambria Math" panose="02040503050406030204" pitchFamily="18" charset="0"/>
                        <a:cs typeface="Calibri" panose="020F0502020204030204" pitchFamily="34" charset="0"/>
                      </a:rPr>
                      <m:t>)/</m:t>
                    </m:r>
                    <m:r>
                      <m:rPr>
                        <m:sty m:val="p"/>
                      </m:rPr>
                      <a:rPr lang="en-US" sz="2000" b="0" i="0" baseline="30000" smtClean="0">
                        <a:latin typeface="Cambria Math" panose="02040503050406030204" pitchFamily="18" charset="0"/>
                        <a:cs typeface="Calibri" panose="020F0502020204030204" pitchFamily="34" charset="0"/>
                      </a:rPr>
                      <m:t>B</m:t>
                    </m:r>
                    <m:r>
                      <a:rPr lang="en-US" sz="2000" b="0" i="0" baseline="30000" smtClean="0">
                        <a:latin typeface="Cambria Math" panose="02040503050406030204" pitchFamily="18" charset="0"/>
                        <a:cs typeface="Calibri" panose="020F0502020204030204" pitchFamily="34" charset="0"/>
                      </a:rPr>
                      <m:t> </m:t>
                    </m:r>
                  </m:oMath>
                </a14:m>
                <a:r>
                  <a:rPr lang="en-US" sz="2000" dirty="0" smtClean="0"/>
                  <a:t>-  1)</a:t>
                </a:r>
                <a:endParaRPr lang="en-US" sz="2000" baseline="30000" dirty="0"/>
              </a:p>
              <a:p>
                <a:pPr marL="0" indent="0">
                  <a:buNone/>
                </a:pPr>
                <a:endParaRPr lang="en-US" sz="2000" baseline="30000" dirty="0" smtClean="0"/>
              </a:p>
              <a:p>
                <a:pPr marL="0" indent="0">
                  <a:buNone/>
                </a:pPr>
                <a:r>
                  <a:rPr lang="en-US" sz="2000" baseline="30000" dirty="0"/>
                  <a:t> </a:t>
                </a:r>
                <a:endParaRPr lang="en-US" sz="2000" baseline="30000" dirty="0" smtClean="0"/>
              </a:p>
              <a:p>
                <a:pPr marL="0" indent="0">
                  <a:buNone/>
                </a:pPr>
                <a:r>
                  <a:rPr lang="en-US" sz="2000" baseline="30000" dirty="0" smtClean="0"/>
                  <a:t>                                </a:t>
                </a:r>
                <a:endParaRPr lang="en-US" sz="2000" baseline="30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785813"/>
                <a:ext cx="10515600" cy="5214937"/>
              </a:xfrm>
              <a:blipFill rotWithShape="0">
                <a:blip r:embed="rId2"/>
                <a:stretch>
                  <a:fillRect l="-638" t="-1287"/>
                </a:stretch>
              </a:blipFill>
            </p:spPr>
            <p:txBody>
              <a:bodyPr/>
              <a:lstStyle/>
              <a:p>
                <a:r>
                  <a:rPr lang="en-US">
                    <a:noFill/>
                  </a:rPr>
                  <a:t> </a:t>
                </a:r>
              </a:p>
            </p:txBody>
          </p:sp>
        </mc:Fallback>
      </mc:AlternateContent>
    </p:spTree>
    <p:extLst>
      <p:ext uri="{BB962C8B-B14F-4D97-AF65-F5344CB8AC3E}">
        <p14:creationId xmlns:p14="http://schemas.microsoft.com/office/powerpoint/2010/main" val="2330901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757239"/>
                <a:ext cx="10515600" cy="5286374"/>
              </a:xfrm>
            </p:spPr>
            <p:txBody>
              <a:bodyPr>
                <a:normAutofit/>
              </a:bodyPr>
              <a:lstStyle/>
              <a:p>
                <a:r>
                  <a:rPr lang="en-US" sz="2000" b="1" dirty="0" smtClean="0"/>
                  <a:t>Problem formulation of the fronthaul(FH</a:t>
                </a:r>
                <a:r>
                  <a:rPr lang="en-US" sz="2000" dirty="0" smtClean="0"/>
                  <a:t>)</a:t>
                </a:r>
              </a:p>
              <a:p>
                <a:pPr marL="0" indent="0">
                  <a:buNone/>
                </a:pPr>
                <a:r>
                  <a:rPr lang="en-US" sz="2000" dirty="0" smtClean="0"/>
                  <a:t>Minimizes    </a:t>
                </a:r>
                <a14:m>
                  <m:oMath xmlns:m="http://schemas.openxmlformats.org/officeDocument/2006/math">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𝑘</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𝐾</m:t>
                        </m:r>
                      </m:sup>
                      <m:e>
                        <m:r>
                          <a:rPr lang="en-US" sz="2000" i="1">
                            <a:solidFill>
                              <a:srgbClr val="E7E6E6">
                                <a:lumMod val="10000"/>
                              </a:srgbClr>
                            </a:solidFill>
                            <a:latin typeface="Cambria Math" panose="02040503050406030204" pitchFamily="18" charset="0"/>
                          </a:rPr>
                          <m:t>𝑃</m:t>
                        </m:r>
                        <m:r>
                          <a:rPr lang="en-US" sz="2000" i="1" baseline="-25000">
                            <a:solidFill>
                              <a:srgbClr val="E7E6E6">
                                <a:lumMod val="10000"/>
                              </a:srgbClr>
                            </a:solidFill>
                            <a:latin typeface="Cambria Math" panose="02040503050406030204" pitchFamily="18" charset="0"/>
                          </a:rPr>
                          <m:t>𝐿𝐶</m:t>
                        </m:r>
                        <m:r>
                          <a:rPr lang="en-US" sz="2000" b="0" i="1" smtClean="0">
                            <a:solidFill>
                              <a:srgbClr val="E7E6E6">
                                <a:lumMod val="10000"/>
                              </a:srgbClr>
                            </a:solidFill>
                            <a:latin typeface="Cambria Math" panose="02040503050406030204" pitchFamily="18" charset="0"/>
                          </a:rPr>
                          <m:t> ∗</m:t>
                        </m:r>
                        <m:r>
                          <a:rPr lang="en-US" sz="2000" b="0" i="1" smtClean="0">
                            <a:solidFill>
                              <a:srgbClr val="E7E6E6">
                                <a:lumMod val="10000"/>
                              </a:srgbClr>
                            </a:solidFill>
                            <a:latin typeface="Cambria Math" panose="02040503050406030204" pitchFamily="18" charset="0"/>
                          </a:rPr>
                          <m:t>𝑦𝑘</m:t>
                        </m:r>
                        <m:r>
                          <a:rPr lang="en-US" sz="2000" b="0" i="1" baseline="-25000" smtClean="0">
                            <a:solidFill>
                              <a:srgbClr val="E7E6E6">
                                <a:lumMod val="10000"/>
                              </a:srgbClr>
                            </a:solidFill>
                            <a:latin typeface="Cambria Math" panose="02040503050406030204" pitchFamily="18" charset="0"/>
                          </a:rPr>
                          <m:t>,</m:t>
                        </m:r>
                        <m:r>
                          <a:rPr lang="en-US" sz="2000" b="0" i="1" baseline="-25000" smtClean="0">
                            <a:solidFill>
                              <a:srgbClr val="E7E6E6">
                                <a:lumMod val="10000"/>
                              </a:srgbClr>
                            </a:solidFill>
                            <a:latin typeface="Cambria Math" panose="02040503050406030204" pitchFamily="18" charset="0"/>
                          </a:rPr>
                          <m:t>𝑗</m:t>
                        </m:r>
                      </m:e>
                    </m:nary>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𝑖</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𝐻</m:t>
                        </m:r>
                      </m:sup>
                      <m:e>
                        <m:r>
                          <a:rPr lang="en-US" sz="2000" i="1">
                            <a:solidFill>
                              <a:srgbClr val="E7E6E6">
                                <a:lumMod val="10000"/>
                              </a:srgbClr>
                            </a:solidFill>
                            <a:latin typeface="Cambria Math" panose="02040503050406030204" pitchFamily="18" charset="0"/>
                          </a:rPr>
                          <m:t>𝑅</m:t>
                        </m:r>
                        <m:r>
                          <a:rPr lang="en-US" sz="2000" i="1" baseline="-25000">
                            <a:solidFill>
                              <a:srgbClr val="E7E6E6">
                                <a:lumMod val="10000"/>
                              </a:srgbClr>
                            </a:solidFill>
                            <a:latin typeface="Cambria Math" panose="02040503050406030204" pitchFamily="18" charset="0"/>
                          </a:rPr>
                          <m:t>𝑖</m:t>
                        </m:r>
                        <m:r>
                          <a:rPr lang="en-US" sz="2000" i="1" baseline="-25000">
                            <a:solidFill>
                              <a:srgbClr val="E7E6E6">
                                <a:lumMod val="10000"/>
                              </a:srgbClr>
                            </a:solidFill>
                            <a:latin typeface="Cambria Math" panose="02040503050406030204" pitchFamily="18" charset="0"/>
                          </a:rPr>
                          <m:t>,</m:t>
                        </m:r>
                        <m:r>
                          <a:rPr lang="en-US" sz="2000" i="1" baseline="-25000">
                            <a:solidFill>
                              <a:srgbClr val="E7E6E6">
                                <a:lumMod val="10000"/>
                              </a:srgbClr>
                            </a:solidFill>
                            <a:latin typeface="Cambria Math" panose="02040503050406030204" pitchFamily="18" charset="0"/>
                          </a:rPr>
                          <m:t>𝑘</m:t>
                        </m:r>
                        <m:r>
                          <a:rPr lang="en-US" sz="2000" i="1" baseline="-25000">
                            <a:solidFill>
                              <a:srgbClr val="E7E6E6">
                                <a:lumMod val="10000"/>
                              </a:srgbClr>
                            </a:solidFill>
                            <a:latin typeface="Cambria Math" panose="02040503050406030204" pitchFamily="18" charset="0"/>
                          </a:rPr>
                          <m:t> </m:t>
                        </m:r>
                        <m:r>
                          <a:rPr lang="en-US" sz="2000" i="1" baseline="30000">
                            <a:solidFill>
                              <a:srgbClr val="E7E6E6">
                                <a:lumMod val="10000"/>
                              </a:srgbClr>
                            </a:solidFill>
                            <a:latin typeface="Cambria Math" panose="02040503050406030204" pitchFamily="18" charset="0"/>
                          </a:rPr>
                          <m:t>𝐿𝐶</m:t>
                        </m:r>
                      </m:e>
                    </m:nary>
                  </m:oMath>
                </a14:m>
                <a:r>
                  <a:rPr lang="en-US" dirty="0">
                    <a:solidFill>
                      <a:srgbClr val="E7E6E6">
                        <a:lumMod val="10000"/>
                      </a:srgbClr>
                    </a:solidFill>
                  </a:rPr>
                  <a:t> </a:t>
                </a:r>
                <a14:m>
                  <m:oMath xmlns:m="http://schemas.openxmlformats.org/officeDocument/2006/math">
                    <m:r>
                      <a:rPr lang="en-US" sz="2000" dirty="0">
                        <a:solidFill>
                          <a:srgbClr val="E7E6E6">
                            <a:lumMod val="10000"/>
                          </a:srgbClr>
                        </a:solidFill>
                        <a:latin typeface="Cambria Math" panose="02040503050406030204" pitchFamily="18" charset="0"/>
                      </a:rPr>
                      <m:t>+</m:t>
                    </m:r>
                    <m:nary>
                      <m:naryPr>
                        <m:chr m:val="∑"/>
                        <m:limLoc m:val="subSup"/>
                        <m:ctrlPr>
                          <a:rPr lang="en-US" sz="2000" i="1" dirty="0">
                            <a:solidFill>
                              <a:srgbClr val="E7E6E6">
                                <a:lumMod val="10000"/>
                              </a:srgbClr>
                            </a:solidFill>
                            <a:latin typeface="Cambria Math" panose="02040503050406030204" pitchFamily="18" charset="0"/>
                          </a:rPr>
                        </m:ctrlPr>
                      </m:naryPr>
                      <m:sub>
                        <m:r>
                          <m:rPr>
                            <m:brk m:alnAt="25"/>
                          </m:rPr>
                          <a:rPr lang="en-US" sz="2000" i="1" dirty="0">
                            <a:solidFill>
                              <a:srgbClr val="E7E6E6">
                                <a:lumMod val="10000"/>
                              </a:srgbClr>
                            </a:solidFill>
                            <a:latin typeface="Cambria Math" panose="02040503050406030204" pitchFamily="18" charset="0"/>
                          </a:rPr>
                          <m:t>𝑔</m:t>
                        </m:r>
                        <m:r>
                          <a:rPr lang="en-US" sz="2000" i="1" dirty="0">
                            <a:solidFill>
                              <a:srgbClr val="E7E6E6">
                                <a:lumMod val="10000"/>
                              </a:srgbClr>
                            </a:solidFill>
                            <a:latin typeface="Cambria Math" panose="02040503050406030204" pitchFamily="18" charset="0"/>
                          </a:rPr>
                          <m:t>=1</m:t>
                        </m:r>
                      </m:sub>
                      <m:sup>
                        <m:r>
                          <a:rPr lang="en-US" sz="2000" i="1" dirty="0">
                            <a:solidFill>
                              <a:srgbClr val="E7E6E6">
                                <a:lumMod val="10000"/>
                              </a:srgbClr>
                            </a:solidFill>
                            <a:latin typeface="Cambria Math" panose="02040503050406030204" pitchFamily="18" charset="0"/>
                          </a:rPr>
                          <m:t>𝐺</m:t>
                        </m:r>
                      </m:sup>
                      <m:e>
                        <m:r>
                          <a:rPr lang="en-US" sz="2000" i="1" dirty="0">
                            <a:solidFill>
                              <a:srgbClr val="E7E6E6">
                                <a:lumMod val="10000"/>
                              </a:srgbClr>
                            </a:solidFill>
                            <a:latin typeface="Cambria Math" panose="02040503050406030204" pitchFamily="18" charset="0"/>
                          </a:rPr>
                          <m:t>𝑃</m:t>
                        </m:r>
                        <m:r>
                          <a:rPr lang="en-US" sz="2000" i="1" baseline="-25000" dirty="0">
                            <a:solidFill>
                              <a:srgbClr val="E7E6E6">
                                <a:lumMod val="10000"/>
                              </a:srgbClr>
                            </a:solidFill>
                            <a:latin typeface="Cambria Math" panose="02040503050406030204" pitchFamily="18" charset="0"/>
                          </a:rPr>
                          <m:t>𝑅𝑁</m:t>
                        </m:r>
                      </m:e>
                    </m:nary>
                    <m:r>
                      <a:rPr lang="en-US" sz="2000" b="0" i="0" dirty="0" smtClean="0">
                        <a:solidFill>
                          <a:srgbClr val="E7E6E6">
                            <a:lumMod val="10000"/>
                          </a:srgbClr>
                        </a:solidFill>
                        <a:latin typeface="Cambria Math" panose="02040503050406030204" pitchFamily="18" charset="0"/>
                      </a:rPr>
                      <m:t>∗</m:t>
                    </m:r>
                    <m:r>
                      <m:rPr>
                        <m:sty m:val="p"/>
                      </m:rPr>
                      <a:rPr lang="en-US" sz="2000" b="0" i="0" dirty="0" smtClean="0">
                        <a:solidFill>
                          <a:srgbClr val="E7E6E6">
                            <a:lumMod val="10000"/>
                          </a:srgbClr>
                        </a:solidFill>
                        <a:latin typeface="Cambria Math" panose="02040503050406030204" pitchFamily="18" charset="0"/>
                      </a:rPr>
                      <m:t>sg</m:t>
                    </m:r>
                  </m:oMath>
                </a14:m>
                <a:r>
                  <a:rPr lang="en-US" dirty="0" smtClean="0">
                    <a:solidFill>
                      <a:srgbClr val="E7E6E6">
                        <a:lumMod val="10000"/>
                      </a:srgbClr>
                    </a:solidFill>
                  </a:rPr>
                  <a:t>+</a:t>
                </a:r>
                <a14:m>
                  <m:oMath xmlns:m="http://schemas.openxmlformats.org/officeDocument/2006/math">
                    <m:nary>
                      <m:naryPr>
                        <m:chr m:val="∑"/>
                        <m:limLoc m:val="subSup"/>
                        <m:ctrlPr>
                          <a:rPr lang="en-US" sz="2000" i="1" dirty="0">
                            <a:solidFill>
                              <a:srgbClr val="E7E6E6">
                                <a:lumMod val="10000"/>
                              </a:srgbClr>
                            </a:solidFill>
                            <a:latin typeface="Cambria Math" panose="02040503050406030204" pitchFamily="18" charset="0"/>
                          </a:rPr>
                        </m:ctrlPr>
                      </m:naryPr>
                      <m:sub>
                        <m:r>
                          <m:rPr>
                            <m:brk m:alnAt="25"/>
                          </m:rPr>
                          <a:rPr lang="en-US" sz="2000" i="1" dirty="0">
                            <a:solidFill>
                              <a:srgbClr val="E7E6E6">
                                <a:lumMod val="10000"/>
                              </a:srgbClr>
                            </a:solidFill>
                            <a:latin typeface="Cambria Math" panose="02040503050406030204" pitchFamily="18" charset="0"/>
                          </a:rPr>
                          <m:t>𝑙</m:t>
                        </m:r>
                        <m:r>
                          <a:rPr lang="en-US" sz="2000" i="1" dirty="0">
                            <a:solidFill>
                              <a:srgbClr val="E7E6E6">
                                <a:lumMod val="10000"/>
                              </a:srgbClr>
                            </a:solidFill>
                            <a:latin typeface="Cambria Math" panose="02040503050406030204" pitchFamily="18" charset="0"/>
                          </a:rPr>
                          <m:t>=1</m:t>
                        </m:r>
                      </m:sub>
                      <m:sup>
                        <m:r>
                          <a:rPr lang="en-US" sz="2000" i="1" dirty="0">
                            <a:solidFill>
                              <a:srgbClr val="E7E6E6">
                                <a:lumMod val="10000"/>
                              </a:srgbClr>
                            </a:solidFill>
                            <a:latin typeface="Cambria Math" panose="02040503050406030204" pitchFamily="18" charset="0"/>
                          </a:rPr>
                          <m:t>𝐿</m:t>
                        </m:r>
                      </m:sup>
                      <m:e>
                        <m:r>
                          <a:rPr lang="en-US" sz="2000" i="1" dirty="0">
                            <a:solidFill>
                              <a:srgbClr val="E7E6E6">
                                <a:lumMod val="10000"/>
                              </a:srgbClr>
                            </a:solidFill>
                            <a:latin typeface="Cambria Math" panose="02040503050406030204" pitchFamily="18" charset="0"/>
                          </a:rPr>
                          <m:t>𝑃</m:t>
                        </m:r>
                        <m:r>
                          <a:rPr lang="en-US" sz="2000" i="1" baseline="-25000" dirty="0">
                            <a:solidFill>
                              <a:srgbClr val="E7E6E6">
                                <a:lumMod val="10000"/>
                              </a:srgbClr>
                            </a:solidFill>
                            <a:latin typeface="Cambria Math" panose="02040503050406030204" pitchFamily="18" charset="0"/>
                          </a:rPr>
                          <m:t>𝑂𝑁𝑈</m:t>
                        </m:r>
                      </m:e>
                    </m:nary>
                    <m:r>
                      <a:rPr lang="en-US" sz="2000" b="0" i="0" baseline="-25000" dirty="0" smtClean="0">
                        <a:solidFill>
                          <a:srgbClr val="E7E6E6">
                            <a:lumMod val="10000"/>
                          </a:srgbClr>
                        </a:solidFill>
                        <a:latin typeface="Cambria Math" panose="02040503050406030204" pitchFamily="18" charset="0"/>
                      </a:rPr>
                      <m:t> </m:t>
                    </m:r>
                    <m:r>
                      <a:rPr lang="en-US" sz="2000" b="0" i="0" dirty="0" smtClean="0">
                        <a:solidFill>
                          <a:srgbClr val="E7E6E6">
                            <a:lumMod val="10000"/>
                          </a:srgbClr>
                        </a:solidFill>
                        <a:latin typeface="Cambria Math" panose="02040503050406030204" pitchFamily="18" charset="0"/>
                      </a:rPr>
                      <m:t>∗</m:t>
                    </m:r>
                  </m:oMath>
                </a14:m>
                <a:r>
                  <a:rPr lang="en-US" sz="2000" dirty="0" smtClean="0"/>
                  <a:t>d</a:t>
                </a:r>
                <a:r>
                  <a:rPr lang="en-US" sz="2000" baseline="-25000" dirty="0" smtClean="0"/>
                  <a:t>l</a:t>
                </a:r>
              </a:p>
              <a:p>
                <a:pPr marL="0" indent="0">
                  <a:buNone/>
                </a:pPr>
                <a:endParaRPr lang="en-US" sz="2000" baseline="-25000" dirty="0"/>
              </a:p>
              <a:p>
                <a:pPr marL="0" indent="0">
                  <a:lnSpc>
                    <a:spcPct val="150000"/>
                  </a:lnSpc>
                  <a:buNone/>
                </a:pPr>
                <a:r>
                  <a:rPr lang="en-US" sz="2000" dirty="0" smtClean="0"/>
                  <a:t>Subject to      </a:t>
                </a:r>
                <a14:m>
                  <m:oMath xmlns:m="http://schemas.openxmlformats.org/officeDocument/2006/math">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𝑘</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𝐾</m:t>
                        </m:r>
                      </m:sup>
                      <m:e>
                        <m:r>
                          <a:rPr lang="en-US" sz="2000" i="1">
                            <a:solidFill>
                              <a:srgbClr val="E7E6E6">
                                <a:lumMod val="10000"/>
                              </a:srgbClr>
                            </a:solidFill>
                            <a:latin typeface="Cambria Math" panose="02040503050406030204" pitchFamily="18" charset="0"/>
                          </a:rPr>
                          <m:t>𝑦</m:t>
                        </m:r>
                        <m:r>
                          <a:rPr lang="en-US" sz="2000" i="1" baseline="-25000">
                            <a:solidFill>
                              <a:srgbClr val="E7E6E6">
                                <a:lumMod val="10000"/>
                              </a:srgbClr>
                            </a:solidFill>
                            <a:latin typeface="Cambria Math" panose="02040503050406030204" pitchFamily="18" charset="0"/>
                          </a:rPr>
                          <m:t>𝑘</m:t>
                        </m:r>
                        <m:r>
                          <a:rPr lang="en-US" sz="2000" i="1" baseline="-25000">
                            <a:solidFill>
                              <a:srgbClr val="E7E6E6">
                                <a:lumMod val="10000"/>
                              </a:srgbClr>
                            </a:solidFill>
                            <a:latin typeface="Cambria Math" panose="02040503050406030204" pitchFamily="18" charset="0"/>
                          </a:rPr>
                          <m:t>,</m:t>
                        </m:r>
                        <m:r>
                          <a:rPr lang="en-US" sz="2000" i="1" baseline="-25000">
                            <a:solidFill>
                              <a:srgbClr val="E7E6E6">
                                <a:lumMod val="10000"/>
                              </a:srgbClr>
                            </a:solidFill>
                            <a:latin typeface="Cambria Math" panose="02040503050406030204" pitchFamily="18" charset="0"/>
                          </a:rPr>
                          <m:t>𝑗</m:t>
                        </m:r>
                        <m:r>
                          <a:rPr lang="en-US" sz="2000" b="0" i="1" baseline="-25000" smtClean="0">
                            <a:solidFill>
                              <a:srgbClr val="E7E6E6">
                                <a:lumMod val="10000"/>
                              </a:srgbClr>
                            </a:solidFill>
                            <a:latin typeface="Cambria Math" panose="02040503050406030204" pitchFamily="18" charset="0"/>
                          </a:rPr>
                          <m:t>  </m:t>
                        </m:r>
                      </m:e>
                    </m:nary>
                  </m:oMath>
                </a14:m>
                <a:r>
                  <a:rPr lang="en-US" sz="2000" dirty="0" smtClean="0"/>
                  <a:t>≤  W</a:t>
                </a:r>
                <a:r>
                  <a:rPr lang="en-US" sz="2000" baseline="-25000" dirty="0" smtClean="0"/>
                  <a:t>k ,</a:t>
                </a:r>
                <a:r>
                  <a:rPr lang="en-US" sz="2000" dirty="0" smtClean="0"/>
                  <a:t>    </a:t>
                </a:r>
                <a:r>
                  <a:rPr lang="en-US" sz="2000" dirty="0" smtClean="0">
                    <a:latin typeface="Calibri" panose="020F0502020204030204" pitchFamily="34" charset="0"/>
                    <a:cs typeface="Calibri" panose="020F0502020204030204" pitchFamily="34" charset="0"/>
                  </a:rPr>
                  <a:t>Ɐj</a:t>
                </a:r>
                <a:r>
                  <a:rPr lang="el-GR" sz="2000" dirty="0" smtClean="0">
                    <a:latin typeface="Calibri" panose="020F0502020204030204" pitchFamily="34" charset="0"/>
                    <a:cs typeface="Calibri" panose="020F0502020204030204" pitchFamily="34" charset="0"/>
                  </a:rPr>
                  <a:t>ϵ</a:t>
                </a:r>
                <a:r>
                  <a:rPr lang="en-US" sz="2000" dirty="0" smtClean="0">
                    <a:latin typeface="Calibri" panose="020F0502020204030204" pitchFamily="34" charset="0"/>
                    <a:cs typeface="Calibri" panose="020F0502020204030204" pitchFamily="34" charset="0"/>
                  </a:rPr>
                  <a:t>M</a:t>
                </a:r>
              </a:p>
              <a:p>
                <a:pPr marL="0" lvl="0" indent="0">
                  <a:lnSpc>
                    <a:spcPct val="150000"/>
                  </a:lnSpc>
                  <a:buNone/>
                </a:pPr>
                <a:r>
                  <a:rPr lang="en-US" sz="2000" baseline="-25000" dirty="0">
                    <a:latin typeface="Calibri" panose="020F0502020204030204" pitchFamily="34" charset="0"/>
                    <a:cs typeface="Calibri" panose="020F0502020204030204" pitchFamily="34" charset="0"/>
                  </a:rPr>
                  <a:t> </a:t>
                </a:r>
                <a:r>
                  <a:rPr lang="en-US" sz="2000" baseline="-25000" dirty="0" smtClean="0">
                    <a:latin typeface="Calibri" panose="020F0502020204030204" pitchFamily="34" charset="0"/>
                    <a:cs typeface="Calibri" panose="020F0502020204030204" pitchFamily="34" charset="0"/>
                  </a:rPr>
                  <a:t>                                      </a:t>
                </a:r>
                <a14:m>
                  <m:oMath xmlns:m="http://schemas.openxmlformats.org/officeDocument/2006/math">
                    <m:nary>
                      <m:naryPr>
                        <m:chr m:val="∑"/>
                        <m:limLoc m:val="subSup"/>
                        <m:ctrlPr>
                          <a:rPr lang="en-US" sz="2000" i="1">
                            <a:solidFill>
                              <a:srgbClr val="E7E6E6">
                                <a:lumMod val="10000"/>
                              </a:srgbClr>
                            </a:solidFill>
                            <a:latin typeface="Cambria Math" panose="02040503050406030204" pitchFamily="18" charset="0"/>
                          </a:rPr>
                        </m:ctrlPr>
                      </m:naryPr>
                      <m:sub>
                        <m:r>
                          <m:rPr>
                            <m:brk m:alnAt="25"/>
                          </m:rPr>
                          <a:rPr lang="en-US" sz="2000" i="1">
                            <a:solidFill>
                              <a:srgbClr val="E7E6E6">
                                <a:lumMod val="10000"/>
                              </a:srgbClr>
                            </a:solidFill>
                            <a:latin typeface="Cambria Math" panose="02040503050406030204" pitchFamily="18" charset="0"/>
                          </a:rPr>
                          <m:t>𝑘</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𝐾</m:t>
                        </m:r>
                      </m:sup>
                      <m:e>
                        <m:r>
                          <a:rPr lang="en-US" sz="2000" i="1">
                            <a:solidFill>
                              <a:srgbClr val="E7E6E6">
                                <a:lumMod val="10000"/>
                              </a:srgbClr>
                            </a:solidFill>
                            <a:latin typeface="Cambria Math" panose="02040503050406030204" pitchFamily="18" charset="0"/>
                          </a:rPr>
                          <m:t>𝑦</m:t>
                        </m:r>
                        <m:r>
                          <a:rPr lang="en-US" sz="2000" i="1" baseline="-25000">
                            <a:solidFill>
                              <a:srgbClr val="E7E6E6">
                                <a:lumMod val="10000"/>
                              </a:srgbClr>
                            </a:solidFill>
                            <a:latin typeface="Cambria Math" panose="02040503050406030204" pitchFamily="18" charset="0"/>
                          </a:rPr>
                          <m:t>𝑘</m:t>
                        </m:r>
                        <m:r>
                          <a:rPr lang="en-US" sz="2000" i="1" baseline="-25000">
                            <a:solidFill>
                              <a:srgbClr val="E7E6E6">
                                <a:lumMod val="10000"/>
                              </a:srgbClr>
                            </a:solidFill>
                            <a:latin typeface="Cambria Math" panose="02040503050406030204" pitchFamily="18" charset="0"/>
                          </a:rPr>
                          <m:t>,</m:t>
                        </m:r>
                        <m:r>
                          <a:rPr lang="en-US" sz="2000" i="1" baseline="-25000">
                            <a:solidFill>
                              <a:srgbClr val="E7E6E6">
                                <a:lumMod val="10000"/>
                              </a:srgbClr>
                            </a:solidFill>
                            <a:latin typeface="Cambria Math" panose="02040503050406030204" pitchFamily="18" charset="0"/>
                          </a:rPr>
                          <m:t>𝑗</m:t>
                        </m:r>
                        <m:r>
                          <a:rPr lang="en-US" sz="2000" i="1" baseline="-25000">
                            <a:solidFill>
                              <a:srgbClr val="E7E6E6">
                                <a:lumMod val="10000"/>
                              </a:srgbClr>
                            </a:solidFill>
                            <a:latin typeface="Cambria Math" panose="02040503050406030204" pitchFamily="18" charset="0"/>
                          </a:rPr>
                          <m:t>  </m:t>
                        </m:r>
                      </m:e>
                    </m:nary>
                    <m:r>
                      <a:rPr lang="en-US" sz="2000" b="0" i="0" smtClean="0">
                        <a:solidFill>
                          <a:srgbClr val="E7E6E6">
                            <a:lumMod val="10000"/>
                          </a:srgbClr>
                        </a:solidFill>
                        <a:latin typeface="Cambria Math" panose="02040503050406030204" pitchFamily="18" charset="0"/>
                      </a:rPr>
                      <m:t>=1</m:t>
                    </m:r>
                    <m:r>
                      <a:rPr lang="en-US" sz="2000" b="0" i="0" baseline="-25000" smtClean="0">
                        <a:solidFill>
                          <a:srgbClr val="E7E6E6">
                            <a:lumMod val="10000"/>
                          </a:srgbClr>
                        </a:solidFill>
                        <a:latin typeface="Cambria Math" panose="02040503050406030204" pitchFamily="18" charset="0"/>
                      </a:rPr>
                      <m:t> </m:t>
                    </m:r>
                  </m:oMath>
                </a14:m>
                <a:r>
                  <a:rPr lang="en-US" sz="2000" baseline="-25000" dirty="0" smtClean="0">
                    <a:solidFill>
                      <a:srgbClr val="E7E6E6">
                        <a:lumMod val="10000"/>
                      </a:srgbClr>
                    </a:solidFill>
                  </a:rPr>
                  <a:t>,</a:t>
                </a:r>
                <a:r>
                  <a:rPr lang="en-US" sz="2000" dirty="0" smtClean="0">
                    <a:solidFill>
                      <a:srgbClr val="E7E6E6">
                        <a:lumMod val="10000"/>
                      </a:srgbClr>
                    </a:solidFill>
                  </a:rPr>
                  <a:t>      </a:t>
                </a:r>
                <a:r>
                  <a:rPr lang="en-US" sz="2000" dirty="0">
                    <a:solidFill>
                      <a:srgbClr val="E7E6E6">
                        <a:lumMod val="10000"/>
                      </a:srgbClr>
                    </a:solidFill>
                    <a:latin typeface="Calibri" panose="020F0502020204030204" pitchFamily="34" charset="0"/>
                    <a:cs typeface="Calibri" panose="020F0502020204030204" pitchFamily="34" charset="0"/>
                  </a:rPr>
                  <a:t>Ɐj</a:t>
                </a:r>
                <a:r>
                  <a:rPr lang="el-GR" sz="2000" dirty="0">
                    <a:solidFill>
                      <a:srgbClr val="E7E6E6">
                        <a:lumMod val="10000"/>
                      </a:srgbClr>
                    </a:solidFill>
                    <a:latin typeface="Calibri" panose="020F0502020204030204" pitchFamily="34" charset="0"/>
                    <a:cs typeface="Calibri" panose="020F0502020204030204" pitchFamily="34" charset="0"/>
                  </a:rPr>
                  <a:t>ϵ</a:t>
                </a:r>
                <a:r>
                  <a:rPr lang="en-US" sz="2000" dirty="0" smtClean="0">
                    <a:solidFill>
                      <a:srgbClr val="E7E6E6">
                        <a:lumMod val="10000"/>
                      </a:srgbClr>
                    </a:solidFill>
                    <a:latin typeface="Calibri" panose="020F0502020204030204" pitchFamily="34" charset="0"/>
                    <a:cs typeface="Calibri" panose="020F0502020204030204" pitchFamily="34" charset="0"/>
                  </a:rPr>
                  <a:t>M</a:t>
                </a:r>
              </a:p>
              <a:p>
                <a:pPr marL="0" lvl="0" indent="0">
                  <a:lnSpc>
                    <a:spcPct val="150000"/>
                  </a:lnSpc>
                  <a:buNone/>
                </a:pPr>
                <a:r>
                  <a:rPr lang="en-US" sz="2000" dirty="0">
                    <a:solidFill>
                      <a:srgbClr val="E7E6E6">
                        <a:lumMod val="10000"/>
                      </a:srgbClr>
                    </a:solidFill>
                    <a:latin typeface="Calibri" panose="020F0502020204030204" pitchFamily="34" charset="0"/>
                    <a:cs typeface="Calibri" panose="020F0502020204030204" pitchFamily="34" charset="0"/>
                  </a:rPr>
                  <a:t> </a:t>
                </a:r>
                <a:r>
                  <a:rPr lang="en-US" sz="2000" dirty="0" smtClean="0">
                    <a:solidFill>
                      <a:srgbClr val="E7E6E6">
                        <a:lumMod val="10000"/>
                      </a:srgbClr>
                    </a:solidFill>
                    <a:latin typeface="Calibri" panose="020F0502020204030204" pitchFamily="34" charset="0"/>
                    <a:cs typeface="Calibri" panose="020F0502020204030204" pitchFamily="34" charset="0"/>
                  </a:rPr>
                  <a:t>                            </a:t>
                </a:r>
                <a:r>
                  <a:rPr lang="en-US" sz="2000" i="1" dirty="0" smtClean="0">
                    <a:solidFill>
                      <a:srgbClr val="E7E6E6">
                        <a:lumMod val="10000"/>
                      </a:srgbClr>
                    </a:solidFill>
                    <a:latin typeface="Cambria Math" panose="02040503050406030204" pitchFamily="18" charset="0"/>
                    <a:ea typeface="Cambria Math" panose="02040503050406030204" pitchFamily="18" charset="0"/>
                    <a:cs typeface="Calibri" panose="020F0502020204030204" pitchFamily="34" charset="0"/>
                  </a:rPr>
                  <a:t>y</a:t>
                </a:r>
                <a:r>
                  <a:rPr lang="en-US" sz="2000" i="1" baseline="-25000" dirty="0" smtClean="0">
                    <a:solidFill>
                      <a:srgbClr val="E7E6E6">
                        <a:lumMod val="10000"/>
                      </a:srgbClr>
                    </a:solidFill>
                    <a:latin typeface="Cambria Math" panose="02040503050406030204" pitchFamily="18" charset="0"/>
                    <a:ea typeface="Cambria Math" panose="02040503050406030204" pitchFamily="18" charset="0"/>
                    <a:cs typeface="Calibri" panose="020F0502020204030204" pitchFamily="34" charset="0"/>
                  </a:rPr>
                  <a:t>k,j  </a:t>
                </a:r>
                <a:r>
                  <a:rPr lang="el-GR" sz="2000" dirty="0" smtClean="0">
                    <a:solidFill>
                      <a:srgbClr val="E7E6E6">
                        <a:lumMod val="10000"/>
                      </a:srgbClr>
                    </a:solidFill>
                    <a:latin typeface="Cambria Math" panose="02040503050406030204" pitchFamily="18"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mbria Math" panose="02040503050406030204" pitchFamily="18" charset="0"/>
                    <a:ea typeface="Cambria Math" panose="02040503050406030204" pitchFamily="18" charset="0"/>
                    <a:cs typeface="Calibri" panose="020F0502020204030204" pitchFamily="34" charset="0"/>
                  </a:rPr>
                  <a:t> {0,1},             </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Ɐ j</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M, k </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K</a:t>
                </a:r>
              </a:p>
              <a:p>
                <a:pPr marL="0" lvl="0" indent="0">
                  <a:lnSpc>
                    <a:spcPct val="150000"/>
                  </a:lnSpc>
                  <a:buNone/>
                </a:pPr>
                <a:r>
                  <a:rPr lang="en-US" sz="2000" dirty="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s</a:t>
                </a:r>
                <a:r>
                  <a:rPr lang="en-US" sz="2000" baseline="-25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g </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{0,1} ,                Ɐg</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G</a:t>
                </a:r>
              </a:p>
              <a:p>
                <a:pPr marL="0" lvl="0" indent="0">
                  <a:lnSpc>
                    <a:spcPct val="150000"/>
                  </a:lnSpc>
                  <a:buNone/>
                </a:pPr>
                <a:r>
                  <a:rPr lang="en-US" sz="2000" dirty="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d</a:t>
                </a:r>
                <a:r>
                  <a:rPr lang="en-US" sz="2000" baseline="-25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l  </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 {0,1},                  Ɐl</a:t>
                </a:r>
                <a:r>
                  <a:rPr lang="el-GR"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ϵ</a:t>
                </a:r>
                <a:r>
                  <a:rPr lang="en-US" sz="2000" dirty="0" smtClean="0">
                    <a:solidFill>
                      <a:srgbClr val="E7E6E6">
                        <a:lumMod val="10000"/>
                      </a:srgbClr>
                    </a:solidFill>
                    <a:latin typeface="Calibri" panose="020F0502020204030204" pitchFamily="34" charset="0"/>
                    <a:ea typeface="Cambria Math" panose="02040503050406030204" pitchFamily="18" charset="0"/>
                    <a:cs typeface="Calibri" panose="020F0502020204030204" pitchFamily="34" charset="0"/>
                  </a:rPr>
                  <a:t>L</a:t>
                </a:r>
                <a:endParaRPr lang="en-US" sz="2000" dirty="0">
                  <a:solidFill>
                    <a:srgbClr val="E7E6E6">
                      <a:lumMod val="10000"/>
                    </a:srgbClr>
                  </a:solidFill>
                  <a:latin typeface="Cambria Math" panose="02040503050406030204" pitchFamily="18" charset="0"/>
                  <a:ea typeface="Cambria Math" panose="02040503050406030204" pitchFamily="18" charset="0"/>
                </a:endParaRPr>
              </a:p>
              <a:p>
                <a:pPr marL="0" indent="0">
                  <a:lnSpc>
                    <a:spcPct val="150000"/>
                  </a:lnSpc>
                  <a:buNone/>
                </a:pPr>
                <a:r>
                  <a:rPr lang="en-US" sz="2000" baseline="-25000" dirty="0" smtClean="0">
                    <a:latin typeface="Calibri" panose="020F0502020204030204" pitchFamily="34" charset="0"/>
                    <a:cs typeface="Calibri" panose="020F0502020204030204" pitchFamily="34" charset="0"/>
                  </a:rPr>
                  <a:t> </a:t>
                </a:r>
                <a:endParaRPr lang="en-US" sz="2000" baseline="-25000"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757239"/>
                <a:ext cx="10515600" cy="5286374"/>
              </a:xfrm>
              <a:blipFill rotWithShape="0">
                <a:blip r:embed="rId2"/>
                <a:stretch>
                  <a:fillRect l="-638" t="-1153"/>
                </a:stretch>
              </a:blipFill>
            </p:spPr>
            <p:txBody>
              <a:bodyPr/>
              <a:lstStyle/>
              <a:p>
                <a:r>
                  <a:rPr lang="en-US">
                    <a:noFill/>
                  </a:rPr>
                  <a:t> </a:t>
                </a:r>
              </a:p>
            </p:txBody>
          </p:sp>
        </mc:Fallback>
      </mc:AlternateContent>
    </p:spTree>
    <p:extLst>
      <p:ext uri="{BB962C8B-B14F-4D97-AF65-F5344CB8AC3E}">
        <p14:creationId xmlns:p14="http://schemas.microsoft.com/office/powerpoint/2010/main" val="1967738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728663"/>
                <a:ext cx="10515600" cy="5329237"/>
              </a:xfrm>
            </p:spPr>
            <p:txBody>
              <a:bodyPr>
                <a:normAutofit fontScale="92500" lnSpcReduction="10000"/>
              </a:bodyPr>
              <a:lstStyle/>
              <a:p>
                <a:r>
                  <a:rPr lang="en-US" sz="2000" b="1" dirty="0" smtClean="0"/>
                  <a:t>Problem formulation of the BBU Pool</a:t>
                </a:r>
              </a:p>
              <a:p>
                <a:pPr marL="0" lvl="0" indent="0">
                  <a:lnSpc>
                    <a:spcPct val="150000"/>
                  </a:lnSpc>
                  <a:buNone/>
                </a:pPr>
                <a:r>
                  <a:rPr lang="en-US" sz="2000" dirty="0" smtClean="0"/>
                  <a:t>        Minimizes    </a:t>
                </a:r>
                <a14:m>
                  <m:oMath xmlns:m="http://schemas.openxmlformats.org/officeDocument/2006/math">
                    <m:nary>
                      <m:naryPr>
                        <m:chr m:val="∑"/>
                        <m:ctrlPr>
                          <a:rPr lang="en-US" sz="2000" i="1">
                            <a:solidFill>
                              <a:srgbClr val="E7E6E6">
                                <a:lumMod val="10000"/>
                              </a:srgbClr>
                            </a:solidFill>
                            <a:latin typeface="Cambria Math" panose="02040503050406030204" pitchFamily="18" charset="0"/>
                          </a:rPr>
                        </m:ctrlPr>
                      </m:naryPr>
                      <m:sub>
                        <m:r>
                          <m:rPr>
                            <m:sty m:val="p"/>
                          </m:rPr>
                          <a:rPr lang="el-GR" sz="2000" i="1" smtClean="0">
                            <a:solidFill>
                              <a:srgbClr val="E7E6E6">
                                <a:lumMod val="10000"/>
                              </a:srgbClr>
                            </a:solidFill>
                            <a:latin typeface="Cambria Math" panose="02040503050406030204" pitchFamily="18" charset="0"/>
                          </a:rPr>
                          <m:t>β</m:t>
                        </m:r>
                        <m:r>
                          <a:rPr lang="en-US" sz="2000" b="0" i="1" smtClean="0">
                            <a:solidFill>
                              <a:srgbClr val="E7E6E6">
                                <a:lumMod val="10000"/>
                              </a:srgbClr>
                            </a:solidFill>
                            <a:latin typeface="Cambria Math" panose="02040503050406030204" pitchFamily="18" charset="0"/>
                          </a:rPr>
                          <m:t>𝑖</m:t>
                        </m:r>
                        <m:r>
                          <a:rPr lang="en-US" sz="2000" b="0" i="1" smtClean="0">
                            <a:solidFill>
                              <a:srgbClr val="E7E6E6">
                                <a:lumMod val="10000"/>
                              </a:srgbClr>
                            </a:solidFill>
                            <a:latin typeface="Cambria Math" panose="02040503050406030204" pitchFamily="18" charset="0"/>
                          </a:rPr>
                          <m:t>,</m:t>
                        </m:r>
                        <m:r>
                          <m:rPr>
                            <m:brk m:alnAt="23"/>
                          </m:rPr>
                          <a:rPr lang="en-US" sz="2000" i="1">
                            <a:solidFill>
                              <a:srgbClr val="E7E6E6">
                                <a:lumMod val="10000"/>
                              </a:srgbClr>
                            </a:solidFill>
                            <a:latin typeface="Cambria Math" panose="02040503050406030204" pitchFamily="18" charset="0"/>
                          </a:rPr>
                          <m:t>𝑗</m:t>
                        </m:r>
                        <m:r>
                          <a:rPr lang="en-US" sz="2000" b="0" i="1" smtClean="0">
                            <a:solidFill>
                              <a:srgbClr val="E7E6E6">
                                <a:lumMod val="10000"/>
                              </a:srgbClr>
                            </a:solidFill>
                            <a:latin typeface="Cambria Math" panose="02040503050406030204" pitchFamily="18" charset="0"/>
                          </a:rPr>
                          <m:t>,</m:t>
                        </m:r>
                        <m:r>
                          <a:rPr lang="en-US" sz="2000" b="0" i="1" smtClean="0">
                            <a:solidFill>
                              <a:srgbClr val="E7E6E6">
                                <a:lumMod val="10000"/>
                              </a:srgbClr>
                            </a:solidFill>
                            <a:latin typeface="Cambria Math" panose="02040503050406030204" pitchFamily="18" charset="0"/>
                          </a:rPr>
                          <m:t>𝑢</m:t>
                        </m:r>
                        <m:r>
                          <a:rPr lang="en-US" sz="2000" i="1">
                            <a:solidFill>
                              <a:srgbClr val="E7E6E6">
                                <a:lumMod val="10000"/>
                              </a:srgbClr>
                            </a:solidFill>
                            <a:latin typeface="Cambria Math" panose="02040503050406030204" pitchFamily="18" charset="0"/>
                          </a:rPr>
                          <m:t>=1</m:t>
                        </m:r>
                      </m:sub>
                      <m:sup>
                        <m:r>
                          <a:rPr lang="en-US" sz="2000" i="1">
                            <a:solidFill>
                              <a:srgbClr val="E7E6E6">
                                <a:lumMod val="10000"/>
                              </a:srgbClr>
                            </a:solidFill>
                            <a:latin typeface="Cambria Math" panose="02040503050406030204" pitchFamily="18" charset="0"/>
                          </a:rPr>
                          <m:t>𝑀</m:t>
                        </m:r>
                      </m:sup>
                      <m:e>
                        <m:r>
                          <a:rPr lang="en-US" sz="2000" i="1">
                            <a:solidFill>
                              <a:srgbClr val="E7E6E6">
                                <a:lumMod val="10000"/>
                              </a:srgbClr>
                            </a:solidFill>
                            <a:latin typeface="Cambria Math" panose="02040503050406030204" pitchFamily="18" charset="0"/>
                          </a:rPr>
                          <m:t>(</m:t>
                        </m:r>
                        <m:r>
                          <a:rPr lang="en-US" sz="2000" i="1" smtClean="0">
                            <a:solidFill>
                              <a:srgbClr val="E7E6E6">
                                <a:lumMod val="10000"/>
                              </a:srgbClr>
                            </a:solidFill>
                            <a:latin typeface="Cambria Math" panose="02040503050406030204" pitchFamily="18" charset="0"/>
                          </a:rPr>
                          <m:t>Ʈ</m:t>
                        </m:r>
                        <m:r>
                          <m:rPr>
                            <m:sty m:val="p"/>
                          </m:rPr>
                          <a:rPr lang="en-US" sz="2000" b="0" i="0" baseline="-25000" smtClean="0">
                            <a:solidFill>
                              <a:srgbClr val="E7E6E6">
                                <a:lumMod val="10000"/>
                              </a:srgbClr>
                            </a:solidFill>
                            <a:latin typeface="Cambria Math" panose="02040503050406030204" pitchFamily="18" charset="0"/>
                          </a:rPr>
                          <m:t>j</m:t>
                        </m:r>
                        <m:r>
                          <m:rPr>
                            <m:sty m:val="p"/>
                          </m:rPr>
                          <a:rPr lang="en-US" sz="2000">
                            <a:solidFill>
                              <a:srgbClr val="E7E6E6">
                                <a:lumMod val="10000"/>
                              </a:srgbClr>
                            </a:solidFill>
                            <a:latin typeface="Cambria Math" panose="02040503050406030204" pitchFamily="18" charset="0"/>
                          </a:rPr>
                          <m:t>Pstat</m:t>
                        </m:r>
                        <m:r>
                          <a:rPr lang="en-US" sz="2000">
                            <a:solidFill>
                              <a:srgbClr val="E7E6E6">
                                <a:lumMod val="10000"/>
                              </a:srgbClr>
                            </a:solidFill>
                            <a:latin typeface="Cambria Math" panose="02040503050406030204" pitchFamily="18" charset="0"/>
                          </a:rPr>
                          <m:t>+</m:t>
                        </m:r>
                        <m:r>
                          <a:rPr lang="en-US" sz="2000" i="1">
                            <a:solidFill>
                              <a:srgbClr val="E7E6E6">
                                <a:lumMod val="10000"/>
                              </a:srgbClr>
                            </a:solidFill>
                            <a:latin typeface="Cambria Math" panose="02040503050406030204" pitchFamily="18" charset="0"/>
                          </a:rPr>
                          <m:t>∆</m:t>
                        </m:r>
                        <m:r>
                          <a:rPr lang="en-US" sz="2000" i="1">
                            <a:solidFill>
                              <a:srgbClr val="E7E6E6">
                                <a:lumMod val="10000"/>
                              </a:srgbClr>
                            </a:solidFill>
                            <a:latin typeface="Cambria Math" panose="02040503050406030204" pitchFamily="18" charset="0"/>
                          </a:rPr>
                          <m:t>𝑝</m:t>
                        </m:r>
                        <m:r>
                          <a:rPr lang="en-US" sz="2000" i="1">
                            <a:solidFill>
                              <a:srgbClr val="E7E6E6">
                                <a:lumMod val="10000"/>
                              </a:srgbClr>
                            </a:solidFill>
                            <a:latin typeface="Cambria Math" panose="02040503050406030204" pitchFamily="18" charset="0"/>
                          </a:rPr>
                          <m:t>(</m:t>
                        </m:r>
                        <m:r>
                          <a:rPr lang="en-US" sz="2000" i="1">
                            <a:solidFill>
                              <a:srgbClr val="E7E6E6">
                                <a:lumMod val="10000"/>
                              </a:srgbClr>
                            </a:solidFill>
                            <a:latin typeface="Cambria Math" panose="02040503050406030204" pitchFamily="18" charset="0"/>
                          </a:rPr>
                          <m:t>𝑃𝐶𝑃𝑈</m:t>
                        </m:r>
                        <m:r>
                          <a:rPr lang="en-US" sz="2000" i="1">
                            <a:solidFill>
                              <a:srgbClr val="E7E6E6">
                                <a:lumMod val="10000"/>
                              </a:srgbClr>
                            </a:solidFill>
                            <a:latin typeface="Cambria Math" panose="02040503050406030204" pitchFamily="18" charset="0"/>
                          </a:rPr>
                          <m:t>+</m:t>
                        </m:r>
                        <m:r>
                          <a:rPr lang="en-US" sz="2000" i="1">
                            <a:solidFill>
                              <a:srgbClr val="E7E6E6">
                                <a:lumMod val="10000"/>
                              </a:srgbClr>
                            </a:solidFill>
                            <a:latin typeface="Cambria Math" panose="02040503050406030204" pitchFamily="18" charset="0"/>
                          </a:rPr>
                          <m:t>𝑃𝑀𝐸𝑀</m:t>
                        </m:r>
                        <m:r>
                          <a:rPr lang="en-US" sz="2000" i="1">
                            <a:solidFill>
                              <a:srgbClr val="E7E6E6">
                                <a:lumMod val="10000"/>
                              </a:srgbClr>
                            </a:solidFill>
                            <a:latin typeface="Cambria Math" panose="02040503050406030204" pitchFamily="18" charset="0"/>
                          </a:rPr>
                          <m:t>+</m:t>
                        </m:r>
                        <m:r>
                          <a:rPr lang="en-US" sz="2000" i="1">
                            <a:solidFill>
                              <a:srgbClr val="E7E6E6">
                                <a:lumMod val="10000"/>
                              </a:srgbClr>
                            </a:solidFill>
                            <a:latin typeface="Cambria Math" panose="02040503050406030204" pitchFamily="18" charset="0"/>
                          </a:rPr>
                          <m:t>𝑃𝐼𝑂</m:t>
                        </m:r>
                        <m:r>
                          <a:rPr lang="en-US" sz="2000" i="1">
                            <a:solidFill>
                              <a:srgbClr val="E7E6E6">
                                <a:lumMod val="10000"/>
                              </a:srgbClr>
                            </a:solidFill>
                            <a:latin typeface="Cambria Math" panose="02040503050406030204" pitchFamily="18" charset="0"/>
                          </a:rPr>
                          <m:t>)</m:t>
                        </m:r>
                      </m:e>
                    </m:nary>
                    <m:nary>
                      <m:naryPr>
                        <m:chr m:val="∑"/>
                        <m:ctrlPr>
                          <a:rPr lang="en-US" sz="2000" i="1">
                            <a:solidFill>
                              <a:srgbClr val="E7E6E6">
                                <a:lumMod val="10000"/>
                              </a:srgbClr>
                            </a:solidFill>
                            <a:latin typeface="Cambria Math" panose="02040503050406030204" pitchFamily="18" charset="0"/>
                          </a:rPr>
                        </m:ctrlPr>
                      </m:naryPr>
                      <m:sub>
                        <m:r>
                          <a:rPr lang="en-US" sz="2000" b="0" i="1" smtClean="0">
                            <a:solidFill>
                              <a:srgbClr val="E7E6E6">
                                <a:lumMod val="10000"/>
                              </a:srgbClr>
                            </a:solidFill>
                            <a:latin typeface="Cambria Math" panose="02040503050406030204" pitchFamily="18" charset="0"/>
                          </a:rPr>
                          <m:t>𝑗</m:t>
                        </m:r>
                        <m:r>
                          <a:rPr lang="en-US" sz="2000" i="1">
                            <a:solidFill>
                              <a:srgbClr val="E7E6E6">
                                <a:lumMod val="10000"/>
                              </a:srgbClr>
                            </a:solidFill>
                            <a:latin typeface="Cambria Math" panose="02040503050406030204" pitchFamily="18" charset="0"/>
                          </a:rPr>
                          <m:t>=1</m:t>
                        </m:r>
                      </m:sub>
                      <m:sup>
                        <m:r>
                          <a:rPr lang="en-US" sz="2000" b="0" i="1" smtClean="0">
                            <a:solidFill>
                              <a:srgbClr val="E7E6E6">
                                <a:lumMod val="10000"/>
                              </a:srgbClr>
                            </a:solidFill>
                            <a:latin typeface="Cambria Math" panose="02040503050406030204" pitchFamily="18" charset="0"/>
                          </a:rPr>
                          <m:t>𝐻</m:t>
                        </m:r>
                      </m:sup>
                      <m:e>
                        <m:r>
                          <a:rPr lang="en-US" sz="2000" i="1">
                            <a:solidFill>
                              <a:srgbClr val="E7E6E6">
                                <a:lumMod val="10000"/>
                              </a:srgbClr>
                            </a:solidFill>
                            <a:latin typeface="Cambria Math" panose="02040503050406030204" pitchFamily="18" charset="0"/>
                          </a:rPr>
                          <m:t>𝑅</m:t>
                        </m:r>
                        <m:r>
                          <a:rPr lang="en-US" sz="2000" b="0" i="1" baseline="-25000" smtClean="0">
                            <a:solidFill>
                              <a:srgbClr val="E7E6E6">
                                <a:lumMod val="10000"/>
                              </a:srgbClr>
                            </a:solidFill>
                            <a:latin typeface="Cambria Math" panose="02040503050406030204" pitchFamily="18" charset="0"/>
                          </a:rPr>
                          <m:t>𝑗</m:t>
                        </m:r>
                        <m:r>
                          <a:rPr lang="en-US" sz="2000" i="1" baseline="-25000">
                            <a:solidFill>
                              <a:srgbClr val="E7E6E6">
                                <a:lumMod val="10000"/>
                              </a:srgbClr>
                            </a:solidFill>
                            <a:latin typeface="Cambria Math" panose="02040503050406030204" pitchFamily="18" charset="0"/>
                          </a:rPr>
                          <m:t>,</m:t>
                        </m:r>
                        <m:r>
                          <a:rPr lang="en-US" sz="2000" b="0" i="1" baseline="-25000" smtClean="0">
                            <a:solidFill>
                              <a:srgbClr val="E7E6E6">
                                <a:lumMod val="10000"/>
                              </a:srgbClr>
                            </a:solidFill>
                            <a:latin typeface="Cambria Math" panose="02040503050406030204" pitchFamily="18" charset="0"/>
                          </a:rPr>
                          <m:t>𝑖</m:t>
                        </m:r>
                        <m:r>
                          <a:rPr lang="en-US" sz="2000" b="0" i="1" baseline="30000" smtClean="0">
                            <a:solidFill>
                              <a:srgbClr val="E7E6E6">
                                <a:lumMod val="10000"/>
                              </a:srgbClr>
                            </a:solidFill>
                            <a:latin typeface="Cambria Math" panose="02040503050406030204" pitchFamily="18" charset="0"/>
                          </a:rPr>
                          <m:t>𝐵𝐵𝑈</m:t>
                        </m:r>
                      </m:e>
                    </m:nary>
                  </m:oMath>
                </a14:m>
                <a:r>
                  <a:rPr lang="en-US" sz="2000" dirty="0" smtClean="0">
                    <a:solidFill>
                      <a:srgbClr val="E7E6E6">
                        <a:lumMod val="10000"/>
                      </a:srgbClr>
                    </a:solidFill>
                  </a:rPr>
                  <a:t>)</a:t>
                </a:r>
              </a:p>
              <a:p>
                <a:pPr>
                  <a:lnSpc>
                    <a:spcPct val="150000"/>
                  </a:lnSpc>
                  <a:spcAft>
                    <a:spcPts val="800"/>
                  </a:spcAft>
                </a:pPr>
                <a:r>
                  <a:rPr lang="en-US" sz="2000" dirty="0">
                    <a:solidFill>
                      <a:srgbClr val="E7E6E6">
                        <a:lumMod val="10000"/>
                      </a:srgbClr>
                    </a:solidFill>
                  </a:rPr>
                  <a:t> </a:t>
                </a:r>
                <a:r>
                  <a:rPr lang="en-US" sz="2000" dirty="0" smtClean="0">
                    <a:solidFill>
                      <a:srgbClr val="E7E6E6">
                        <a:lumMod val="10000"/>
                      </a:srgbClr>
                    </a:solidFill>
                  </a:rPr>
                  <a:t>        Subject to     </a:t>
                </a:r>
                <a14:m>
                  <m:oMath xmlns:m="http://schemas.openxmlformats.org/officeDocument/2006/math">
                    <m:nary>
                      <m:naryPr>
                        <m:chr m:val="∑"/>
                        <m:limLoc m:val="undOv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𝑢</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𝑈</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𝑅</m:t>
                        </m:r>
                      </m:e>
                    </m:nary>
                  </m:oMath>
                </a14:m>
                <a:r>
                  <a:rPr lang="en-US" sz="2000" baseline="-25000" dirty="0" smtClean="0">
                    <a:effectLst/>
                    <a:latin typeface="Calibri" panose="020F0502020204030204" pitchFamily="34" charset="0"/>
                    <a:ea typeface="Times New Roman" panose="02020603050405020304" pitchFamily="18" charset="0"/>
                    <a:cs typeface="Times New Roman" panose="02020603050405020304" pitchFamily="18" charset="0"/>
                  </a:rPr>
                  <a:t>i,u</a:t>
                </a:r>
                <a:r>
                  <a:rPr lang="en-US" sz="2000" baseline="30000" dirty="0" smtClean="0">
                    <a:effectLst/>
                    <a:latin typeface="Calibri" panose="020F0502020204030204" pitchFamily="34" charset="0"/>
                    <a:ea typeface="Times New Roman" panose="02020603050405020304" pitchFamily="18" charset="0"/>
                    <a:cs typeface="Times New Roman" panose="02020603050405020304" pitchFamily="18" charset="0"/>
                  </a:rPr>
                  <a:t>REQ</a:t>
                </a:r>
                <a:r>
                  <a:rPr lang="en-US" sz="2000" dirty="0" smtClean="0">
                    <a:effectLst/>
                    <a:latin typeface="Calibri" panose="020F0502020204030204" pitchFamily="34" charset="0"/>
                    <a:ea typeface="Times New Roman" panose="02020603050405020304" pitchFamily="18" charset="0"/>
                    <a:cs typeface="Calibri" panose="020F0502020204030204" pitchFamily="34" charset="0"/>
                  </a:rPr>
                  <a:t>β</a:t>
                </a:r>
                <a:r>
                  <a:rPr lang="en-US" sz="2000" baseline="-25000" dirty="0" smtClean="0">
                    <a:effectLst/>
                    <a:latin typeface="Calibri" panose="020F0502020204030204" pitchFamily="34" charset="0"/>
                    <a:ea typeface="Times New Roman" panose="02020603050405020304" pitchFamily="18" charset="0"/>
                    <a:cs typeface="Times New Roman" panose="02020603050405020304" pitchFamily="18" charset="0"/>
                  </a:rPr>
                  <a:t>i,j,u</a:t>
                </a:r>
                <a14:m>
                  <m:oMath xmlns:m="http://schemas.openxmlformats.org/officeDocument/2006/math">
                    <m:r>
                      <a:rPr lang="en-US" sz="2000" b="0" i="0" smtClean="0">
                        <a:effectLst/>
                        <a:latin typeface="Cambria Math" panose="02040503050406030204" pitchFamily="18" charset="0"/>
                        <a:ea typeface="Times New Roman" panose="02020603050405020304" pitchFamily="18" charset="0"/>
                        <a:cs typeface="Calibri" panose="020F0502020204030204" pitchFamily="34" charset="0"/>
                      </a:rPr>
                      <m:t> </m:t>
                    </m:r>
                    <m:r>
                      <a:rPr lang="en-US" sz="2000" i="1">
                        <a:effectLst/>
                        <a:latin typeface="Cambria Math" panose="02040503050406030204" pitchFamily="18" charset="0"/>
                        <a:ea typeface="Times New Roman" panose="02020603050405020304" pitchFamily="18" charset="0"/>
                        <a:cs typeface="Calibri" panose="020F0502020204030204" pitchFamily="34" charset="0"/>
                      </a:rPr>
                      <m:t>≤</m:t>
                    </m:r>
                    <m:r>
                      <a:rPr lang="en-US" sz="2000" b="0" i="1"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2000" dirty="0">
                    <a:effectLst/>
                    <a:latin typeface="Calibri" panose="020F0502020204030204" pitchFamily="34" charset="0"/>
                    <a:ea typeface="Times New Roman" panose="02020603050405020304" pitchFamily="18" charset="0"/>
                    <a:cs typeface="Times New Roman" panose="02020603050405020304" pitchFamily="18" charset="0"/>
                  </a:rPr>
                  <a:t>G </a:t>
                </a:r>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𝐻</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𝑀</m:t>
                    </m:r>
                  </m:oMath>
                </a14:m>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smtClean="0">
                    <a:effectLst/>
                    <a:latin typeface="Calibri" panose="020F0502020204030204" pitchFamily="34" charset="0"/>
                    <a:ea typeface="Times New Roman" panose="02020603050405020304" pitchFamily="18" charset="0"/>
                    <a:cs typeface="Calibri" panose="020F0502020204030204" pitchFamily="34" charset="0"/>
                  </a:rPr>
                  <a:t>β</a:t>
                </a:r>
                <a:r>
                  <a:rPr lang="en-US" sz="2000" baseline="-25000" dirty="0" err="1" smtClean="0">
                    <a:effectLst/>
                    <a:latin typeface="Calibri" panose="020F0502020204030204" pitchFamily="34" charset="0"/>
                    <a:ea typeface="Times New Roman" panose="02020603050405020304" pitchFamily="18" charset="0"/>
                    <a:cs typeface="Times New Roman" panose="02020603050405020304" pitchFamily="18" charset="0"/>
                  </a:rPr>
                  <a:t>i</a:t>
                </a:r>
                <a:r>
                  <a:rPr lang="en-US" sz="2000" baseline="-25000" dirty="0" smtClean="0">
                    <a:effectLst/>
                    <a:latin typeface="Calibri" panose="020F0502020204030204" pitchFamily="34" charset="0"/>
                    <a:ea typeface="Times New Roman" panose="02020603050405020304" pitchFamily="18" charset="0"/>
                    <a:cs typeface="Times New Roman" panose="02020603050405020304" pitchFamily="18" charset="0"/>
                  </a:rPr>
                  <a:t> ,j ,u  </a:t>
                </a:r>
                <a:r>
                  <a:rPr lang="en-US" sz="2000" dirty="0" smtClean="0">
                    <a:effectLst/>
                    <a:latin typeface="Calibri" panose="020F0502020204030204" pitchFamily="34" charset="0"/>
                    <a:ea typeface="Times New Roman" panose="02020603050405020304" pitchFamily="18" charset="0"/>
                    <a:cs typeface="Calibri" panose="020F0502020204030204" pitchFamily="34" charset="0"/>
                  </a:rPr>
                  <a:t>ϵ </a:t>
                </a:r>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0,1}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nary>
                      <m:naryPr>
                        <m:chr m:val="∑"/>
                        <m:limLoc m:val="undOv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𝑀</m:t>
                        </m:r>
                      </m:sup>
                      <m:e>
                        <m:nary>
                          <m:naryPr>
                            <m:chr m:val="∑"/>
                            <m:limLoc m:val="undOv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𝑢</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𝑢</m:t>
                            </m:r>
                          </m:sup>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𝛽</m:t>
                            </m:r>
                          </m:e>
                        </m:nary>
                      </m:e>
                    </m:nary>
                  </m:oMath>
                </a14:m>
                <a:r>
                  <a:rPr lang="en-US" sz="2000" baseline="-25000" dirty="0" smtClean="0">
                    <a:effectLst/>
                    <a:latin typeface="Calibri" panose="020F0502020204030204" pitchFamily="34" charset="0"/>
                    <a:ea typeface="Times New Roman" panose="02020603050405020304" pitchFamily="18" charset="0"/>
                    <a:cs typeface="Times New Roman" panose="02020603050405020304" pitchFamily="18" charset="0"/>
                  </a:rPr>
                  <a:t>I,j,u </a:t>
                </a:r>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a:t>
                </a: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U       </a:t>
                </a:r>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i</a:t>
                </a:r>
                <a:r>
                  <a:rPr lang="en-US" sz="2000" dirty="0" smtClean="0">
                    <a:effectLst/>
                    <a:latin typeface="Calibri" panose="020F0502020204030204" pitchFamily="34" charset="0"/>
                    <a:ea typeface="Times New Roman" panose="02020603050405020304" pitchFamily="18" charset="0"/>
                    <a:cs typeface="Calibri" panose="020F0502020204030204" pitchFamily="34" charset="0"/>
                  </a:rPr>
                  <a:t>ϵ </a:t>
                </a:r>
                <a:r>
                  <a:rPr lang="en-US" sz="2000" dirty="0" smtClean="0">
                    <a:effectLst/>
                    <a:latin typeface="Calibri" panose="020F0502020204030204" pitchFamily="34" charset="0"/>
                    <a:ea typeface="Times New Roman" panose="02020603050405020304" pitchFamily="18" charset="0"/>
                    <a:cs typeface="Times New Roman" panose="02020603050405020304" pitchFamily="18" charset="0"/>
                  </a:rPr>
                  <a:t>H</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20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𝐻</m:t>
                        </m:r>
                      </m:sup>
                      <m:e>
                        <m:r>
                          <a:rPr lang="en-US" sz="2000" i="1">
                            <a:effectLst/>
                            <a:latin typeface="Cambria Math" panose="02040503050406030204" pitchFamily="18" charset="0"/>
                            <a:ea typeface="Calibri" panose="020F0502020204030204" pitchFamily="34" charset="0"/>
                            <a:cs typeface="Times New Roman" panose="02020603050405020304" pitchFamily="18" charset="0"/>
                          </a:rPr>
                          <m:t>𝑅</m:t>
                        </m:r>
                      </m:e>
                    </m:nary>
                  </m:oMath>
                </a14:m>
                <a:r>
                  <a:rPr lang="en-US" sz="2000" baseline="-25000" dirty="0" smtClean="0">
                    <a:effectLst/>
                    <a:latin typeface="Calibri" panose="020F0502020204030204" pitchFamily="34" charset="0"/>
                    <a:ea typeface="Calibri" panose="020F0502020204030204" pitchFamily="34" charset="0"/>
                    <a:cs typeface="Times New Roman" panose="02020603050405020304" pitchFamily="18" charset="0"/>
                  </a:rPr>
                  <a:t>j,i</a:t>
                </a:r>
                <a:r>
                  <a:rPr lang="en-US" sz="2000" baseline="30000" dirty="0" smtClean="0">
                    <a:effectLst/>
                    <a:latin typeface="Calibri" panose="020F0502020204030204" pitchFamily="34" charset="0"/>
                    <a:ea typeface="Calibri" panose="020F0502020204030204" pitchFamily="34" charset="0"/>
                    <a:cs typeface="Times New Roman" panose="02020603050405020304" pitchFamily="18" charset="0"/>
                  </a:rPr>
                  <a:t>BBU </a:t>
                </a:r>
                <a:r>
                  <a:rPr lang="en-US" sz="2000" dirty="0" smtClean="0">
                    <a:effectLst/>
                    <a:latin typeface="Calibri" panose="020F0502020204030204" pitchFamily="34" charset="0"/>
                    <a:ea typeface="Calibri" panose="020F0502020204030204" pitchFamily="34" charset="0"/>
                    <a:cs typeface="Calibri" panose="020F0502020204030204" pitchFamily="34" charset="0"/>
                  </a:rPr>
                  <a:t>≤  </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MG           </a:t>
                </a:r>
                <a14:m>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𝑗</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𝑀</m:t>
                    </m:r>
                  </m:oMath>
                </a14:m>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aseline="-25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800"/>
                  </a:spcAft>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nary>
                      <m:naryPr>
                        <m:chr m:val="∑"/>
                        <m:limLoc m:val="undOv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𝑢</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𝑈</m:t>
                        </m:r>
                      </m:sup>
                      <m:e>
                        <m:r>
                          <a:rPr lang="en-US" sz="2000" i="1">
                            <a:effectLst/>
                            <a:latin typeface="Cambria Math" panose="02040503050406030204" pitchFamily="18" charset="0"/>
                            <a:ea typeface="Calibri" panose="020F0502020204030204" pitchFamily="34" charset="0"/>
                            <a:cs typeface="Times New Roman" panose="02020603050405020304" pitchFamily="18" charset="0"/>
                          </a:rPr>
                          <m:t>𝛽</m:t>
                        </m:r>
                      </m:e>
                    </m:nary>
                  </m:oMath>
                </a14:m>
                <a:r>
                  <a:rPr lang="en-US" sz="2000" baseline="-25000" dirty="0" smtClean="0">
                    <a:effectLst/>
                    <a:latin typeface="Calibri" panose="020F0502020204030204" pitchFamily="34" charset="0"/>
                    <a:ea typeface="Calibri" panose="020F0502020204030204" pitchFamily="34" charset="0"/>
                    <a:cs typeface="Times New Roman" panose="02020603050405020304" pitchFamily="18" charset="0"/>
                  </a:rPr>
                  <a:t>I,j,u  </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a:t>
                </a:r>
                <a:r>
                  <a:rPr lang="en-US" sz="2000" dirty="0">
                    <a:effectLst/>
                    <a:latin typeface="Calibri" panose="020F0502020204030204" pitchFamily="34" charset="0"/>
                    <a:ea typeface="Calibri" panose="020F0502020204030204" pitchFamily="34" charset="0"/>
                    <a:cs typeface="Times New Roman" panose="02020603050405020304" pitchFamily="18" charset="0"/>
                  </a:rPr>
                  <a:t>1 </a:t>
                </a:r>
                <a:r>
                  <a:rPr lang="en-US" sz="2000" dirty="0" smtClean="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𝐻</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𝑗</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𝑀</m:t>
                    </m:r>
                  </m:oMath>
                </a14:m>
                <a:r>
                  <a:rPr lang="en-US" sz="20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US"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rPr>
                  <a:t>Ʈ</a:t>
                </a:r>
                <a:r>
                  <a:rPr lang="en-US" sz="2000" baseline="-25000" dirty="0">
                    <a:effectLst/>
                    <a:latin typeface="Calibri" panose="020F0502020204030204" pitchFamily="34" charset="0"/>
                    <a:ea typeface="Calibri" panose="020F0502020204030204" pitchFamily="34" charset="0"/>
                    <a:cs typeface="Times New Roman" panose="02020603050405020304" pitchFamily="18" charset="0"/>
                  </a:rPr>
                  <a:t>j</a:t>
                </a:r>
                <a:r>
                  <a:rPr lang="en-US" sz="2000" dirty="0">
                    <a:effectLst/>
                    <a:latin typeface="Calibri" panose="020F0502020204030204" pitchFamily="34" charset="0"/>
                    <a:ea typeface="Calibri" panose="020F0502020204030204" pitchFamily="34" charset="0"/>
                    <a:cs typeface="Times New Roman" panose="02020603050405020304" pitchFamily="18" charset="0"/>
                  </a:rPr>
                  <a:t>=</a:t>
                </a:r>
                <a14:m>
                  <m:oMath xmlns:m="http://schemas.openxmlformats.org/officeDocument/2006/math">
                    <m:d>
                      <m:dPr>
                        <m:begChr m:val="{"/>
                        <m:endChr m:val=""/>
                        <m:ctrlPr>
                          <a:rPr lang="en-US" sz="2000" i="1">
                            <a:effectLst/>
                            <a:latin typeface="Cambria Math" panose="02040503050406030204" pitchFamily="18" charset="0"/>
                          </a:rPr>
                        </m:ctrlPr>
                      </m:dPr>
                      <m:e>
                        <m:eqArr>
                          <m:eqArrPr>
                            <m:ctrlPr>
                              <a:rPr lang="en-US" sz="2000" i="1">
                                <a:effectLst/>
                                <a:latin typeface="Cambria Math" panose="02040503050406030204" pitchFamily="18" charset="0"/>
                              </a:rPr>
                            </m:ctrlPr>
                          </m:eqArrPr>
                          <m:e>
                            <m:r>
                              <a:rPr lang="en-US" sz="2000" i="1">
                                <a:effectLst/>
                                <a:latin typeface="Cambria Math" panose="02040503050406030204" pitchFamily="18" charset="0"/>
                                <a:ea typeface="Calibri" panose="020F0502020204030204" pitchFamily="34" charset="0"/>
                                <a:cs typeface="Times New Roman" panose="02020603050405020304" pitchFamily="18" charset="0"/>
                              </a:rPr>
                              <m:t>0</m:t>
                            </m:r>
                            <m:nary>
                              <m:naryPr>
                                <m:chr m:val="∑"/>
                                <m:limLoc m:val="undOvr"/>
                                <m:ctrlPr>
                                  <a:rPr lang="en-US" sz="2000" i="1">
                                    <a:effectLst/>
                                    <a:latin typeface="Cambria Math" panose="020405030504060302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𝐻</m:t>
                                </m:r>
                              </m:sup>
                              <m:e>
                                <m:nary>
                                  <m:naryPr>
                                    <m:chr m:val="∑"/>
                                    <m:limLoc m:val="undOvr"/>
                                    <m:ctrlPr>
                                      <a:rPr lang="en-US" sz="2000" i="1">
                                        <a:effectLst/>
                                        <a:latin typeface="Cambria Math" panose="02040503050406030204" pitchFamily="18" charset="0"/>
                                      </a:rPr>
                                    </m:ctrlPr>
                                  </m:naryPr>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𝑢</m:t>
                                    </m:r>
                                    <m:r>
                                      <a:rPr lang="en-US" sz="2000" i="1">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𝑈</m:t>
                                    </m:r>
                                  </m:sup>
                                  <m:e>
                                    <m:r>
                                      <a:rPr lang="en-US" sz="2000" i="1">
                                        <a:effectLst/>
                                        <a:latin typeface="Cambria Math" panose="02040503050406030204" pitchFamily="18" charset="0"/>
                                        <a:ea typeface="Calibri" panose="020F0502020204030204" pitchFamily="34" charset="0"/>
                                        <a:cs typeface="Times New Roman" panose="02020603050405020304" pitchFamily="18" charset="0"/>
                                      </a:rPr>
                                      <m:t>𝛽</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𝑖</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𝑗</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𝑢</m:t>
                                    </m:r>
                                    <m:r>
                                      <a:rPr lang="en-US" sz="2000" i="1">
                                        <a:effectLst/>
                                        <a:latin typeface="Cambria Math" panose="02040503050406030204" pitchFamily="18" charset="0"/>
                                        <a:ea typeface="Calibri" panose="020F0502020204030204" pitchFamily="34" charset="0"/>
                                        <a:cs typeface="Times New Roman" panose="02020603050405020304" pitchFamily="18" charset="0"/>
                                      </a:rPr>
                                      <m:t>=0</m:t>
                                    </m:r>
                                  </m:e>
                                </m:nary>
                              </m:e>
                            </m:nary>
                          </m:e>
                          <m:e>
                            <m:r>
                              <a:rPr lang="en-US" sz="2000" i="1">
                                <a:effectLst/>
                                <a:latin typeface="Cambria Math" panose="02040503050406030204" pitchFamily="18" charset="0"/>
                                <a:ea typeface="Calibri" panose="020F0502020204030204" pitchFamily="34" charset="0"/>
                                <a:cs typeface="Times New Roman" panose="02020603050405020304" pitchFamily="18" charset="0"/>
                              </a:rPr>
                              <m:t>1 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𝑜𝑡h𝑒𝑟𝑤𝑖𝑠𝑒</m:t>
                            </m:r>
                          </m:e>
                        </m:eqArr>
                      </m:e>
                    </m:d>
                  </m:oMath>
                </a14:m>
                <a:endParaRPr lang="en-US" sz="2000" dirty="0">
                  <a:solidFill>
                    <a:srgbClr val="E7E6E6">
                      <a:lumMod val="10000"/>
                    </a:srgbClr>
                  </a:solidFill>
                </a:endParaRPr>
              </a:p>
              <a:p>
                <a:pPr marL="0" indent="0">
                  <a:lnSpc>
                    <a:spcPct val="150000"/>
                  </a:lnSpc>
                  <a:buNone/>
                </a:pPr>
                <a:endParaRPr lang="en-US" sz="2000" dirty="0" smtClean="0"/>
              </a:p>
              <a:p>
                <a:pPr marL="0" indent="0">
                  <a:buNone/>
                </a:pPr>
                <a:endParaRPr lang="en-US" sz="20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728663"/>
                <a:ext cx="10515600" cy="5329237"/>
              </a:xfrm>
              <a:blipFill rotWithShape="0">
                <a:blip r:embed="rId2"/>
                <a:stretch>
                  <a:fillRect l="-464" t="-1487"/>
                </a:stretch>
              </a:blipFill>
            </p:spPr>
            <p:txBody>
              <a:bodyPr/>
              <a:lstStyle/>
              <a:p>
                <a:r>
                  <a:rPr lang="en-US">
                    <a:noFill/>
                  </a:rPr>
                  <a:t> </a:t>
                </a:r>
              </a:p>
            </p:txBody>
          </p:sp>
        </mc:Fallback>
      </mc:AlternateContent>
    </p:spTree>
    <p:extLst>
      <p:ext uri="{BB962C8B-B14F-4D97-AF65-F5344CB8AC3E}">
        <p14:creationId xmlns:p14="http://schemas.microsoft.com/office/powerpoint/2010/main" val="824952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3"/>
            <a:ext cx="10515600" cy="618565"/>
          </a:xfrm>
        </p:spPr>
        <p:txBody>
          <a:bodyPr>
            <a:normAutofit/>
          </a:bodyPr>
          <a:lstStyle/>
          <a:p>
            <a:r>
              <a:rPr lang="en-US" sz="3200" dirty="0" smtClean="0"/>
              <a:t>Simulation and Results</a:t>
            </a:r>
            <a:endParaRPr lang="en-US" sz="3200" dirty="0"/>
          </a:p>
        </p:txBody>
      </p:sp>
      <p:sp>
        <p:nvSpPr>
          <p:cNvPr id="3" name="Content Placeholder 2"/>
          <p:cNvSpPr>
            <a:spLocks noGrp="1"/>
          </p:cNvSpPr>
          <p:nvPr>
            <p:ph idx="1"/>
          </p:nvPr>
        </p:nvSpPr>
        <p:spPr>
          <a:xfrm>
            <a:off x="838200" y="1721225"/>
            <a:ext cx="10515600" cy="4250950"/>
          </a:xfrm>
        </p:spPr>
        <p:txBody>
          <a:bodyPr/>
          <a:lstStyle/>
          <a:p>
            <a:pPr marL="0" indent="0">
              <a:buNone/>
            </a:pPr>
            <a:r>
              <a:rPr lang="en-US" dirty="0" smtClean="0"/>
              <a:t>Simulation</a:t>
            </a:r>
          </a:p>
          <a:p>
            <a:pPr>
              <a:lnSpc>
                <a:spcPct val="150000"/>
              </a:lnSpc>
            </a:pPr>
            <a:r>
              <a:rPr lang="en-US" sz="2000" dirty="0" smtClean="0"/>
              <a:t>In this work, Deep Deterministic </a:t>
            </a:r>
            <a:r>
              <a:rPr lang="en-US" sz="2000" dirty="0"/>
              <a:t>P</a:t>
            </a:r>
            <a:r>
              <a:rPr lang="en-US" sz="2000" dirty="0" smtClean="0"/>
              <a:t>olicy Gradient(DDPG) algorithm is considered to learn continuous control policies for energy management.</a:t>
            </a:r>
          </a:p>
          <a:p>
            <a:pPr>
              <a:lnSpc>
                <a:spcPct val="150000"/>
              </a:lnSpc>
            </a:pPr>
            <a:r>
              <a:rPr lang="en-US" sz="2000" dirty="0" smtClean="0"/>
              <a:t>The </a:t>
            </a:r>
            <a:r>
              <a:rPr lang="en-US" sz="2000" dirty="0"/>
              <a:t>BBU pool consists of 4</a:t>
            </a:r>
            <a:r>
              <a:rPr lang="en-US" sz="2000" dirty="0" smtClean="0"/>
              <a:t> </a:t>
            </a:r>
            <a:r>
              <a:rPr lang="en-US" sz="2000" dirty="0"/>
              <a:t>BBUs serving a variable number of </a:t>
            </a:r>
            <a:r>
              <a:rPr lang="en-US" sz="2000" dirty="0" smtClean="0"/>
              <a:t>6 RRHs. Each </a:t>
            </a:r>
            <a:r>
              <a:rPr lang="en-US" sz="2000" dirty="0"/>
              <a:t>BBU has 1 GOPS capacity. The detailed simulation parameters are shown in </a:t>
            </a:r>
            <a:r>
              <a:rPr lang="en-US" sz="2000" dirty="0" smtClean="0"/>
              <a:t>Table. </a:t>
            </a:r>
          </a:p>
          <a:p>
            <a:pPr>
              <a:lnSpc>
                <a:spcPct val="150000"/>
              </a:lnSpc>
            </a:pPr>
            <a:r>
              <a:rPr lang="en-US" sz="2000" dirty="0" smtClean="0"/>
              <a:t>Moreover</a:t>
            </a:r>
            <a:r>
              <a:rPr lang="en-US" sz="2000" dirty="0"/>
              <a:t>, this work </a:t>
            </a:r>
            <a:r>
              <a:rPr lang="en-US" sz="2000" dirty="0" smtClean="0"/>
              <a:t>uses </a:t>
            </a:r>
            <a:r>
              <a:rPr lang="en-US" sz="2000" dirty="0"/>
              <a:t>MATLAB program to get the results.</a:t>
            </a:r>
            <a:endParaRPr lang="en-US" sz="2000" dirty="0"/>
          </a:p>
        </p:txBody>
      </p:sp>
    </p:spTree>
    <p:extLst>
      <p:ext uri="{BB962C8B-B14F-4D97-AF65-F5344CB8AC3E}">
        <p14:creationId xmlns:p14="http://schemas.microsoft.com/office/powerpoint/2010/main" val="2282011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511654981"/>
              </p:ext>
            </p:extLst>
          </p:nvPr>
        </p:nvGraphicFramePr>
        <p:xfrm>
          <a:off x="857250" y="714374"/>
          <a:ext cx="5000625" cy="5486400"/>
        </p:xfrm>
        <a:graphic>
          <a:graphicData uri="http://schemas.openxmlformats.org/drawingml/2006/table">
            <a:tbl>
              <a:tblPr firstRow="1" bandRow="1">
                <a:tableStyleId>{5C22544A-7EE6-4342-B048-85BDC9FD1C3A}</a:tableStyleId>
              </a:tblPr>
              <a:tblGrid>
                <a:gridCol w="2486025"/>
                <a:gridCol w="2514600"/>
              </a:tblGrid>
              <a:tr h="363141">
                <a:tc>
                  <a:txBody>
                    <a:bodyPr/>
                    <a:lstStyle/>
                    <a:p>
                      <a:r>
                        <a:rPr lang="en-US" dirty="0" smtClean="0"/>
                        <a:t>P_noise_dBm</a:t>
                      </a:r>
                      <a:endParaRPr lang="en-US" dirty="0"/>
                    </a:p>
                  </a:txBody>
                  <a:tcPr/>
                </a:tc>
                <a:tc>
                  <a:txBody>
                    <a:bodyPr/>
                    <a:lstStyle/>
                    <a:p>
                      <a:r>
                        <a:rPr lang="en-US" dirty="0" smtClean="0"/>
                        <a:t>-102</a:t>
                      </a:r>
                      <a:endParaRPr lang="en-US" dirty="0"/>
                    </a:p>
                  </a:txBody>
                  <a:tcPr/>
                </a:tc>
              </a:tr>
              <a:tr h="363141">
                <a:tc>
                  <a:txBody>
                    <a:bodyPr/>
                    <a:lstStyle/>
                    <a:p>
                      <a:r>
                        <a:rPr lang="en-US" dirty="0" smtClean="0"/>
                        <a:t>P_active</a:t>
                      </a:r>
                      <a:endParaRPr lang="en-US" dirty="0"/>
                    </a:p>
                  </a:txBody>
                  <a:tcPr/>
                </a:tc>
                <a:tc>
                  <a:txBody>
                    <a:bodyPr/>
                    <a:lstStyle/>
                    <a:p>
                      <a:r>
                        <a:rPr lang="en-US" dirty="0" smtClean="0"/>
                        <a:t>6.8</a:t>
                      </a:r>
                      <a:endParaRPr lang="en-US" dirty="0"/>
                    </a:p>
                  </a:txBody>
                  <a:tcPr/>
                </a:tc>
              </a:tr>
              <a:tr h="363141">
                <a:tc>
                  <a:txBody>
                    <a:bodyPr/>
                    <a:lstStyle/>
                    <a:p>
                      <a:r>
                        <a:rPr lang="en-US" dirty="0" smtClean="0"/>
                        <a:t>P_transmit</a:t>
                      </a:r>
                      <a:endParaRPr lang="en-US" dirty="0"/>
                    </a:p>
                  </a:txBody>
                  <a:tcPr/>
                </a:tc>
                <a:tc>
                  <a:txBody>
                    <a:bodyPr/>
                    <a:lstStyle/>
                    <a:p>
                      <a:r>
                        <a:rPr lang="en-US" dirty="0" smtClean="0"/>
                        <a:t>1</a:t>
                      </a:r>
                      <a:endParaRPr lang="en-US" dirty="0"/>
                    </a:p>
                  </a:txBody>
                  <a:tcPr/>
                </a:tc>
              </a:tr>
              <a:tr h="363141">
                <a:tc>
                  <a:txBody>
                    <a:bodyPr/>
                    <a:lstStyle/>
                    <a:p>
                      <a:r>
                        <a:rPr lang="en-US" dirty="0" smtClean="0"/>
                        <a:t>P_sleep</a:t>
                      </a:r>
                      <a:endParaRPr lang="en-US" dirty="0"/>
                    </a:p>
                  </a:txBody>
                  <a:tcPr/>
                </a:tc>
                <a:tc>
                  <a:txBody>
                    <a:bodyPr/>
                    <a:lstStyle/>
                    <a:p>
                      <a:r>
                        <a:rPr lang="en-US" dirty="0" smtClean="0"/>
                        <a:t>4.3</a:t>
                      </a:r>
                      <a:endParaRPr lang="en-US" dirty="0"/>
                    </a:p>
                  </a:txBody>
                  <a:tcPr/>
                </a:tc>
              </a:tr>
              <a:tr h="363141">
                <a:tc>
                  <a:txBody>
                    <a:bodyPr/>
                    <a:lstStyle/>
                    <a:p>
                      <a:r>
                        <a:rPr lang="en-US" dirty="0" smtClean="0"/>
                        <a:t>P_switch</a:t>
                      </a:r>
                      <a:endParaRPr lang="en-US" dirty="0"/>
                    </a:p>
                  </a:txBody>
                  <a:tcPr/>
                </a:tc>
                <a:tc>
                  <a:txBody>
                    <a:bodyPr/>
                    <a:lstStyle/>
                    <a:p>
                      <a:r>
                        <a:rPr lang="en-US" dirty="0" smtClean="0"/>
                        <a:t>3</a:t>
                      </a:r>
                      <a:endParaRPr lang="en-US" dirty="0"/>
                    </a:p>
                  </a:txBody>
                  <a:tcPr/>
                </a:tc>
              </a:tr>
              <a:tr h="363141">
                <a:tc>
                  <a:txBody>
                    <a:bodyPr/>
                    <a:lstStyle/>
                    <a:p>
                      <a:r>
                        <a:rPr lang="en-US" dirty="0" smtClean="0"/>
                        <a:t>eta</a:t>
                      </a:r>
                      <a:endParaRPr lang="en-US" dirty="0"/>
                    </a:p>
                  </a:txBody>
                  <a:tcPr/>
                </a:tc>
                <a:tc>
                  <a:txBody>
                    <a:bodyPr/>
                    <a:lstStyle/>
                    <a:p>
                      <a:r>
                        <a:rPr lang="en-US" dirty="0" smtClean="0"/>
                        <a:t>0.25</a:t>
                      </a:r>
                      <a:endParaRPr lang="en-US" dirty="0"/>
                    </a:p>
                  </a:txBody>
                  <a:tcPr/>
                </a:tc>
              </a:tr>
              <a:tr h="363141">
                <a:tc>
                  <a:txBody>
                    <a:bodyPr/>
                    <a:lstStyle/>
                    <a:p>
                      <a:r>
                        <a:rPr lang="en-US" dirty="0" smtClean="0"/>
                        <a:t>Antenna gain_dBi</a:t>
                      </a:r>
                      <a:endParaRPr lang="en-US" dirty="0"/>
                    </a:p>
                  </a:txBody>
                  <a:tcPr/>
                </a:tc>
                <a:tc>
                  <a:txBody>
                    <a:bodyPr/>
                    <a:lstStyle/>
                    <a:p>
                      <a:r>
                        <a:rPr lang="en-US" dirty="0" smtClean="0"/>
                        <a:t>9</a:t>
                      </a:r>
                      <a:endParaRPr lang="en-US" dirty="0"/>
                    </a:p>
                  </a:txBody>
                  <a:tcPr/>
                </a:tc>
              </a:tr>
              <a:tr h="363141">
                <a:tc>
                  <a:txBody>
                    <a:bodyPr/>
                    <a:lstStyle/>
                    <a:p>
                      <a:r>
                        <a:rPr lang="en-US" dirty="0" smtClean="0"/>
                        <a:t>Shadowing_dB</a:t>
                      </a:r>
                    </a:p>
                  </a:txBody>
                  <a:tcPr/>
                </a:tc>
                <a:tc>
                  <a:txBody>
                    <a:bodyPr/>
                    <a:lstStyle/>
                    <a:p>
                      <a:r>
                        <a:rPr lang="en-US" dirty="0" smtClean="0"/>
                        <a:t>8</a:t>
                      </a:r>
                    </a:p>
                  </a:txBody>
                  <a:tcPr/>
                </a:tc>
              </a:tr>
              <a:tr h="363141">
                <a:tc>
                  <a:txBody>
                    <a:bodyPr/>
                    <a:lstStyle/>
                    <a:p>
                      <a:r>
                        <a:rPr lang="en-US" dirty="0" smtClean="0"/>
                        <a:t>Cap_gap</a:t>
                      </a:r>
                    </a:p>
                  </a:txBody>
                  <a:tcPr/>
                </a:tc>
                <a:tc>
                  <a:txBody>
                    <a:bodyPr/>
                    <a:lstStyle/>
                    <a:p>
                      <a:r>
                        <a:rPr lang="en-US" dirty="0" smtClean="0"/>
                        <a:t>1</a:t>
                      </a:r>
                    </a:p>
                  </a:txBody>
                  <a:tcPr/>
                </a:tc>
              </a:tr>
              <a:tr h="363141">
                <a:tc>
                  <a:txBody>
                    <a:bodyPr/>
                    <a:lstStyle/>
                    <a:p>
                      <a:r>
                        <a:rPr lang="en-US" dirty="0" smtClean="0"/>
                        <a:t>Ntx</a:t>
                      </a:r>
                    </a:p>
                  </a:txBody>
                  <a:tcPr/>
                </a:tc>
                <a:tc>
                  <a:txBody>
                    <a:bodyPr/>
                    <a:lstStyle/>
                    <a:p>
                      <a:r>
                        <a:rPr lang="en-US" dirty="0" smtClean="0"/>
                        <a:t>2</a:t>
                      </a:r>
                    </a:p>
                  </a:txBody>
                  <a:tcPr/>
                </a:tc>
              </a:tr>
              <a:tr h="363141">
                <a:tc>
                  <a:txBody>
                    <a:bodyPr/>
                    <a:lstStyle/>
                    <a:p>
                      <a:r>
                        <a:rPr lang="en-US" dirty="0" smtClean="0"/>
                        <a:t>P_RF</a:t>
                      </a:r>
                    </a:p>
                  </a:txBody>
                  <a:tcPr/>
                </a:tc>
                <a:tc>
                  <a:txBody>
                    <a:bodyPr/>
                    <a:lstStyle/>
                    <a:p>
                      <a:r>
                        <a:rPr lang="en-US" dirty="0" smtClean="0"/>
                        <a:t>0.1</a:t>
                      </a:r>
                    </a:p>
                  </a:txBody>
                  <a:tcPr/>
                </a:tc>
              </a:tr>
              <a:tr h="363141">
                <a:tc>
                  <a:txBody>
                    <a:bodyPr/>
                    <a:lstStyle/>
                    <a:p>
                      <a:r>
                        <a:rPr lang="en-US" dirty="0" smtClean="0"/>
                        <a:t>epsilon</a:t>
                      </a:r>
                    </a:p>
                  </a:txBody>
                  <a:tcPr/>
                </a:tc>
                <a:tc>
                  <a:txBody>
                    <a:bodyPr/>
                    <a:lstStyle/>
                    <a:p>
                      <a:r>
                        <a:rPr lang="en-US" dirty="0" smtClean="0"/>
                        <a:t>0.05</a:t>
                      </a:r>
                    </a:p>
                  </a:txBody>
                  <a:tcPr/>
                </a:tc>
              </a:tr>
              <a:tr h="363141">
                <a:tc>
                  <a:txBody>
                    <a:bodyPr/>
                    <a:lstStyle/>
                    <a:p>
                      <a:r>
                        <a:rPr lang="en-US" dirty="0" smtClean="0"/>
                        <a:t>gamma</a:t>
                      </a:r>
                    </a:p>
                  </a:txBody>
                  <a:tcPr/>
                </a:tc>
                <a:tc>
                  <a:txBody>
                    <a:bodyPr/>
                    <a:lstStyle/>
                    <a:p>
                      <a:r>
                        <a:rPr lang="en-US" dirty="0" smtClean="0"/>
                        <a:t>0.99</a:t>
                      </a:r>
                    </a:p>
                  </a:txBody>
                  <a:tcPr/>
                </a:tc>
              </a:tr>
              <a:tr h="363141">
                <a:tc>
                  <a:txBody>
                    <a:bodyPr/>
                    <a:lstStyle/>
                    <a:p>
                      <a:r>
                        <a:rPr lang="en-US" dirty="0" smtClean="0"/>
                        <a:t>tau_soft</a:t>
                      </a:r>
                    </a:p>
                  </a:txBody>
                  <a:tcPr/>
                </a:tc>
                <a:tc>
                  <a:txBody>
                    <a:bodyPr/>
                    <a:lstStyle/>
                    <a:p>
                      <a:r>
                        <a:rPr lang="en-US" dirty="0" smtClean="0"/>
                        <a:t>0.005</a:t>
                      </a:r>
                    </a:p>
                  </a:txBody>
                  <a:tcPr/>
                </a:tc>
              </a:tr>
              <a:tr h="363141">
                <a:tc>
                  <a:txBody>
                    <a:bodyPr/>
                    <a:lstStyle/>
                    <a:p>
                      <a:r>
                        <a:rPr lang="en-US" dirty="0" smtClean="0"/>
                        <a:t>Lr_actor,lr_critic</a:t>
                      </a:r>
                    </a:p>
                  </a:txBody>
                  <a:tcPr/>
                </a:tc>
                <a:tc>
                  <a:txBody>
                    <a:bodyPr/>
                    <a:lstStyle/>
                    <a:p>
                      <a:r>
                        <a:rPr lang="en-US" dirty="0" smtClean="0"/>
                        <a:t>1e-4, 1e-3</a:t>
                      </a:r>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9178942"/>
              </p:ext>
            </p:extLst>
          </p:nvPr>
        </p:nvGraphicFramePr>
        <p:xfrm>
          <a:off x="5972174" y="714371"/>
          <a:ext cx="5300664" cy="5486400"/>
        </p:xfrm>
        <a:graphic>
          <a:graphicData uri="http://schemas.openxmlformats.org/drawingml/2006/table">
            <a:tbl>
              <a:tblPr firstRow="1" bandRow="1">
                <a:tableStyleId>{5C22544A-7EE6-4342-B048-85BDC9FD1C3A}</a:tableStyleId>
              </a:tblPr>
              <a:tblGrid>
                <a:gridCol w="2650332"/>
                <a:gridCol w="2650332"/>
              </a:tblGrid>
              <a:tr h="333702">
                <a:tc>
                  <a:txBody>
                    <a:bodyPr/>
                    <a:lstStyle/>
                    <a:p>
                      <a:r>
                        <a:rPr lang="en-US" dirty="0" smtClean="0"/>
                        <a:t>Number of RRHs</a:t>
                      </a:r>
                      <a:endParaRPr lang="en-US" dirty="0"/>
                    </a:p>
                  </a:txBody>
                  <a:tcPr/>
                </a:tc>
                <a:tc>
                  <a:txBody>
                    <a:bodyPr/>
                    <a:lstStyle/>
                    <a:p>
                      <a:r>
                        <a:rPr lang="en-US" dirty="0" smtClean="0"/>
                        <a:t>6</a:t>
                      </a:r>
                      <a:endParaRPr lang="en-US" dirty="0"/>
                    </a:p>
                  </a:txBody>
                  <a:tcPr/>
                </a:tc>
              </a:tr>
              <a:tr h="333702">
                <a:tc>
                  <a:txBody>
                    <a:bodyPr/>
                    <a:lstStyle/>
                    <a:p>
                      <a:r>
                        <a:rPr lang="en-US" dirty="0" smtClean="0"/>
                        <a:t>Number of BBUs</a:t>
                      </a:r>
                      <a:endParaRPr lang="en-US" dirty="0"/>
                    </a:p>
                  </a:txBody>
                  <a:tcPr/>
                </a:tc>
                <a:tc>
                  <a:txBody>
                    <a:bodyPr/>
                    <a:lstStyle/>
                    <a:p>
                      <a:r>
                        <a:rPr lang="en-US" dirty="0" smtClean="0"/>
                        <a:t>4</a:t>
                      </a:r>
                      <a:endParaRPr lang="en-US" dirty="0"/>
                    </a:p>
                  </a:txBody>
                  <a:tcPr/>
                </a:tc>
              </a:tr>
              <a:tr h="338338">
                <a:tc>
                  <a:txBody>
                    <a:bodyPr/>
                    <a:lstStyle/>
                    <a:p>
                      <a:r>
                        <a:rPr lang="en-US" dirty="0" smtClean="0"/>
                        <a:t>Number</a:t>
                      </a:r>
                      <a:r>
                        <a:rPr lang="en-US" baseline="0" dirty="0" smtClean="0"/>
                        <a:t> of Users</a:t>
                      </a:r>
                      <a:endParaRPr lang="en-US" dirty="0"/>
                    </a:p>
                  </a:txBody>
                  <a:tcPr/>
                </a:tc>
                <a:tc>
                  <a:txBody>
                    <a:bodyPr/>
                    <a:lstStyle/>
                    <a:p>
                      <a:r>
                        <a:rPr lang="en-US" dirty="0" smtClean="0"/>
                        <a:t>20</a:t>
                      </a:r>
                      <a:endParaRPr lang="en-US" dirty="0"/>
                    </a:p>
                  </a:txBody>
                  <a:tcPr/>
                </a:tc>
              </a:tr>
              <a:tr h="338338">
                <a:tc>
                  <a:txBody>
                    <a:bodyPr/>
                    <a:lstStyle/>
                    <a:p>
                      <a:r>
                        <a:rPr lang="en-US" dirty="0" smtClean="0"/>
                        <a:t>P_stat</a:t>
                      </a:r>
                      <a:endParaRPr lang="en-US" dirty="0"/>
                    </a:p>
                  </a:txBody>
                  <a:tcPr/>
                </a:tc>
                <a:tc>
                  <a:txBody>
                    <a:bodyPr/>
                    <a:lstStyle/>
                    <a:p>
                      <a:r>
                        <a:rPr lang="en-US" dirty="0" smtClean="0"/>
                        <a:t>100</a:t>
                      </a:r>
                      <a:endParaRPr lang="en-US" dirty="0"/>
                    </a:p>
                  </a:txBody>
                  <a:tcPr/>
                </a:tc>
              </a:tr>
              <a:tr h="338338">
                <a:tc>
                  <a:txBody>
                    <a:bodyPr/>
                    <a:lstStyle/>
                    <a:p>
                      <a:r>
                        <a:rPr lang="en-US" dirty="0" smtClean="0"/>
                        <a:t>delta_P</a:t>
                      </a:r>
                      <a:endParaRPr lang="en-US" dirty="0"/>
                    </a:p>
                  </a:txBody>
                  <a:tcPr/>
                </a:tc>
                <a:tc>
                  <a:txBody>
                    <a:bodyPr/>
                    <a:lstStyle/>
                    <a:p>
                      <a:r>
                        <a:rPr lang="en-US" dirty="0" smtClean="0"/>
                        <a:t>0.5</a:t>
                      </a:r>
                      <a:endParaRPr lang="en-US" dirty="0"/>
                    </a:p>
                  </a:txBody>
                  <a:tcPr/>
                </a:tc>
              </a:tr>
              <a:tr h="338338">
                <a:tc>
                  <a:txBody>
                    <a:bodyPr/>
                    <a:lstStyle/>
                    <a:p>
                      <a:r>
                        <a:rPr lang="en-US" dirty="0" smtClean="0"/>
                        <a:t>P_cpu</a:t>
                      </a:r>
                      <a:endParaRPr lang="en-US" dirty="0"/>
                    </a:p>
                  </a:txBody>
                  <a:tcPr/>
                </a:tc>
                <a:tc>
                  <a:txBody>
                    <a:bodyPr/>
                    <a:lstStyle/>
                    <a:p>
                      <a:r>
                        <a:rPr lang="en-US" dirty="0" smtClean="0"/>
                        <a:t>50</a:t>
                      </a:r>
                      <a:endParaRPr lang="en-US" dirty="0"/>
                    </a:p>
                  </a:txBody>
                  <a:tcPr/>
                </a:tc>
              </a:tr>
              <a:tr h="338338">
                <a:tc>
                  <a:txBody>
                    <a:bodyPr/>
                    <a:lstStyle/>
                    <a:p>
                      <a:r>
                        <a:rPr lang="en-US" dirty="0" smtClean="0"/>
                        <a:t>P_mem</a:t>
                      </a:r>
                      <a:endParaRPr lang="en-US" dirty="0"/>
                    </a:p>
                  </a:txBody>
                  <a:tcPr/>
                </a:tc>
                <a:tc>
                  <a:txBody>
                    <a:bodyPr/>
                    <a:lstStyle/>
                    <a:p>
                      <a:r>
                        <a:rPr lang="en-US" dirty="0" smtClean="0"/>
                        <a:t>10</a:t>
                      </a:r>
                      <a:endParaRPr lang="en-US" dirty="0"/>
                    </a:p>
                  </a:txBody>
                  <a:tcPr/>
                </a:tc>
              </a:tr>
              <a:tr h="338338">
                <a:tc>
                  <a:txBody>
                    <a:bodyPr/>
                    <a:lstStyle/>
                    <a:p>
                      <a:r>
                        <a:rPr lang="en-US" dirty="0" smtClean="0"/>
                        <a:t>P_io</a:t>
                      </a:r>
                      <a:endParaRPr lang="en-US" dirty="0"/>
                    </a:p>
                  </a:txBody>
                  <a:tcPr/>
                </a:tc>
                <a:tc>
                  <a:txBody>
                    <a:bodyPr/>
                    <a:lstStyle/>
                    <a:p>
                      <a:r>
                        <a:rPr lang="en-US" dirty="0" smtClean="0"/>
                        <a:t>5</a:t>
                      </a:r>
                      <a:endParaRPr lang="en-US" dirty="0"/>
                    </a:p>
                  </a:txBody>
                  <a:tcPr/>
                </a:tc>
              </a:tr>
              <a:tr h="338338">
                <a:tc>
                  <a:txBody>
                    <a:bodyPr/>
                    <a:lstStyle/>
                    <a:p>
                      <a:r>
                        <a:rPr lang="en-US" dirty="0" smtClean="0"/>
                        <a:t>P_olt</a:t>
                      </a:r>
                      <a:endParaRPr lang="en-US" dirty="0"/>
                    </a:p>
                  </a:txBody>
                  <a:tcPr/>
                </a:tc>
                <a:tc>
                  <a:txBody>
                    <a:bodyPr/>
                    <a:lstStyle/>
                    <a:p>
                      <a:r>
                        <a:rPr lang="en-US" dirty="0" smtClean="0"/>
                        <a:t>50</a:t>
                      </a:r>
                      <a:endParaRPr lang="en-US" dirty="0"/>
                    </a:p>
                  </a:txBody>
                  <a:tcPr/>
                </a:tc>
              </a:tr>
              <a:tr h="338338">
                <a:tc>
                  <a:txBody>
                    <a:bodyPr/>
                    <a:lstStyle/>
                    <a:p>
                      <a:r>
                        <a:rPr lang="en-US" dirty="0" smtClean="0"/>
                        <a:t>P_rn</a:t>
                      </a:r>
                      <a:endParaRPr lang="en-US" dirty="0"/>
                    </a:p>
                  </a:txBody>
                  <a:tcPr/>
                </a:tc>
                <a:tc>
                  <a:txBody>
                    <a:bodyPr/>
                    <a:lstStyle/>
                    <a:p>
                      <a:r>
                        <a:rPr lang="en-US" dirty="0" smtClean="0"/>
                        <a:t>1</a:t>
                      </a:r>
                      <a:endParaRPr lang="en-US" dirty="0"/>
                    </a:p>
                  </a:txBody>
                  <a:tcPr/>
                </a:tc>
              </a:tr>
              <a:tr h="338338">
                <a:tc>
                  <a:txBody>
                    <a:bodyPr/>
                    <a:lstStyle/>
                    <a:p>
                      <a:r>
                        <a:rPr lang="en-US" dirty="0" smtClean="0"/>
                        <a:t>P_onu_active</a:t>
                      </a:r>
                      <a:endParaRPr lang="en-US" dirty="0"/>
                    </a:p>
                  </a:txBody>
                  <a:tcPr/>
                </a:tc>
                <a:tc>
                  <a:txBody>
                    <a:bodyPr/>
                    <a:lstStyle/>
                    <a:p>
                      <a:r>
                        <a:rPr lang="en-US" dirty="0" smtClean="0"/>
                        <a:t>2</a:t>
                      </a:r>
                      <a:endParaRPr lang="en-US" dirty="0"/>
                    </a:p>
                  </a:txBody>
                  <a:tcPr/>
                </a:tc>
              </a:tr>
              <a:tr h="338338">
                <a:tc>
                  <a:txBody>
                    <a:bodyPr/>
                    <a:lstStyle/>
                    <a:p>
                      <a:r>
                        <a:rPr lang="en-US" dirty="0" smtClean="0"/>
                        <a:t>P_lc</a:t>
                      </a:r>
                      <a:endParaRPr lang="en-US" dirty="0"/>
                    </a:p>
                  </a:txBody>
                  <a:tcPr/>
                </a:tc>
                <a:tc>
                  <a:txBody>
                    <a:bodyPr/>
                    <a:lstStyle/>
                    <a:p>
                      <a:r>
                        <a:rPr lang="en-US" dirty="0" smtClean="0"/>
                        <a:t>10</a:t>
                      </a:r>
                      <a:endParaRPr lang="en-US" dirty="0"/>
                    </a:p>
                  </a:txBody>
                  <a:tcPr/>
                </a:tc>
              </a:tr>
              <a:tr h="338338">
                <a:tc>
                  <a:txBody>
                    <a:bodyPr/>
                    <a:lstStyle/>
                    <a:p>
                      <a:r>
                        <a:rPr lang="en-US" dirty="0" smtClean="0"/>
                        <a:t>replay _size</a:t>
                      </a:r>
                      <a:endParaRPr lang="en-US" dirty="0"/>
                    </a:p>
                  </a:txBody>
                  <a:tcPr/>
                </a:tc>
                <a:tc>
                  <a:txBody>
                    <a:bodyPr/>
                    <a:lstStyle/>
                    <a:p>
                      <a:r>
                        <a:rPr lang="en-US" dirty="0" smtClean="0"/>
                        <a:t>10000</a:t>
                      </a:r>
                      <a:endParaRPr lang="en-US" dirty="0"/>
                    </a:p>
                  </a:txBody>
                  <a:tcPr/>
                </a:tc>
              </a:tr>
              <a:tr h="338338">
                <a:tc>
                  <a:txBody>
                    <a:bodyPr/>
                    <a:lstStyle/>
                    <a:p>
                      <a:r>
                        <a:rPr lang="en-US" dirty="0" smtClean="0"/>
                        <a:t>batch _size</a:t>
                      </a:r>
                      <a:endParaRPr lang="en-US" dirty="0"/>
                    </a:p>
                  </a:txBody>
                  <a:tcPr/>
                </a:tc>
                <a:tc>
                  <a:txBody>
                    <a:bodyPr/>
                    <a:lstStyle/>
                    <a:p>
                      <a:r>
                        <a:rPr lang="en-US" dirty="0" smtClean="0"/>
                        <a:t>64</a:t>
                      </a:r>
                      <a:endParaRPr lang="en-US" dirty="0"/>
                    </a:p>
                  </a:txBody>
                  <a:tcPr/>
                </a:tc>
              </a:tr>
              <a:tr h="338338">
                <a:tc>
                  <a:txBody>
                    <a:bodyPr/>
                    <a:lstStyle/>
                    <a:p>
                      <a:r>
                        <a:rPr lang="en-US" dirty="0" smtClean="0"/>
                        <a:t>Max_epochs</a:t>
                      </a:r>
                      <a:endParaRPr lang="en-US" dirty="0"/>
                    </a:p>
                  </a:txBody>
                  <a:tcPr/>
                </a:tc>
                <a:tc>
                  <a:txBody>
                    <a:bodyPr/>
                    <a:lstStyle/>
                    <a:p>
                      <a:r>
                        <a:rPr lang="en-US" dirty="0" smtClean="0"/>
                        <a:t>1000</a:t>
                      </a:r>
                      <a:endParaRPr lang="en-US" dirty="0"/>
                    </a:p>
                  </a:txBody>
                  <a:tcPr/>
                </a:tc>
              </a:tr>
            </a:tbl>
          </a:graphicData>
        </a:graphic>
      </p:graphicFrame>
    </p:spTree>
    <p:extLst>
      <p:ext uri="{BB962C8B-B14F-4D97-AF65-F5344CB8AC3E}">
        <p14:creationId xmlns:p14="http://schemas.microsoft.com/office/powerpoint/2010/main" val="308482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7239"/>
            <a:ext cx="10515600" cy="5200650"/>
          </a:xfrm>
        </p:spPr>
        <p:txBody>
          <a:bodyPr/>
          <a:lstStyle/>
          <a:p>
            <a:r>
              <a:rPr lang="en-US" dirty="0" smtClean="0"/>
              <a:t>Results</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14437"/>
            <a:ext cx="5334000" cy="4000500"/>
          </a:xfrm>
          <a:prstGeom prst="rect">
            <a:avLst/>
          </a:prstGeom>
        </p:spPr>
      </p:pic>
      <p:pic>
        <p:nvPicPr>
          <p:cNvPr id="6" name="Picture 5"/>
          <p:cNvPicPr>
            <a:picLocks noChangeAspect="1"/>
          </p:cNvPicPr>
          <p:nvPr/>
        </p:nvPicPr>
        <p:blipFill>
          <a:blip r:embed="rId3"/>
          <a:stretch>
            <a:fillRect/>
          </a:stretch>
        </p:blipFill>
        <p:spPr>
          <a:xfrm>
            <a:off x="6100762" y="1209518"/>
            <a:ext cx="5334462" cy="4005419"/>
          </a:xfrm>
          <a:prstGeom prst="rect">
            <a:avLst/>
          </a:prstGeom>
        </p:spPr>
      </p:pic>
    </p:spTree>
    <p:extLst>
      <p:ext uri="{BB962C8B-B14F-4D97-AF65-F5344CB8AC3E}">
        <p14:creationId xmlns:p14="http://schemas.microsoft.com/office/powerpoint/2010/main" val="25626597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0750" y="1178719"/>
            <a:ext cx="5334000" cy="4000500"/>
          </a:xfrm>
          <a:prstGeom prst="rect">
            <a:avLst/>
          </a:prstGeom>
        </p:spPr>
      </p:pic>
      <p:pic>
        <p:nvPicPr>
          <p:cNvPr id="8" name="Content Placeholder 7"/>
          <p:cNvPicPr>
            <a:picLocks noGrp="1" noChangeAspect="1"/>
          </p:cNvPicPr>
          <p:nvPr>
            <p:ph idx="1"/>
          </p:nvPr>
        </p:nvPicPr>
        <p:blipFill>
          <a:blip r:embed="rId3"/>
          <a:stretch>
            <a:fillRect/>
          </a:stretch>
        </p:blipFill>
        <p:spPr>
          <a:xfrm>
            <a:off x="709150" y="1179896"/>
            <a:ext cx="5334462" cy="3999323"/>
          </a:xfrm>
          <a:prstGeom prst="rect">
            <a:avLst/>
          </a:prstGeom>
        </p:spPr>
      </p:pic>
    </p:spTree>
    <p:extLst>
      <p:ext uri="{BB962C8B-B14F-4D97-AF65-F5344CB8AC3E}">
        <p14:creationId xmlns:p14="http://schemas.microsoft.com/office/powerpoint/2010/main" val="4279954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3043007" y="1110251"/>
            <a:ext cx="5334462" cy="3999323"/>
          </a:xfrm>
          <a:prstGeom prst="rect">
            <a:avLst/>
          </a:prstGeom>
        </p:spPr>
      </p:pic>
    </p:spTree>
    <p:extLst>
      <p:ext uri="{BB962C8B-B14F-4D97-AF65-F5344CB8AC3E}">
        <p14:creationId xmlns:p14="http://schemas.microsoft.com/office/powerpoint/2010/main" val="16793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562" y="614363"/>
            <a:ext cx="10663238" cy="685800"/>
          </a:xfrm>
        </p:spPr>
        <p:txBody>
          <a:bodyPr>
            <a:normAutofit fontScale="90000"/>
          </a:bodyPr>
          <a:lstStyle/>
          <a:p>
            <a:r>
              <a:rPr lang="en-US" dirty="0" smtClean="0"/>
              <a:t>References</a:t>
            </a:r>
            <a:endParaRPr lang="en-US" dirty="0"/>
          </a:p>
        </p:txBody>
      </p:sp>
      <p:sp>
        <p:nvSpPr>
          <p:cNvPr id="3" name="Content Placeholder 2"/>
          <p:cNvSpPr>
            <a:spLocks noGrp="1"/>
          </p:cNvSpPr>
          <p:nvPr>
            <p:ph idx="1"/>
          </p:nvPr>
        </p:nvSpPr>
        <p:spPr>
          <a:xfrm>
            <a:off x="838200" y="1185863"/>
            <a:ext cx="10515600" cy="4943475"/>
          </a:xfrm>
        </p:spPr>
        <p:txBody>
          <a:bodyPr>
            <a:normAutofit fontScale="25000" lnSpcReduction="20000"/>
          </a:bodyPr>
          <a:lstStyle/>
          <a:p>
            <a:pPr marL="0" indent="0">
              <a:buNone/>
            </a:pPr>
            <a:endParaRPr lang="en-US" sz="7200" dirty="0">
              <a:latin typeface="+mn-lt"/>
            </a:endParaRPr>
          </a:p>
          <a:p>
            <a:pPr marL="0" indent="0">
              <a:lnSpc>
                <a:spcPct val="120000"/>
              </a:lnSpc>
              <a:buNone/>
            </a:pPr>
            <a:r>
              <a:rPr lang="en-US" sz="7200" dirty="0" smtClean="0"/>
              <a:t>1. </a:t>
            </a:r>
            <a:r>
              <a:rPr lang="en-US" sz="7200" dirty="0" err="1" smtClean="0"/>
              <a:t>Maha</a:t>
            </a:r>
            <a:r>
              <a:rPr lang="en-US" sz="7200" dirty="0" smtClean="0"/>
              <a:t> </a:t>
            </a:r>
            <a:r>
              <a:rPr lang="en-US" sz="7200" dirty="0"/>
              <a:t>Fathy, Mohamed Salah Abood, Mustafa Maad </a:t>
            </a:r>
            <a:r>
              <a:rPr lang="en-US" sz="7200" dirty="0" smtClean="0"/>
              <a:t>Hamdi. “Optimization </a:t>
            </a:r>
            <a:r>
              <a:rPr lang="en-US" sz="7200" dirty="0"/>
              <a:t>of Energy-Efficient Cloud Radio Access Networks for 5G using Neural </a:t>
            </a:r>
            <a:r>
              <a:rPr lang="en-US" sz="7200" dirty="0" smtClean="0"/>
              <a:t>Networks”IEEE  International conference on Intelligent Technology,System and services for Internet of Everything(ITSS-IoE),2021.</a:t>
            </a:r>
          </a:p>
          <a:p>
            <a:pPr marL="0" indent="0">
              <a:lnSpc>
                <a:spcPct val="120000"/>
              </a:lnSpc>
              <a:buNone/>
            </a:pPr>
            <a:r>
              <a:rPr lang="en-US" sz="7200" dirty="0" smtClean="0"/>
              <a:t>2. R</a:t>
            </a:r>
            <a:r>
              <a:rPr lang="en-US" sz="7200" dirty="0"/>
              <a:t>. </a:t>
            </a:r>
            <a:r>
              <a:rPr lang="en-US" sz="7200" dirty="0" smtClean="0"/>
              <a:t>Zamblé, </a:t>
            </a:r>
            <a:r>
              <a:rPr lang="en-US" sz="7200" dirty="0"/>
              <a:t>L. </a:t>
            </a:r>
            <a:r>
              <a:rPr lang="en-US" sz="7200" dirty="0" smtClean="0"/>
              <a:t>Kra, </a:t>
            </a:r>
            <a:r>
              <a:rPr lang="en-US" sz="7200" dirty="0"/>
              <a:t>M. </a:t>
            </a:r>
            <a:r>
              <a:rPr lang="en-US" sz="7200" dirty="0" smtClean="0"/>
              <a:t>Koffi, </a:t>
            </a:r>
            <a:r>
              <a:rPr lang="en-US" sz="7200" dirty="0"/>
              <a:t>R. </a:t>
            </a:r>
            <a:r>
              <a:rPr lang="en-US" sz="7200" dirty="0" smtClean="0"/>
              <a:t>Gbégbé, </a:t>
            </a:r>
            <a:r>
              <a:rPr lang="en-US" sz="7200" dirty="0"/>
              <a:t>B. T. </a:t>
            </a:r>
            <a:r>
              <a:rPr lang="en-US" sz="7200" dirty="0" smtClean="0"/>
              <a:t>Gooré </a:t>
            </a:r>
            <a:r>
              <a:rPr lang="en-US" sz="7200" dirty="0"/>
              <a:t>and O. </a:t>
            </a:r>
            <a:r>
              <a:rPr lang="en-US" sz="7200" dirty="0" smtClean="0"/>
              <a:t>Asseu</a:t>
            </a:r>
            <a:r>
              <a:rPr lang="en-US" sz="7200" dirty="0"/>
              <a:t>. “Power consumption optimization in 5G radio access networks, based on a call admission control </a:t>
            </a:r>
            <a:r>
              <a:rPr lang="en-US" sz="7200" dirty="0" smtClean="0"/>
              <a:t>algorithm" Far </a:t>
            </a:r>
            <a:r>
              <a:rPr lang="en-US" sz="7200" dirty="0"/>
              <a:t>East Journal of Electronics and </a:t>
            </a:r>
            <a:r>
              <a:rPr lang="en-US" sz="7200" dirty="0" smtClean="0"/>
              <a:t>Communications, </a:t>
            </a:r>
            <a:r>
              <a:rPr lang="en-US" sz="7200" dirty="0"/>
              <a:t>Pushpa Publishing House, Allahabad, </a:t>
            </a:r>
            <a:r>
              <a:rPr lang="en-US" sz="7200" dirty="0" smtClean="0"/>
              <a:t>India.</a:t>
            </a:r>
            <a:r>
              <a:rPr lang="fr-FR" sz="7200" dirty="0"/>
              <a:t> </a:t>
            </a:r>
            <a:r>
              <a:rPr lang="fr-FR" sz="7200" dirty="0" smtClean="0"/>
              <a:t>Vol.18</a:t>
            </a:r>
            <a:r>
              <a:rPr lang="fr-FR" sz="7200" dirty="0"/>
              <a:t>, </a:t>
            </a:r>
            <a:r>
              <a:rPr lang="fr-FR" sz="7200" dirty="0" smtClean="0"/>
              <a:t>NO.4,Pages 507-520,2018.</a:t>
            </a:r>
          </a:p>
          <a:p>
            <a:pPr marL="0" indent="0">
              <a:lnSpc>
                <a:spcPct val="120000"/>
              </a:lnSpc>
              <a:buNone/>
            </a:pPr>
            <a:r>
              <a:rPr lang="en-US" sz="7200" dirty="0" smtClean="0"/>
              <a:t>3. </a:t>
            </a:r>
            <a:r>
              <a:rPr lang="en-US" sz="7200" dirty="0" err="1" smtClean="0"/>
              <a:t>Zhiyuan</a:t>
            </a:r>
            <a:r>
              <a:rPr lang="en-US" sz="7200" dirty="0" smtClean="0"/>
              <a:t> </a:t>
            </a:r>
            <a:r>
              <a:rPr lang="en-US" sz="7200" dirty="0"/>
              <a:t>Xu, Yanzhi Wang, Jian Tang, Jing Wang, and Mustafa Cenk </a:t>
            </a:r>
            <a:r>
              <a:rPr lang="en-US" sz="7200" dirty="0" smtClean="0"/>
              <a:t>Gursoy</a:t>
            </a:r>
            <a:r>
              <a:rPr lang="en-US" sz="7200" dirty="0"/>
              <a:t>. “A Deep Reinforcement Learning based </a:t>
            </a:r>
            <a:r>
              <a:rPr lang="en-US" sz="7200" dirty="0" smtClean="0"/>
              <a:t>Framework for </a:t>
            </a:r>
            <a:r>
              <a:rPr lang="en-US" sz="7200" dirty="0"/>
              <a:t>Power-Efficient Resource </a:t>
            </a:r>
            <a:r>
              <a:rPr lang="en-US" sz="7200" dirty="0" smtClean="0"/>
              <a:t>Allocation in </a:t>
            </a:r>
            <a:r>
              <a:rPr lang="en-US" sz="7200" dirty="0"/>
              <a:t>Cloud RANs” IEEE </a:t>
            </a:r>
            <a:r>
              <a:rPr lang="en-US" sz="7200" dirty="0" smtClean="0"/>
              <a:t>ICC </a:t>
            </a:r>
            <a:r>
              <a:rPr lang="en-US" sz="7200" dirty="0"/>
              <a:t>Next Generation Networking and Internet </a:t>
            </a:r>
            <a:r>
              <a:rPr lang="en-US" sz="7200" dirty="0" smtClean="0"/>
              <a:t>Symposium,2017.</a:t>
            </a:r>
            <a:endParaRPr lang="en-US" sz="7200" dirty="0"/>
          </a:p>
          <a:p>
            <a:pPr marL="0" indent="0">
              <a:lnSpc>
                <a:spcPct val="120000"/>
              </a:lnSpc>
              <a:buNone/>
            </a:pPr>
            <a:r>
              <a:rPr lang="en-US" sz="7200" dirty="0" smtClean="0"/>
              <a:t>4. </a:t>
            </a:r>
            <a:r>
              <a:rPr lang="en-US" sz="7200" dirty="0" err="1" smtClean="0"/>
              <a:t>Hyebin</a:t>
            </a:r>
            <a:r>
              <a:rPr lang="en-US" sz="7200" dirty="0" smtClean="0"/>
              <a:t> </a:t>
            </a:r>
            <a:r>
              <a:rPr lang="en-US" sz="7200" dirty="0"/>
              <a:t>Park and </a:t>
            </a:r>
            <a:r>
              <a:rPr lang="en-US" sz="7200" dirty="0" err="1"/>
              <a:t>Yujin</a:t>
            </a:r>
            <a:r>
              <a:rPr lang="en-US" sz="7200" dirty="0"/>
              <a:t> </a:t>
            </a:r>
            <a:r>
              <a:rPr lang="en-US" sz="7200" dirty="0" smtClean="0"/>
              <a:t>Lim</a:t>
            </a:r>
            <a:r>
              <a:rPr lang="en-US" sz="7200" dirty="0"/>
              <a:t>. “Reinforcement Learning for Energy </a:t>
            </a:r>
            <a:r>
              <a:rPr lang="en-US" sz="7200" dirty="0" smtClean="0"/>
              <a:t>Optimization with </a:t>
            </a:r>
            <a:r>
              <a:rPr lang="en-US" sz="7200" dirty="0"/>
              <a:t>5G Communications in Vehicular Social Networks” </a:t>
            </a:r>
            <a:r>
              <a:rPr lang="en-US" sz="7200" dirty="0" smtClean="0">
                <a:hlinkClick r:id="rId2"/>
              </a:rPr>
              <a:t>www.mdpi.com/journal/sensors,2020</a:t>
            </a:r>
            <a:r>
              <a:rPr lang="en-US" sz="7200" dirty="0" smtClean="0"/>
              <a:t>.</a:t>
            </a:r>
          </a:p>
          <a:p>
            <a:pPr marL="0" indent="0">
              <a:buNone/>
            </a:pPr>
            <a:endParaRPr lang="en-US" sz="7200" dirty="0" smtClean="0"/>
          </a:p>
          <a:p>
            <a:endParaRPr lang="en-US" sz="7200" dirty="0"/>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endParaRPr lang="en-US" sz="7200" dirty="0">
              <a:latin typeface="+mn-lt"/>
            </a:endParaRPr>
          </a:p>
          <a:p>
            <a:endParaRPr lang="en-US" sz="7200" dirty="0" smtClean="0">
              <a:latin typeface="+mn-lt"/>
            </a:endParaRPr>
          </a:p>
          <a:p>
            <a:pPr marL="0" indent="0">
              <a:buNone/>
            </a:pPr>
            <a:r>
              <a:rPr lang="en-US" sz="7200" dirty="0"/>
              <a:t/>
            </a:r>
            <a:br>
              <a:rPr lang="en-US" sz="7200" dirty="0"/>
            </a:br>
            <a:r>
              <a:rPr lang="en-US" sz="7200" dirty="0" smtClean="0">
                <a:latin typeface="+mn-lt"/>
              </a:rPr>
              <a:t/>
            </a:r>
            <a:br>
              <a:rPr lang="en-US" sz="7200" dirty="0" smtClean="0">
                <a:latin typeface="+mn-lt"/>
              </a:rPr>
            </a:br>
            <a:r>
              <a:rPr lang="en-US" sz="7200" dirty="0" smtClean="0">
                <a:latin typeface="+mn-lt"/>
              </a:rPr>
              <a:t/>
            </a:r>
            <a:br>
              <a:rPr lang="en-US" sz="7200" dirty="0" smtClean="0">
                <a:latin typeface="+mn-lt"/>
              </a:rPr>
            </a:br>
            <a:r>
              <a:rPr lang="en-US" sz="7200" dirty="0" smtClean="0">
                <a:latin typeface="+mn-lt"/>
              </a:rPr>
              <a:t/>
            </a:r>
            <a:br>
              <a:rPr lang="en-US" sz="7200" dirty="0" smtClean="0">
                <a:latin typeface="+mn-lt"/>
              </a:rPr>
            </a:br>
            <a:r>
              <a:rPr lang="en-US" sz="7200" dirty="0">
                <a:latin typeface="+mn-lt"/>
              </a:rPr>
              <a:t/>
            </a:r>
            <a:br>
              <a:rPr lang="en-US" sz="7200" dirty="0">
                <a:latin typeface="+mn-lt"/>
              </a:rPr>
            </a:br>
            <a:r>
              <a:rPr lang="en-US" sz="7200" dirty="0"/>
              <a:t/>
            </a:r>
            <a:br>
              <a:rPr lang="en-US" sz="7200" dirty="0"/>
            </a:br>
            <a:r>
              <a:rPr lang="en-US" sz="7200" dirty="0"/>
              <a:t/>
            </a:r>
            <a:br>
              <a:rPr lang="en-US" sz="7200" dirty="0"/>
            </a:br>
            <a:r>
              <a:rPr lang="en-US" sz="7200" dirty="0">
                <a:latin typeface="+mn-lt"/>
              </a:rPr>
              <a:t/>
            </a:r>
            <a:br>
              <a:rPr lang="en-US" sz="7200" dirty="0">
                <a:latin typeface="+mn-lt"/>
              </a:rPr>
            </a:br>
            <a:r>
              <a:rPr lang="en-US" sz="7200" dirty="0"/>
              <a:t/>
            </a:r>
            <a:br>
              <a:rPr lang="en-US" sz="7200" dirty="0"/>
            </a:br>
            <a:r>
              <a:rPr lang="en-US" sz="7200" dirty="0">
                <a:latin typeface="+mn-lt"/>
              </a:rPr>
              <a:t/>
            </a:r>
            <a:br>
              <a:rPr lang="en-US" sz="7200" dirty="0">
                <a:latin typeface="+mn-lt"/>
              </a:rPr>
            </a:br>
            <a:r>
              <a:rPr lang="en-US" sz="7200" dirty="0">
                <a:latin typeface="+mn-lt"/>
              </a:rPr>
              <a:t/>
            </a:r>
            <a:br>
              <a:rPr lang="en-US" sz="7200" dirty="0">
                <a:latin typeface="+mn-lt"/>
              </a:rPr>
            </a:br>
            <a:r>
              <a:rPr lang="en-US" dirty="0"/>
              <a:t/>
            </a:r>
            <a:br>
              <a:rPr lang="en-US" dirty="0"/>
            </a:br>
            <a:r>
              <a:rPr lang="en-US" dirty="0"/>
              <a:t/>
            </a:r>
            <a:br>
              <a:rPr lang="en-US" dirty="0"/>
            </a:br>
            <a:r>
              <a:rPr lang="en-US" b="1" dirty="0"/>
              <a:t/>
            </a:r>
            <a:br>
              <a:rPr lang="en-US" b="1" dirty="0"/>
            </a:br>
            <a:r>
              <a:rPr lang="en-US" b="1" dirty="0"/>
              <a:t/>
            </a:r>
            <a:br>
              <a:rPr lang="en-US" b="1" dirty="0"/>
            </a:b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35269563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0179"/>
            <a:ext cx="10515600" cy="4644189"/>
          </a:xfrm>
        </p:spPr>
        <p:txBody>
          <a:bodyPr>
            <a:normAutofit fontScale="25000" lnSpcReduction="20000"/>
          </a:bodyPr>
          <a:lstStyle/>
          <a:p>
            <a:pPr marL="342900" indent="-342900" algn="just">
              <a:lnSpc>
                <a:spcPct val="100000"/>
              </a:lnSpc>
              <a:buAutoNum type="arabicPeriod" startAt="5"/>
            </a:pPr>
            <a:r>
              <a:rPr lang="en-US" sz="7200" dirty="0" smtClean="0"/>
              <a:t>K</a:t>
            </a:r>
            <a:r>
              <a:rPr lang="en-US" sz="7200" dirty="0"/>
              <a:t>. </a:t>
            </a:r>
            <a:r>
              <a:rPr lang="en-US" sz="7200" dirty="0" smtClean="0"/>
              <a:t>Vinoth, </a:t>
            </a:r>
            <a:r>
              <a:rPr lang="en-US" sz="7200" dirty="0"/>
              <a:t>S. </a:t>
            </a:r>
            <a:r>
              <a:rPr lang="en-US" sz="7200" dirty="0" smtClean="0"/>
              <a:t>Purushothaman, </a:t>
            </a:r>
            <a:r>
              <a:rPr lang="en-US" sz="7200" dirty="0"/>
              <a:t>R. </a:t>
            </a:r>
            <a:r>
              <a:rPr lang="en-US" sz="7200" dirty="0" smtClean="0"/>
              <a:t>Baskar, </a:t>
            </a:r>
            <a:r>
              <a:rPr lang="en-US" sz="7200" dirty="0"/>
              <a:t>C. </a:t>
            </a:r>
            <a:r>
              <a:rPr lang="en-US" sz="7200" dirty="0" smtClean="0"/>
              <a:t>Gomathi “</a:t>
            </a:r>
            <a:r>
              <a:rPr lang="en-US" sz="7200" dirty="0"/>
              <a:t>Optimal Energy Efficiency for 5G </a:t>
            </a:r>
            <a:r>
              <a:rPr lang="en-US" sz="7200" dirty="0" smtClean="0"/>
              <a:t>                      Wireless Communications</a:t>
            </a:r>
            <a:r>
              <a:rPr lang="en-US" sz="7200" dirty="0"/>
              <a:t>” International Journal of Research in Engineering, Science and </a:t>
            </a:r>
            <a:r>
              <a:rPr lang="en-US" sz="7200" dirty="0" smtClean="0"/>
              <a:t>Management Volume-1</a:t>
            </a:r>
            <a:r>
              <a:rPr lang="en-US" sz="7200" dirty="0"/>
              <a:t>, </a:t>
            </a:r>
            <a:r>
              <a:rPr lang="en-US" sz="7200" dirty="0" smtClean="0"/>
              <a:t>Issue-12,2018</a:t>
            </a:r>
          </a:p>
          <a:p>
            <a:pPr marL="342900" indent="-342900">
              <a:lnSpc>
                <a:spcPct val="150000"/>
              </a:lnSpc>
              <a:buAutoNum type="arabicPeriod" startAt="5"/>
            </a:pPr>
            <a:r>
              <a:rPr lang="en-US" sz="7200" dirty="0" smtClean="0"/>
              <a:t>Amjad Iqbal,Mau-leau Tham,Yoong Choon Chang “</a:t>
            </a:r>
            <a:r>
              <a:rPr lang="en-US" sz="7200" dirty="0"/>
              <a:t>Double Deep </a:t>
            </a:r>
            <a:r>
              <a:rPr lang="en-US" sz="7200" dirty="0" smtClean="0"/>
              <a:t>Q-Network-Based Energy-Efficient</a:t>
            </a:r>
            <a:r>
              <a:rPr lang="en-US" sz="7200" dirty="0"/>
              <a:t> </a:t>
            </a:r>
            <a:r>
              <a:rPr lang="en-US" sz="7200" dirty="0" smtClean="0"/>
              <a:t>Resource </a:t>
            </a:r>
            <a:r>
              <a:rPr lang="en-US" sz="7200" dirty="0"/>
              <a:t>Allocation in Cloud </a:t>
            </a:r>
            <a:r>
              <a:rPr lang="en-US" sz="7200" dirty="0" smtClean="0"/>
              <a:t>Radio Access Network” IEEE Access 10.1109/ACCESS.2021.3054909.</a:t>
            </a:r>
          </a:p>
          <a:p>
            <a:pPr marL="342900" indent="-342900">
              <a:lnSpc>
                <a:spcPct val="150000"/>
              </a:lnSpc>
              <a:buAutoNum type="arabicPeriod" startAt="5"/>
            </a:pPr>
            <a:r>
              <a:rPr lang="en-US" sz="7200" dirty="0"/>
              <a:t>D. Mishra, P. Amogh, A. Ramamurthy, A. A. Franklin, and B. R. Tamma, “</a:t>
            </a:r>
            <a:r>
              <a:rPr lang="en-US" sz="7200" dirty="0" smtClean="0"/>
              <a:t>Load-aware dynamic </a:t>
            </a:r>
            <a:r>
              <a:rPr lang="en-US" sz="7200" dirty="0" err="1"/>
              <a:t>rrh</a:t>
            </a:r>
            <a:r>
              <a:rPr lang="en-US" sz="7200" dirty="0"/>
              <a:t> assignment in cloud radio access networks,” in </a:t>
            </a:r>
            <a:r>
              <a:rPr lang="en-US" sz="7200" i="1" dirty="0"/>
              <a:t>Wireless </a:t>
            </a:r>
            <a:r>
              <a:rPr lang="en-US" sz="7200" i="1" dirty="0" smtClean="0"/>
              <a:t>Communications</a:t>
            </a:r>
            <a:r>
              <a:rPr lang="en-US" sz="7200" dirty="0"/>
              <a:t> </a:t>
            </a:r>
            <a:r>
              <a:rPr lang="en-US" sz="7200" i="1" dirty="0" smtClean="0"/>
              <a:t>and </a:t>
            </a:r>
            <a:r>
              <a:rPr lang="en-US" sz="7200" i="1" dirty="0"/>
              <a:t>Networking Conference (WCNC), 2016 IEEE</a:t>
            </a:r>
            <a:r>
              <a:rPr lang="en-US" sz="7200" dirty="0"/>
              <a:t>. IEEE, 2016, pp. 1–6</a:t>
            </a:r>
            <a:r>
              <a:rPr lang="en-US" sz="7200" dirty="0" smtClean="0"/>
              <a:t>.</a:t>
            </a:r>
          </a:p>
          <a:p>
            <a:pPr marL="342900" indent="-342900">
              <a:lnSpc>
                <a:spcPct val="150000"/>
              </a:lnSpc>
              <a:buAutoNum type="arabicPeriod" startAt="5"/>
            </a:pPr>
            <a:r>
              <a:rPr lang="en-US" sz="7200" dirty="0"/>
              <a:t>C. Lange and A. Gladisch, “On the energy consumption of ftth access networks</a:t>
            </a:r>
            <a:r>
              <a:rPr lang="en-US" sz="7200" dirty="0" smtClean="0"/>
              <a:t>,” in </a:t>
            </a:r>
            <a:r>
              <a:rPr lang="en-US" sz="7200" i="1" dirty="0"/>
              <a:t>Optical Fiber Communication-incudes post deadline papers, 2009. OFC 2009.</a:t>
            </a:r>
            <a:r>
              <a:rPr lang="en-US" sz="7200" dirty="0"/>
              <a:t/>
            </a:r>
            <a:br>
              <a:rPr lang="en-US" sz="7200" dirty="0"/>
            </a:br>
            <a:r>
              <a:rPr lang="en-US" sz="7200" i="1" dirty="0"/>
              <a:t>Conference on</a:t>
            </a:r>
            <a:r>
              <a:rPr lang="en-US" sz="7200" dirty="0"/>
              <a:t>. IEEE, 2009, pp. 1–3</a:t>
            </a:r>
            <a:br>
              <a:rPr lang="en-US" sz="7200" dirty="0"/>
            </a:br>
            <a:r>
              <a:rPr lang="en-US" sz="7200" dirty="0"/>
              <a:t/>
            </a:r>
            <a:br>
              <a:rPr lang="en-US" sz="7200" dirty="0"/>
            </a:br>
            <a:r>
              <a:rPr lang="en-US" sz="2600" dirty="0"/>
              <a:t/>
            </a:r>
            <a:br>
              <a:rPr lang="en-US" sz="2600" dirty="0"/>
            </a:br>
            <a:r>
              <a:rPr lang="en-US" sz="2600" dirty="0"/>
              <a:t/>
            </a:r>
            <a:br>
              <a:rPr lang="en-US" sz="2600" dirty="0"/>
            </a:br>
            <a:r>
              <a:rPr lang="en-US" sz="1800" dirty="0"/>
              <a:t/>
            </a:r>
            <a:br>
              <a:rPr lang="en-US" sz="1800" dirty="0"/>
            </a:br>
            <a:r>
              <a:rPr lang="en-US" sz="1800" dirty="0"/>
              <a:t/>
            </a:r>
            <a:br>
              <a:rPr lang="en-US" sz="1800" dirty="0"/>
            </a:br>
            <a:r>
              <a:rPr lang="en-US" sz="1800" dirty="0"/>
              <a:t/>
            </a:r>
            <a:br>
              <a:rPr lang="en-US" sz="1800" dirty="0"/>
            </a:br>
            <a:r>
              <a:rPr lang="en-US" sz="1800" dirty="0"/>
              <a:t/>
            </a:r>
            <a:br>
              <a:rPr lang="en-US" sz="1800" dirty="0"/>
            </a:br>
            <a:endParaRPr lang="en-US" sz="1800" dirty="0"/>
          </a:p>
        </p:txBody>
      </p:sp>
    </p:spTree>
    <p:extLst>
      <p:ext uri="{BB962C8B-B14F-4D97-AF65-F5344CB8AC3E}">
        <p14:creationId xmlns:p14="http://schemas.microsoft.com/office/powerpoint/2010/main" val="2981489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43BEAE-AE0C-A113-CB6C-C6597B310E81}"/>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5720449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2">
      <a:dk1>
        <a:srgbClr val="382010"/>
      </a:dk1>
      <a:lt1>
        <a:sysClr val="window" lastClr="FFFFFF"/>
      </a:lt1>
      <a:dk2>
        <a:srgbClr val="44546A"/>
      </a:dk2>
      <a:lt2>
        <a:srgbClr val="E7E6E6"/>
      </a:lt2>
      <a:accent1>
        <a:srgbClr val="4472C4"/>
      </a:accent1>
      <a:accent2>
        <a:srgbClr val="E2802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WC light.potx" id="{3AAB5C5D-F81D-415E-B016-C95F4778E009}" vid="{707FFEF3-20E4-4742-9351-C9F6B3F14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KWC light</Template>
  <TotalTime>60767</TotalTime>
  <Words>1251</Words>
  <Application>Microsoft Office PowerPoint</Application>
  <PresentationFormat>Widescreen</PresentationFormat>
  <Paragraphs>223</Paragraphs>
  <Slides>30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Cambria Math</vt:lpstr>
      <vt:lpstr>Gill Sans MT</vt:lpstr>
      <vt:lpstr>Palatino Linotype</vt:lpstr>
      <vt:lpstr>Tahoma</vt:lpstr>
      <vt:lpstr>Times New Roman</vt:lpstr>
      <vt:lpstr>Wingdings</vt:lpstr>
      <vt:lpstr>Office Theme</vt:lpstr>
      <vt:lpstr>        Optimization of Energy-efficient Cloud Radio Access Network (C-RAN) for 5G using Deep Reinforcement Learning (DRL) </vt:lpstr>
      <vt:lpstr>OUTLINES</vt:lpstr>
      <vt:lpstr>Introduction and Research background </vt:lpstr>
      <vt:lpstr>PowerPoint Presentation</vt:lpstr>
      <vt:lpstr>Problem statement and Objectives</vt:lpstr>
      <vt:lpstr>Literature Review</vt:lpstr>
      <vt:lpstr>PowerPoint Presentation</vt:lpstr>
      <vt:lpstr>PowerPoint Presentation</vt:lpstr>
      <vt:lpstr>Methodology and Approach</vt:lpstr>
      <vt:lpstr>Proposed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 and Results</vt:lpstr>
      <vt:lpstr>PowerPoint Presentation</vt:lpstr>
      <vt:lpstr>PowerPoint Presentation</vt:lpstr>
      <vt:lpstr>PowerPoint Presentation</vt:lpstr>
      <vt:lpstr>PowerPoint Presentation</vt:lpstr>
      <vt:lpstr>References</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 Kwame Freeman</dc:creator>
  <cp:lastModifiedBy>Gabriel K.Freeman</cp:lastModifiedBy>
  <cp:revision>730</cp:revision>
  <cp:lastPrinted>2024-03-07T10:15:17Z</cp:lastPrinted>
  <dcterms:created xsi:type="dcterms:W3CDTF">2023-07-24T13:47:17Z</dcterms:created>
  <dcterms:modified xsi:type="dcterms:W3CDTF">2026-07-07T23:32:52Z</dcterms:modified>
</cp:coreProperties>
</file>